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116" cy="6858000"/>
  <p:notesSz cx="6858000" cy="1219211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al equipo y explicar el objetivo: comprender el aprovisionamiento con Terraform y demostrarlo con un servidor Nginx en Docker. La exposición conserva la secuencia temática original. La práctica del grupo utiliza los archivos que acompañan esta presentación.
Fuentes (consulta: 16 de octubre de 2026):
https://developer.hashicorp.com/terraform/intro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automatización reduce tareas repetitivas, pero sigue requiriendo revisión. Reutilizar una configuración no significa que desarrollo y producción deban tener idénticos tamaños o permisos: se parametrizan y mantienen estados separados. Git registra los cambios del código.
Fuentes (consulta: 16 de octubre de 2026):
https://developer.hashicorp.com/terraform/intro/core-workflow
https://developer.hashicorp.com/terraform/intro
https://developer.hashicorp.com/terraform/language/state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IaC significa describir infraestructura en archivos que se pueden versionar. La configuración especifica el resultado deseado y Terraform resuelve dependencias entre recursos. Un provider traduce las operaciones de Terraform a la API de un servicio. No todos los servicios están cubiertos: se requiere un provider adecuado. La frase de la diapositiva es una explicación didáctica, no una cita literal.
Fuentes (consulta: 16 de octubre de 2026):
https://developer.hashicorp.com/terraform/intro
https://developer.hashicorp.com/terraform/language/providers
https://developer.hashicorp.com/terraform/language/modules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caso de uso es crear ambientes temporales para probar una aplicación y retirarlos al terminar. Los entornos comparten módulos, pero separan estado y configuración específica. Terraform registra recursos administrados en el state. La trazabilidad de cambios depende de usar control de versiones y un proceso de revisión.
Fuentes (consulta: 16 de octubre de 2026):
https://developer.hashicorp.com/terraform/intro
https://developer.hashicorp.com/terraform/intro/core-workflow
https://developer.hashicorp.com/terraform/language/state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funciones pueden superponerse. La clasificación destaca el uso principal de cada herramienta y evita presentarlas como sustitutos exactos. Terraform puede aprovisionar una VM, Ansible configurar su sistema y Jenkins coordinar todo el flujo. Docker ejecuta los contenedores que administra el provider.
Fuentes (consulta: 16 de octubre de 2026):
https://developer.hashicorp.com/terraform/intro
https://www.jenkins.io/doc/book/pipeline/
https://docs.ansible.com/projects/ansible/latest/getting_started/introduction.html
https://github.com/kreuzwerker/terraform-provider-docker/blob/v4.6.0/docs/index.md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archivos del módulo definen recursos y dependencias. La CLI carga providers y consulta servicios mediante sus APIs. El state conserva la relación entre direcciones de recursos e identificadores reales. El backend determina dónde se almacena ese estado y sus capacidades de bloqueo. Localmente el archivo predeterminado se llama terraform.tfstate. Terraform consulta el estado real al planificar. Agentless describe a Terraform, no elimina requisitos como acceso a la API, credenciales o un daemon Docker activo.
Fuentes (consulta: 16 de octubre de 2026):
https://developer.hashicorp.com/terraform/language/providers
https://developer.hashicorp.com/terraform/language/state
https://developer.hashicorp.com/terraform/language/backend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ejemplo, el puerto externo conecta el host con el puerto 80 del contenedor. Al cambiar 8080 por 8081, el plan muestra las acciones necesarias, que pueden incluir reemplazo del recurso. No prometer una actualización sin interrupción. La lectura de cambios externos ocurre cuando Terraform consulta el provider durante una operación, no por vigilancia continua en segundo plano.
Fuentes (consulta: 16 de octubre de 2026):
https://developer.hashicorp.com/terraform/cli/commands/plan
https://developer.hashicorp.com/terraform/language/state
https://github.com/kreuzwerker/terraform-provider-docker/blob/v4.6.0/docs/resources/container.md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HCL aporta la sintaxis que usa el lenguaje de Terraform. Un resource declara un objeto administrado y un data source obtiene datos útiles para configurar otros recursos. El state no sustituye a los archivos .tf ni al servicio real. Se utiliza junto con ambos para planificar. Evitar editarlo a mano.
Fuentes (consulta: 16 de octubre de 2026):
https://developer.hashicorp.com/terraform/language/files
https://developer.hashicorp.com/terraform/language/providers
https://developer.hashicorp.com/terraform/language/resources
https://developer.hashicorp.com/terraform/language/data-sources
https://developer.hashicorp.com/terraform/language/state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variable cambia un valor sin duplicar toda la configuración. Los outputs exponen resultados del módulo. Un módulo es un directorio de archivos de Terraform que se usa como unidad. El backend puede ser local o remoto. El bloqueo evita escrituras simultáneas cuando está disponible. El archivo .terraform.lock.hcl lo mantiene Terraform y debe versionarse. Actualmente registra providers, no módulos remotos.
Fuentes (consulta: 16 de octubre de 2026):
https://developer.hashicorp.com/terraform/language/values/variables
https://developer.hashicorp.com/terraform/language/values/outputs
https://developer.hashicorp.com/terraform/language/modules
https://developer.hashicorp.com/terraform/language/backend
https://developer.hashicorp.com/terraform/language/files/dependency-lock
https://developer.hashicorp.com/terraform/language/state/locking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evalúa los archivos de configuración del directorio como un módulo. Los nombres main.tf, variables.tf y outputs.tf ayudan a organizar el código, pero Terraform no ejecuta los archivos alfabéticamente. El laboratorio usa solo main.tf por su tamaño. El lock file aparece al ejecutar init. No se deben subir al repositorio .terraform/, state, planes guardados ni archivos que contengan secretos.
Fuentes (consulta: 16 de octubre de 2026):
https://developer.hashicorp.com/terraform/language/files
https://developer.hashicorp.com/terraform/language/files/dependency-lock
https://developer.hashicorp.com/terraform/language/style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nombre local docker apunta al provider comunitario kreuzwerker/docker. La versión 4.6.0 existe y se fija para que la clase use la misma versión. El bloque vacío utiliza la configuración de conexión disponible. Si el provider no encuentra Docker, se puede seleccionar explícitamente el contexto con DOCKER_CONTEXT o configurar host/context. Antes de ejecutar, comprobar docker version. Windows y macOS requieren Docker Desktop con contenedores Linux para nginx:alpine. Las instrucciones del laboratorio incluyen la selección del contexto local.
Fuentes (consulta: 16 de octubre de 2026):
https://github.com/kreuzwerker/terraform-provider-docker/blob/v4.6.0/docs/index.md
https://github.com/kreuzwerker/terraform-provider-docker/releases/tag/v4.6.0
https://developer.hashicorp.com/terraform/language/files/dependency-lock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docker_image descarga la imagen Nginx si hace falta. keep_locally=true conserva la imagen al destruir los recursos de este ejercicio. docker_container crea el contenedor y usa image_id para referenciar la imagen correcta. ports publica 8080 del host hacia 80 del contenedor. ip=127.0.0.1 limita la publicación al equipo local. nginx:alpine es una etiqueta mutable; para reproducibilidad estricta se debe fijar un digest. El código no implementa actualizaciones automáticas de esa etiqueta.
Fuentes (consulta: 16 de octubre de 2026):
https://github.com/kreuzwerker/terraform-provider-docker/blob/v4.6.0/docs/resources/image.md
https://github.com/kreuzwerker/terraform-provider-docker/blob/v4.6.0/docs/resources/container.md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direcciones resource combinan tipo y nombre local. nginx y web son etiquetas internas de Terraform, mientras que web-terraform es el nombre real del contenedor. La referencia docker_image.nginx.image_id permite inferir la dependencia sin un depends_on explícito. En el resultado, un navegador accede al puerto externo 8080 y Docker lo conecta al 80 interno.
Fuentes (consulta: 16 de octubre de 2026):
https://developer.hashicorp.com/terraform/language/providers
https://developer.hashicorp.com/terraform/language/resources
https://github.com/kreuzwerker/terraform-provider-docker/blob/v4.6.0/docs/resources/container.md
https://github.com/kreuzwerker/terraform-provider-docker/blob/v4.6.0/docs/resources/image.md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init prepara el directorio. fmt y validate mejoran la calidad de la configuración, pero validate no verifica servicios remotos. plan muestra las operaciones sin aplicarlas a los recursos. apply sin plan guardado crea un plan y pide confirmación. apply tfplan ejecuta un plan guardado y no vuelve a pedir aprobación: esta debe realizarse antes. destroy actúa sobre los recursos del state del workspace actual, por lo que es esencial revisar el contexto y el plan.
Fuentes (consulta: 16 de octubre de 2026):
https://developer.hashicorp.com/terraform/cli/commands
https://developer.hashicorp.com/terraform/cli/commands/validate
https://developer.hashicorp.com/terraform/cli/commands/plan
https://developer.hashicorp.com/terraform/cli/commands/apply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las cinco etapas solicitadas por la actividad. La persona modifica la definición. Terraform prepara un plan y aplica las operaciones necesarias. El provider llama a Docker. Docker ejecuta Nginx y después se verifica que responda. En despliegues más amplios, aprovisionar infraestructura y publicar una nueva versión de la aplicación pueden ser etapas separadas.
Fuentes (consulta: 16 de octubre de 2026):
https://developer.hashicorp.com/terraform/intro/core-workflow
https://github.com/kreuzwerker/terraform-provider-docker/blob/v4.6.0/docs/index.md
https://github.com/kreuzwerker/terraform-provider-docker/blob/v4.6.0/docs/resources/container.md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y GitHub aportan colaboración y revisión. Docker Compose describe una aplicación de varios servicios. Si se usa junto a Terraform, delimitar qué recursos posee cada herramienta para evitar cambios contrapuestos. Vagrant puede proporcionar una VM para la práctica; no es un requisito de Terraform. Tanto una VM como un runner de CI necesitan acceso a Docker para este ejemplo. En la nube, las credenciales y permisos corresponden al provider de cada plataforma.
Fuentes (consulta: 16 de octubre de 2026):
https://developer.hashicorp.com/terraform/intro
https://developer.hashicorp.com/terraform/language/providers
https://github.com/kreuzwerker/terraform-provider-docker/blob/v4.6.0/docs/index.md
https://docs.docker.com/compose/intro/compose-application-model/
https://developer.hashicorp.com/terraform/tutorials/automation/automate-terraform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secuencia conceptual para Terraform CLI. Ejecutar init antes de validate. Guardar el plan con terraform plan -out=tfplan y someterlo a revisión. La etapa aprobada ejecuta terraform apply tfplan; al pasar el archivo no aparece una segunda confirmación interactiva. Proteger el artefacto porque puede contener datos sensibles. Mantener compatibles Terraform, providers, configuración y plataforma entre plan y apply. Compartir un backend remoto con control de acceso, serializar operaciones sobre el mismo estado y usar bloqueo si el backend lo permite. La prueba HTTP verifica el servicio, no solo el éxito de Terraform.
Fuentes (consulta: 16 de octubre de 2026):
https://developer.hashicorp.com/terraform/tutorials/automation/automate-terraform
https://developer.hashicorp.com/terraform/cli/commands/apply
https://developer.hashicorp.com/terraform/language/manage-sensitive-data
https://developer.hashicorp.com/terraform/language/state/locking
https://www.jenkins.io/doc/book/pipeline/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plan ayuda a revisar acciones, pero no elimina errores de diseño ni garantiza que una API responda como se espera. State y planes pueden contener datos sensibles. La configuración y el lock file sí se versionan, mientras que state y planes no deben subirse a Git. Para una prueba de un solo contenedor, Docker o Compose pueden ser suficientes; esta es una valoración de complejidad para el escenario, no una prohibición de usar Terraform. OpenTofu y Pulumi son alternativas de IaC. Ansible y Jenkins suelen complementar Terraform.
Fuentes (consulta: 16 de octubre de 2026):
https://developer.hashicorp.com/terraform/intro
https://developer.hashicorp.com/terraform/language/manage-sensitive-data
https://developer.hashicorp.com/terraform/language/style
https://docs.ansible.com/projects/ansible/latest/getting_started/introduction.html
https://www.jenkins.io/doc/book/pipeline/
https://docs.docker.com/compose/intro/compose-application-model/
https://opentofu.org/docs/intro/
https://www.pulumi.com/docs/iac/concepts/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completa y el código se incluyen en Materiales_laboratorio_Terraform.zip. Escenario: sustituir la descarga y creación manual de un servidor web por una definición reproducible. Preparación: instalar Terraform CLI, iniciar Docker Desktop o Docker Engine, comprobar docker version y usar contenedores Linux. Seleccionar el contexto local correcto cuando sea necesario. Guardar juntas las dos partes de main.tf de las diapositivas 11 y 12. Antes: docker ps -a --filter name=web-terraform no debe mostrar un contenedor previo con ese nombre. Ejecutar init, fmt y validate. Crear el plan con -out=tfplan y leerlo antes de aplicar. Ejecutar apply tfplan solo cuando se haya revisado. Verificar docker ps y abrir http://localhost:8080 o solicitar una respuesta HTTP mediante curl. Evidencia del alumno: salida del plan y apply, contenedor activo y página Nginx o código HTTP 200. Reto sin solución: cambiar únicamente el puerto externo a 8081, predecir las acciones, revisar el plan y demostrar la nueva URL. Cierre: volver a ejecutar plan para comprobar que no hay cambios pendientes y usar destroy para retirar los recursos del ejercicio. keep_locally conserva la imagen. La ejecución del servicio debe realizarse durante la práctica; la diapositiva describe resultados esperados, no evidencia de una ejecución previa.
Fuentes (consulta: 16 de octubre de 2026):
https://github.com/kreuzwerker/terraform-provider-docker/blob/v4.6.0/docs/index.md
https://github.com/kreuzwerker/terraform-provider-docker/blob/v4.6.0/docs/resources/image.md
https://github.com/kreuzwerker/terraform-provider-docker/blob/v4.6.0/docs/resources/container.md
https://developer.hashicorp.com/terraform/cli/commands
https://developer.hashicorp.com/terraform/cli/commands/plan
https://developer.hashicorp.com/terraform/cli/commands/apply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Responder directamente a las tres preguntas finales de la actividad. Terraform automatiza recursos mediante providers. Reemplaza tareas de aprovisionamiento repetidas, pero mantiene la responsabilidad de revisar la definición y el plan. En CI/CD, un orquestador coordina la validación, aprobación y aplicación. La prueba de la aplicación confirma el resultado visible para el usuario.
Fuentes (consulta: 16 de octubre de 2026):
https://developer.hashicorp.com/terraform/intro
https://developer.hashicorp.com/terraform/intro/core-workflow
https://developer.hashicorp.com/terraform/tutorials/automation/automate-terraform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de requisitos: Actividad-Herramientas-automatizacion-despligue.pdf, páginas 1 a 3. Material base: Terraform_Exposicion_20-25_minutos.pdf, 21 páginas. Referencias completas utilizadas para contrastar el contenido:
intro: https://developer.hashicorp.com/terraform/intro
workflow: https://developer.hashicorp.com/terraform/intro/core-workflow
providers: https://developer.hashicorp.com/terraform/language/providers
state: https://developer.hashicorp.com/terraform/language/state
resources: https://developer.hashicorp.com/terraform/language/resources
data: https://developer.hashicorp.com/terraform/language/data-sources
modules: https://developer.hashicorp.com/terraform/language/modules
backend: https://developer.hashicorp.com/terraform/language/backend
lock: https://developer.hashicorp.com/terraform/language/files/dependency-lock
vars: https://developer.hashicorp.com/terraform/language/values/variables
outputs: https://developer.hashicorp.com/terraform/language/values/outputs
files: https://developer.hashicorp.com/terraform/language/files
cli: https://developer.hashicorp.com/terraform/cli/commands
validate: https://developer.hashicorp.com/terraform/cli/commands/validate
plan: https://developer.hashicorp.com/terraform/cli/commands/plan
apply: https://developer.hashicorp.com/terraform/cli/commands/apply
automation: https://developer.hashicorp.com/terraform/tutorials/automation/automate-terraform
secrets: https://developer.hashicorp.com/terraform/language/manage-sensitive-data
locking: https://developer.hashicorp.com/terraform/language/state/locking
style: https://developer.hashicorp.com/terraform/language/style
docker: https://github.com/kreuzwerker/terraform-provider-docker/blob/v4.6.0/docs/index.md
image: https://github.com/kreuzwerker/terraform-provider-docker/blob/v4.6.0/docs/resources/image.md
container: https://github.com/kreuzwerker/terraform-provider-docker/blob/v4.6.0/docs/resources/container.md
release: https://github.com/kreuzwerker/terraform-provider-docker/releases/tag/v4.6.0
compose: https://docs.docker.com/compose/intro/compose-application-model/
ansible: https://docs.ansible.com/projects/ansible/latest/getting_started/introduction.html
jenkins: https://www.jenkins.io/doc/book/pipeline/
tofu: https://opentofu.org/docs/intro/
pulumi: https://www.pulumi.com/docs/iac/concepts/
Fuentes (consulta: 16 de octubre de 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developer.hashicorp.com/terraform/intro" TargetMode="External"/><Relationship Id="rId2" Type="http://schemas.openxmlformats.org/officeDocument/2006/relationships/hyperlink" Target="https://developer.hashicorp.com/terraform/language/state" TargetMode="External"/><Relationship Id="rId3" Type="http://schemas.openxmlformats.org/officeDocument/2006/relationships/hyperlink" Target="https://developer.hashicorp.com/terraform/tutorials/automation/automate-terraform" TargetMode="External"/><Relationship Id="rId4" Type="http://schemas.openxmlformats.org/officeDocument/2006/relationships/hyperlink" Target="https://github.com/kreuzwerker/terraform-provider-docker/blob/v4.6.0/docs/index.md" TargetMode="External"/><Relationship Id="rId5" Type="http://schemas.openxmlformats.org/officeDocument/2006/relationships/hyperlink" Target="https://docs.docker.com/compose/intro/compose-application-model/" TargetMode="External"/><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72E"/>
        </a:solidFill>
      </p:bgPr>
    </p:bg>
    <p:spTree>
      <p:nvGrpSpPr>
        <p:cNvPr id="1" name=""/>
        <p:cNvGrpSpPr/>
        <p:nvPr/>
      </p:nvGrpSpPr>
      <p:grpSpPr>
        <a:xfrm>
          <a:off x="0" y="0"/>
          <a:ext cx="0" cy="0"/>
          <a:chOff x="0" y="0"/>
          <a:chExt cx="0" cy="0"/>
        </a:xfrm>
      </p:grpSpPr>
      <p:sp>
        <p:nvSpPr>
          <p:cNvPr id="2" name="Text 0"/>
          <p:cNvSpPr/>
          <p:nvPr/>
        </p:nvSpPr>
        <p:spPr>
          <a:xfrm>
            <a:off x="640080" y="594360"/>
            <a:ext cx="10789920" cy="320040"/>
          </a:xfrm>
          <a:prstGeom prst="rect">
            <a:avLst/>
          </a:prstGeom>
          <a:noFill/>
          <a:ln/>
        </p:spPr>
        <p:txBody>
          <a:bodyPr wrap="square" lIns="0" tIns="0" rIns="0" bIns="0" rtlCol="0" anchor="t"/>
          <a:lstStyle/>
          <a:p>
            <a:pPr indent="0" marL="0">
              <a:buNone/>
            </a:pPr>
            <a:r>
              <a:rPr lang="en-US" sz="1200" b="1" spc="110" kern="0" dirty="0">
                <a:solidFill>
                  <a:srgbClr val="BDC6D0"/>
                </a:solidFill>
                <a:latin typeface="Arial" pitchFamily="34" charset="0"/>
                <a:ea typeface="Arial" pitchFamily="34" charset="-122"/>
                <a:cs typeface="Arial" pitchFamily="34" charset="-120"/>
              </a:rPr>
              <a:t>HERRAMIENTAS PARA AUTOMATIZACIÓN Y DESPLIEGUE</a:t>
            </a:r>
            <a:endParaRPr lang="en-US" sz="1200" dirty="0"/>
          </a:p>
        </p:txBody>
      </p:sp>
      <p:sp>
        <p:nvSpPr>
          <p:cNvPr id="3" name="Text 1"/>
          <p:cNvSpPr/>
          <p:nvPr/>
        </p:nvSpPr>
        <p:spPr>
          <a:xfrm>
            <a:off x="612648" y="1481328"/>
            <a:ext cx="8686800" cy="960120"/>
          </a:xfrm>
          <a:prstGeom prst="rect">
            <a:avLst/>
          </a:prstGeom>
          <a:noFill/>
          <a:ln/>
        </p:spPr>
        <p:txBody>
          <a:bodyPr wrap="square" lIns="0" tIns="0" rIns="0" bIns="0" rtlCol="0" anchor="t"/>
          <a:lstStyle/>
          <a:p>
            <a:pPr indent="0" marL="0">
              <a:buNone/>
            </a:pPr>
            <a:r>
              <a:rPr lang="en-US" sz="5800" b="1" dirty="0">
                <a:solidFill>
                  <a:srgbClr val="FFFFFF"/>
                </a:solidFill>
                <a:latin typeface="Arial" pitchFamily="34" charset="0"/>
                <a:ea typeface="Arial" pitchFamily="34" charset="-122"/>
                <a:cs typeface="Arial" pitchFamily="34" charset="-120"/>
              </a:rPr>
              <a:t>Terraform</a:t>
            </a:r>
            <a:endParaRPr lang="en-US" sz="5800" dirty="0"/>
          </a:p>
        </p:txBody>
      </p:sp>
      <p:sp>
        <p:nvSpPr>
          <p:cNvPr id="4" name="Text 2"/>
          <p:cNvSpPr/>
          <p:nvPr/>
        </p:nvSpPr>
        <p:spPr>
          <a:xfrm>
            <a:off x="658368" y="2633472"/>
            <a:ext cx="9875520" cy="502920"/>
          </a:xfrm>
          <a:prstGeom prst="rect">
            <a:avLst/>
          </a:prstGeom>
          <a:noFill/>
          <a:ln/>
        </p:spPr>
        <p:txBody>
          <a:bodyPr wrap="square" lIns="0" tIns="0" rIns="0" bIns="0" rtlCol="0" anchor="t"/>
          <a:lstStyle/>
          <a:p>
            <a:pPr indent="0" marL="0">
              <a:buNone/>
            </a:pPr>
            <a:r>
              <a:rPr lang="en-US" sz="2900" dirty="0">
                <a:solidFill>
                  <a:srgbClr val="CBBCEB"/>
                </a:solidFill>
                <a:latin typeface="Arial" pitchFamily="34" charset="0"/>
                <a:ea typeface="Arial" pitchFamily="34" charset="-122"/>
                <a:cs typeface="Arial" pitchFamily="34" charset="-120"/>
              </a:rPr>
              <a:t>Infraestructura como código</a:t>
            </a:r>
            <a:endParaRPr lang="en-US" sz="2900" dirty="0"/>
          </a:p>
        </p:txBody>
      </p:sp>
      <p:sp>
        <p:nvSpPr>
          <p:cNvPr id="5" name="Text 3"/>
          <p:cNvSpPr/>
          <p:nvPr/>
        </p:nvSpPr>
        <p:spPr>
          <a:xfrm>
            <a:off x="676656" y="3401568"/>
            <a:ext cx="9875520" cy="822960"/>
          </a:xfrm>
          <a:prstGeom prst="rect">
            <a:avLst/>
          </a:prstGeom>
          <a:noFill/>
          <a:ln/>
        </p:spPr>
        <p:txBody>
          <a:bodyPr wrap="square" lIns="0" tIns="0" rIns="0" bIns="0" rtlCol="0" anchor="t"/>
          <a:lstStyle/>
          <a:p>
            <a:pPr indent="0" marL="0">
              <a:buNone/>
            </a:pPr>
            <a:r>
              <a:rPr lang="en-US" sz="2100" dirty="0">
                <a:solidFill>
                  <a:srgbClr val="D9DEE4"/>
                </a:solidFill>
                <a:latin typeface="Arial" pitchFamily="34" charset="0"/>
                <a:ea typeface="Arial" pitchFamily="34" charset="-122"/>
                <a:cs typeface="Arial" pitchFamily="34" charset="-120"/>
              </a:rPr>
              <a:t>Qué automatiza, cómo funciona y dónde se integra</a:t>
            </a:r>
            <a:endParaRPr lang="en-US" sz="2100" dirty="0"/>
          </a:p>
          <a:p>
            <a:pPr indent="0" marL="0">
              <a:buNone/>
            </a:pPr>
            <a:r>
              <a:rPr lang="en-US" sz="2100" dirty="0">
                <a:solidFill>
                  <a:srgbClr val="D9DEE4"/>
                </a:solidFill>
                <a:latin typeface="Arial" pitchFamily="34" charset="0"/>
                <a:ea typeface="Arial" pitchFamily="34" charset="-122"/>
                <a:cs typeface="Arial" pitchFamily="34" charset="-120"/>
              </a:rPr>
              <a:t>en un despliegue real</a:t>
            </a:r>
            <a:endParaRPr lang="en-US" sz="2100" dirty="0"/>
          </a:p>
        </p:txBody>
      </p:sp>
      <p:sp>
        <p:nvSpPr>
          <p:cNvPr id="6" name="Text 4"/>
          <p:cNvSpPr/>
          <p:nvPr/>
        </p:nvSpPr>
        <p:spPr>
          <a:xfrm>
            <a:off x="676656" y="4800600"/>
            <a:ext cx="2743200" cy="228600"/>
          </a:xfrm>
          <a:prstGeom prst="rect">
            <a:avLst/>
          </a:prstGeom>
          <a:noFill/>
          <a:ln/>
        </p:spPr>
        <p:txBody>
          <a:bodyPr wrap="square" lIns="0" tIns="0" rIns="0" bIns="0" rtlCol="0" anchor="t"/>
          <a:lstStyle/>
          <a:p>
            <a:pPr indent="0" marL="0">
              <a:buNone/>
            </a:pPr>
            <a:r>
              <a:rPr lang="en-US" sz="1100" b="1" spc="100" kern="0" dirty="0">
                <a:solidFill>
                  <a:srgbClr val="B4BEC8"/>
                </a:solidFill>
                <a:latin typeface="Arial" pitchFamily="34" charset="0"/>
                <a:ea typeface="Arial" pitchFamily="34" charset="-122"/>
                <a:cs typeface="Arial" pitchFamily="34" charset="-120"/>
              </a:rPr>
              <a:t>INTEGRANTES</a:t>
            </a:r>
            <a:endParaRPr lang="en-US" sz="1100" dirty="0"/>
          </a:p>
        </p:txBody>
      </p:sp>
      <p:sp>
        <p:nvSpPr>
          <p:cNvPr id="7" name="Text 5"/>
          <p:cNvSpPr/>
          <p:nvPr/>
        </p:nvSpPr>
        <p:spPr>
          <a:xfrm>
            <a:off x="676656" y="5230368"/>
            <a:ext cx="9875520" cy="1051560"/>
          </a:xfrm>
          <a:prstGeom prst="rect">
            <a:avLst/>
          </a:prstGeom>
          <a:noFill/>
          <a:ln/>
        </p:spPr>
        <p:txBody>
          <a:bodyPr wrap="square" lIns="0" tIns="0" rIns="0" bIns="0" rtlCol="0" anchor="t"/>
          <a:lstStyle/>
          <a:p>
            <a:pPr indent="0" marL="0">
              <a:buNone/>
            </a:pPr>
            <a:r>
              <a:rPr lang="en-US" sz="1900" dirty="0">
                <a:solidFill>
                  <a:srgbClr val="FFFFFF"/>
                </a:solidFill>
                <a:latin typeface="Arial" pitchFamily="34" charset="0"/>
                <a:ea typeface="Arial" pitchFamily="34" charset="-122"/>
                <a:cs typeface="Arial" pitchFamily="34" charset="-120"/>
              </a:rPr>
              <a:t>Angel Jonathan Puch Hernández</a:t>
            </a:r>
            <a:endParaRPr lang="en-US" sz="1900" dirty="0"/>
          </a:p>
          <a:p>
            <a:pPr indent="0" marL="0">
              <a:buNone/>
            </a:pPr>
            <a:r>
              <a:rPr lang="en-US" sz="1900" dirty="0">
                <a:solidFill>
                  <a:srgbClr val="FFFFFF"/>
                </a:solidFill>
                <a:latin typeface="Arial" pitchFamily="34" charset="0"/>
                <a:ea typeface="Arial" pitchFamily="34" charset="-122"/>
                <a:cs typeface="Arial" pitchFamily="34" charset="-120"/>
              </a:rPr>
              <a:t>Jose Luis Silva Gomez</a:t>
            </a:r>
            <a:endParaRPr lang="en-US" sz="1900" dirty="0"/>
          </a:p>
          <a:p>
            <a:pPr indent="0" marL="0">
              <a:buNone/>
            </a:pPr>
            <a:r>
              <a:rPr lang="en-US" sz="1900" dirty="0">
                <a:solidFill>
                  <a:srgbClr val="FFFFFF"/>
                </a:solidFill>
                <a:latin typeface="Arial" pitchFamily="34" charset="0"/>
                <a:ea typeface="Arial" pitchFamily="34" charset="-122"/>
                <a:cs typeface="Arial" pitchFamily="34" charset="-120"/>
              </a:rPr>
              <a:t>Miguel Angel Mendez Ronzón</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7" name="Tarjeta Con Terraform"/>
          <p:cNvSpPr/>
          <p:nvPr/>
        </p:nvSpPr>
        <p:spPr>
          <a:xfrm>
            <a:off x="6236208" y="1965960"/>
            <a:ext cx="5294376" cy="3246120"/>
          </a:xfrm>
          <a:prstGeom prst="roundRect">
            <a:avLst>
              <a:gd name="adj" fmla="val 2394"/>
            </a:avLst>
          </a:prstGeom>
          <a:solidFill>
            <a:srgbClr val="F0ECF8"/>
          </a:solidFill>
          <a:ln w="7620">
            <a:solidFill>
              <a:srgbClr val="DDE1E6"/>
            </a:solidFill>
            <a:prstDash val="solid"/>
          </a:ln>
          <a:effectLst/>
        </p:spPr>
      </p:sp>
      <p:sp>
        <p:nvSpPr>
          <p:cNvPr id="26" name="Tarjeta Configuración manual"/>
          <p:cNvSpPr/>
          <p:nvPr/>
        </p:nvSpPr>
        <p:spPr>
          <a:xfrm>
            <a:off x="667512" y="1965960"/>
            <a:ext cx="5294376" cy="3246120"/>
          </a:xfrm>
          <a:prstGeom prst="roundRect">
            <a:avLst>
              <a:gd name="adj" fmla="val 2394"/>
            </a:avLst>
          </a:prstGeom>
          <a:solidFill>
            <a:srgbClr val="F4F5F7"/>
          </a:solidFill>
          <a:ln w="7620">
            <a:solidFill>
              <a:srgbClr val="DDE1E6"/>
            </a:solidFill>
            <a:prstDash val="solid"/>
          </a:ln>
          <a:effectLst/>
        </p:spPr>
      </p:sp>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El problema: infraestructura manual</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Repetir la misma tarea en varios ambientes puede producir configuraciones distintas.</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Introducción</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02 / 21</a:t>
            </a:r>
            <a:endParaRPr lang="en-US" sz="1050" dirty="0"/>
          </a:p>
        </p:txBody>
      </p:sp>
      <p:sp>
        <p:nvSpPr>
          <p:cNvPr id="6" name="Text 4"/>
          <p:cNvSpPr/>
          <p:nvPr/>
        </p:nvSpPr>
        <p:spPr>
          <a:xfrm>
            <a:off x="905256" y="2212848"/>
            <a:ext cx="4800600" cy="402336"/>
          </a:xfrm>
          <a:prstGeom prst="rect">
            <a:avLst/>
          </a:prstGeom>
          <a:noFill/>
          <a:ln/>
        </p:spPr>
        <p:txBody>
          <a:bodyPr wrap="square" lIns="0" tIns="0" rIns="0" bIns="0" rtlCol="0" anchor="t"/>
          <a:lstStyle/>
          <a:p>
            <a:pPr indent="0" marL="0">
              <a:buNone/>
            </a:pPr>
            <a:r>
              <a:rPr lang="en-US" sz="2300" b="1" dirty="0">
                <a:solidFill>
                  <a:srgbClr val="27323A"/>
                </a:solidFill>
                <a:latin typeface="Arial" pitchFamily="34" charset="0"/>
                <a:ea typeface="Arial" pitchFamily="34" charset="-122"/>
                <a:cs typeface="Arial" pitchFamily="34" charset="-120"/>
              </a:rPr>
              <a:t>Configuración manual</a:t>
            </a:r>
            <a:endParaRPr lang="en-US" sz="2300" dirty="0"/>
          </a:p>
        </p:txBody>
      </p:sp>
      <p:sp>
        <p:nvSpPr>
          <p:cNvPr id="7" name="Text 5"/>
          <p:cNvSpPr/>
          <p:nvPr/>
        </p:nvSpPr>
        <p:spPr>
          <a:xfrm>
            <a:off x="6473952" y="2212848"/>
            <a:ext cx="4800600" cy="402336"/>
          </a:xfrm>
          <a:prstGeom prst="rect">
            <a:avLst/>
          </a:prstGeom>
          <a:noFill/>
          <a:ln/>
        </p:spPr>
        <p:txBody>
          <a:bodyPr wrap="square" lIns="0" tIns="0" rIns="0" bIns="0" rtlCol="0" anchor="t"/>
          <a:lstStyle/>
          <a:p>
            <a:pPr indent="0" marL="0">
              <a:buNone/>
            </a:pPr>
            <a:r>
              <a:rPr lang="en-US" sz="2300" b="1" dirty="0">
                <a:solidFill>
                  <a:srgbClr val="6543BD"/>
                </a:solidFill>
                <a:latin typeface="Arial" pitchFamily="34" charset="0"/>
                <a:ea typeface="Arial" pitchFamily="34" charset="-122"/>
                <a:cs typeface="Arial" pitchFamily="34" charset="-120"/>
              </a:rPr>
              <a:t>Con Terraform</a:t>
            </a:r>
            <a:endParaRPr lang="en-US" sz="2300" dirty="0"/>
          </a:p>
        </p:txBody>
      </p:sp>
      <p:sp>
        <p:nvSpPr>
          <p:cNvPr id="8" name="Text 6"/>
          <p:cNvSpPr/>
          <p:nvPr/>
        </p:nvSpPr>
        <p:spPr>
          <a:xfrm>
            <a:off x="905256" y="2907792"/>
            <a:ext cx="320040" cy="329184"/>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1353312" y="2889504"/>
            <a:ext cx="4361688" cy="411480"/>
          </a:xfrm>
          <a:prstGeom prst="rect">
            <a:avLst/>
          </a:prstGeom>
          <a:noFill/>
          <a:ln/>
        </p:spPr>
        <p:txBody>
          <a:bodyPr wrap="square" lIns="0" tIns="0" rIns="0" bIns="0" rtlCol="0" anchor="t"/>
          <a:lstStyle/>
          <a:p>
            <a:pPr indent="0" marL="0">
              <a:buNone/>
            </a:pPr>
            <a:r>
              <a:rPr lang="en-US" sz="1900" dirty="0">
                <a:solidFill>
                  <a:srgbClr val="27323A"/>
                </a:solidFill>
                <a:latin typeface="Arial" pitchFamily="34" charset="0"/>
                <a:ea typeface="Arial" pitchFamily="34" charset="-122"/>
                <a:cs typeface="Arial" pitchFamily="34" charset="-120"/>
              </a:rPr>
              <a:t>Abrir la consola</a:t>
            </a:r>
            <a:endParaRPr lang="en-US" sz="1900" dirty="0"/>
          </a:p>
        </p:txBody>
      </p:sp>
      <p:sp>
        <p:nvSpPr>
          <p:cNvPr id="10" name="Text 8"/>
          <p:cNvSpPr/>
          <p:nvPr/>
        </p:nvSpPr>
        <p:spPr>
          <a:xfrm>
            <a:off x="6473952" y="2907792"/>
            <a:ext cx="320040" cy="329184"/>
          </a:xfrm>
          <a:prstGeom prst="rect">
            <a:avLst/>
          </a:prstGeom>
          <a:noFill/>
          <a:ln/>
        </p:spPr>
        <p:txBody>
          <a:bodyPr wrap="square" lIns="0" tIns="0" rIns="0" bIns="0" rtlCol="0" anchor="t"/>
          <a:lstStyle/>
          <a:p>
            <a:pPr indent="0" marL="0">
              <a:buNone/>
            </a:pPr>
            <a:r>
              <a:rPr lang="en-US" sz="1700" dirty="0">
                <a:solidFill>
                  <a:srgbClr val="6543BD"/>
                </a:solidFill>
                <a:latin typeface="Arial" pitchFamily="34" charset="0"/>
                <a:ea typeface="Arial" pitchFamily="34" charset="-122"/>
                <a:cs typeface="Arial" pitchFamily="34" charset="-120"/>
              </a:rPr>
              <a:t>1</a:t>
            </a:r>
            <a:endParaRPr lang="en-US" sz="1700" dirty="0"/>
          </a:p>
        </p:txBody>
      </p:sp>
      <p:sp>
        <p:nvSpPr>
          <p:cNvPr id="11" name="Text 9"/>
          <p:cNvSpPr/>
          <p:nvPr/>
        </p:nvSpPr>
        <p:spPr>
          <a:xfrm>
            <a:off x="6922008" y="2889504"/>
            <a:ext cx="4361688" cy="411480"/>
          </a:xfrm>
          <a:prstGeom prst="rect">
            <a:avLst/>
          </a:prstGeom>
          <a:noFill/>
          <a:ln/>
        </p:spPr>
        <p:txBody>
          <a:bodyPr wrap="square" lIns="0" tIns="0" rIns="0" bIns="0" rtlCol="0" anchor="t"/>
          <a:lstStyle/>
          <a:p>
            <a:pPr indent="0" marL="0">
              <a:buNone/>
            </a:pPr>
            <a:r>
              <a:rPr lang="en-US" sz="1900" dirty="0">
                <a:solidFill>
                  <a:srgbClr val="27323A"/>
                </a:solidFill>
                <a:latin typeface="Arial" pitchFamily="34" charset="0"/>
                <a:ea typeface="Arial" pitchFamily="34" charset="-122"/>
                <a:cs typeface="Arial" pitchFamily="34" charset="-120"/>
              </a:rPr>
              <a:t>Escribir archivos .tf</a:t>
            </a:r>
            <a:endParaRPr lang="en-US" sz="1900" dirty="0"/>
          </a:p>
        </p:txBody>
      </p:sp>
      <p:sp>
        <p:nvSpPr>
          <p:cNvPr id="12" name="Text 10"/>
          <p:cNvSpPr/>
          <p:nvPr/>
        </p:nvSpPr>
        <p:spPr>
          <a:xfrm>
            <a:off x="905256" y="3410712"/>
            <a:ext cx="320040" cy="329184"/>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2</a:t>
            </a:r>
            <a:endParaRPr lang="en-US" sz="1700" dirty="0"/>
          </a:p>
        </p:txBody>
      </p:sp>
      <p:sp>
        <p:nvSpPr>
          <p:cNvPr id="13" name="Text 11"/>
          <p:cNvSpPr/>
          <p:nvPr/>
        </p:nvSpPr>
        <p:spPr>
          <a:xfrm>
            <a:off x="1353312" y="3392424"/>
            <a:ext cx="4361688" cy="411480"/>
          </a:xfrm>
          <a:prstGeom prst="rect">
            <a:avLst/>
          </a:prstGeom>
          <a:noFill/>
          <a:ln/>
        </p:spPr>
        <p:txBody>
          <a:bodyPr wrap="square" lIns="0" tIns="0" rIns="0" bIns="0" rtlCol="0" anchor="t"/>
          <a:lstStyle/>
          <a:p>
            <a:pPr indent="0" marL="0">
              <a:buNone/>
            </a:pPr>
            <a:r>
              <a:rPr lang="en-US" sz="1900" dirty="0">
                <a:solidFill>
                  <a:srgbClr val="27323A"/>
                </a:solidFill>
                <a:latin typeface="Arial" pitchFamily="34" charset="0"/>
                <a:ea typeface="Arial" pitchFamily="34" charset="-122"/>
                <a:cs typeface="Arial" pitchFamily="34" charset="-120"/>
              </a:rPr>
              <a:t>Crear recursos uno por uno</a:t>
            </a:r>
            <a:endParaRPr lang="en-US" sz="1900" dirty="0"/>
          </a:p>
        </p:txBody>
      </p:sp>
      <p:sp>
        <p:nvSpPr>
          <p:cNvPr id="14" name="Text 12"/>
          <p:cNvSpPr/>
          <p:nvPr/>
        </p:nvSpPr>
        <p:spPr>
          <a:xfrm>
            <a:off x="6473952" y="3410712"/>
            <a:ext cx="320040" cy="329184"/>
          </a:xfrm>
          <a:prstGeom prst="rect">
            <a:avLst/>
          </a:prstGeom>
          <a:noFill/>
          <a:ln/>
        </p:spPr>
        <p:txBody>
          <a:bodyPr wrap="square" lIns="0" tIns="0" rIns="0" bIns="0" rtlCol="0" anchor="t"/>
          <a:lstStyle/>
          <a:p>
            <a:pPr indent="0" marL="0">
              <a:buNone/>
            </a:pPr>
            <a:r>
              <a:rPr lang="en-US" sz="1700" dirty="0">
                <a:solidFill>
                  <a:srgbClr val="6543BD"/>
                </a:solidFill>
                <a:latin typeface="Arial" pitchFamily="34" charset="0"/>
                <a:ea typeface="Arial" pitchFamily="34" charset="-122"/>
                <a:cs typeface="Arial" pitchFamily="34" charset="-120"/>
              </a:rPr>
              <a:t>2</a:t>
            </a:r>
            <a:endParaRPr lang="en-US" sz="1700" dirty="0"/>
          </a:p>
        </p:txBody>
      </p:sp>
      <p:sp>
        <p:nvSpPr>
          <p:cNvPr id="15" name="Text 13"/>
          <p:cNvSpPr/>
          <p:nvPr/>
        </p:nvSpPr>
        <p:spPr>
          <a:xfrm>
            <a:off x="6922008" y="3392424"/>
            <a:ext cx="4361688" cy="411480"/>
          </a:xfrm>
          <a:prstGeom prst="rect">
            <a:avLst/>
          </a:prstGeom>
          <a:noFill/>
          <a:ln/>
        </p:spPr>
        <p:txBody>
          <a:bodyPr wrap="square" lIns="0" tIns="0" rIns="0" bIns="0" rtlCol="0" anchor="t"/>
          <a:lstStyle/>
          <a:p>
            <a:pPr indent="0" marL="0">
              <a:buNone/>
            </a:pPr>
            <a:r>
              <a:rPr lang="en-US" sz="1900" dirty="0">
                <a:solidFill>
                  <a:srgbClr val="27323A"/>
                </a:solidFill>
                <a:latin typeface="Arial" pitchFamily="34" charset="0"/>
                <a:ea typeface="Arial" pitchFamily="34" charset="-122"/>
                <a:cs typeface="Arial" pitchFamily="34" charset="-120"/>
              </a:rPr>
              <a:t>Revisar el plan propuesto</a:t>
            </a:r>
            <a:endParaRPr lang="en-US" sz="1900" dirty="0"/>
          </a:p>
        </p:txBody>
      </p:sp>
      <p:sp>
        <p:nvSpPr>
          <p:cNvPr id="16" name="Text 14"/>
          <p:cNvSpPr/>
          <p:nvPr/>
        </p:nvSpPr>
        <p:spPr>
          <a:xfrm>
            <a:off x="905256" y="3913632"/>
            <a:ext cx="320040" cy="329184"/>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3</a:t>
            </a:r>
            <a:endParaRPr lang="en-US" sz="1700" dirty="0"/>
          </a:p>
        </p:txBody>
      </p:sp>
      <p:sp>
        <p:nvSpPr>
          <p:cNvPr id="17" name="Text 15"/>
          <p:cNvSpPr/>
          <p:nvPr/>
        </p:nvSpPr>
        <p:spPr>
          <a:xfrm>
            <a:off x="1353312" y="3895344"/>
            <a:ext cx="4361688" cy="411480"/>
          </a:xfrm>
          <a:prstGeom prst="rect">
            <a:avLst/>
          </a:prstGeom>
          <a:noFill/>
          <a:ln/>
        </p:spPr>
        <p:txBody>
          <a:bodyPr wrap="square" lIns="0" tIns="0" rIns="0" bIns="0" rtlCol="0" anchor="t"/>
          <a:lstStyle/>
          <a:p>
            <a:pPr indent="0" marL="0">
              <a:buNone/>
            </a:pPr>
            <a:r>
              <a:rPr lang="en-US" sz="1900" dirty="0">
                <a:solidFill>
                  <a:srgbClr val="27323A"/>
                </a:solidFill>
                <a:latin typeface="Arial" pitchFamily="34" charset="0"/>
                <a:ea typeface="Arial" pitchFamily="34" charset="-122"/>
                <a:cs typeface="Arial" pitchFamily="34" charset="-120"/>
              </a:rPr>
              <a:t>Copiar parámetros a mano</a:t>
            </a:r>
            <a:endParaRPr lang="en-US" sz="1900" dirty="0"/>
          </a:p>
        </p:txBody>
      </p:sp>
      <p:sp>
        <p:nvSpPr>
          <p:cNvPr id="18" name="Text 16"/>
          <p:cNvSpPr/>
          <p:nvPr/>
        </p:nvSpPr>
        <p:spPr>
          <a:xfrm>
            <a:off x="6473952" y="3913632"/>
            <a:ext cx="320040" cy="329184"/>
          </a:xfrm>
          <a:prstGeom prst="rect">
            <a:avLst/>
          </a:prstGeom>
          <a:noFill/>
          <a:ln/>
        </p:spPr>
        <p:txBody>
          <a:bodyPr wrap="square" lIns="0" tIns="0" rIns="0" bIns="0" rtlCol="0" anchor="t"/>
          <a:lstStyle/>
          <a:p>
            <a:pPr indent="0" marL="0">
              <a:buNone/>
            </a:pPr>
            <a:r>
              <a:rPr lang="en-US" sz="1700" dirty="0">
                <a:solidFill>
                  <a:srgbClr val="6543BD"/>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6922008" y="3895344"/>
            <a:ext cx="4361688" cy="411480"/>
          </a:xfrm>
          <a:prstGeom prst="rect">
            <a:avLst/>
          </a:prstGeom>
          <a:noFill/>
          <a:ln/>
        </p:spPr>
        <p:txBody>
          <a:bodyPr wrap="square" lIns="0" tIns="0" rIns="0" bIns="0" rtlCol="0" anchor="t"/>
          <a:lstStyle/>
          <a:p>
            <a:pPr indent="0" marL="0">
              <a:buNone/>
            </a:pPr>
            <a:r>
              <a:rPr lang="en-US" sz="1900" dirty="0">
                <a:solidFill>
                  <a:srgbClr val="27323A"/>
                </a:solidFill>
                <a:latin typeface="Arial" pitchFamily="34" charset="0"/>
                <a:ea typeface="Arial" pitchFamily="34" charset="-122"/>
                <a:cs typeface="Arial" pitchFamily="34" charset="-120"/>
              </a:rPr>
              <a:t>Aplicar los cambios</a:t>
            </a:r>
            <a:endParaRPr lang="en-US" sz="1900" dirty="0"/>
          </a:p>
        </p:txBody>
      </p:sp>
      <p:sp>
        <p:nvSpPr>
          <p:cNvPr id="20" name="Text 18"/>
          <p:cNvSpPr/>
          <p:nvPr/>
        </p:nvSpPr>
        <p:spPr>
          <a:xfrm>
            <a:off x="905256" y="4416552"/>
            <a:ext cx="320040" cy="329184"/>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4</a:t>
            </a:r>
            <a:endParaRPr lang="en-US" sz="1700" dirty="0"/>
          </a:p>
        </p:txBody>
      </p:sp>
      <p:sp>
        <p:nvSpPr>
          <p:cNvPr id="21" name="Text 19"/>
          <p:cNvSpPr/>
          <p:nvPr/>
        </p:nvSpPr>
        <p:spPr>
          <a:xfrm>
            <a:off x="1353312" y="4398264"/>
            <a:ext cx="4361688" cy="411480"/>
          </a:xfrm>
          <a:prstGeom prst="rect">
            <a:avLst/>
          </a:prstGeom>
          <a:noFill/>
          <a:ln/>
        </p:spPr>
        <p:txBody>
          <a:bodyPr wrap="square" lIns="0" tIns="0" rIns="0" bIns="0" rtlCol="0" anchor="t"/>
          <a:lstStyle/>
          <a:p>
            <a:pPr indent="0" marL="0">
              <a:buNone/>
            </a:pPr>
            <a:r>
              <a:rPr lang="en-US" sz="1900" dirty="0">
                <a:solidFill>
                  <a:srgbClr val="27323A"/>
                </a:solidFill>
                <a:latin typeface="Arial" pitchFamily="34" charset="0"/>
                <a:ea typeface="Arial" pitchFamily="34" charset="-122"/>
                <a:cs typeface="Arial" pitchFamily="34" charset="-120"/>
              </a:rPr>
              <a:t>Corregir diferencias</a:t>
            </a:r>
            <a:endParaRPr lang="en-US" sz="1900" dirty="0"/>
          </a:p>
        </p:txBody>
      </p:sp>
      <p:sp>
        <p:nvSpPr>
          <p:cNvPr id="22" name="Text 20"/>
          <p:cNvSpPr/>
          <p:nvPr/>
        </p:nvSpPr>
        <p:spPr>
          <a:xfrm>
            <a:off x="6473952" y="4416552"/>
            <a:ext cx="320040" cy="329184"/>
          </a:xfrm>
          <a:prstGeom prst="rect">
            <a:avLst/>
          </a:prstGeom>
          <a:noFill/>
          <a:ln/>
        </p:spPr>
        <p:txBody>
          <a:bodyPr wrap="square" lIns="0" tIns="0" rIns="0" bIns="0" rtlCol="0" anchor="t"/>
          <a:lstStyle/>
          <a:p>
            <a:pPr indent="0" marL="0">
              <a:buNone/>
            </a:pPr>
            <a:r>
              <a:rPr lang="en-US" sz="1700" dirty="0">
                <a:solidFill>
                  <a:srgbClr val="6543BD"/>
                </a:solidFill>
                <a:latin typeface="Arial" pitchFamily="34" charset="0"/>
                <a:ea typeface="Arial" pitchFamily="34" charset="-122"/>
                <a:cs typeface="Arial" pitchFamily="34" charset="-120"/>
              </a:rPr>
              <a:t>4</a:t>
            </a:r>
            <a:endParaRPr lang="en-US" sz="1700" dirty="0"/>
          </a:p>
        </p:txBody>
      </p:sp>
      <p:sp>
        <p:nvSpPr>
          <p:cNvPr id="23" name="Text 21"/>
          <p:cNvSpPr/>
          <p:nvPr/>
        </p:nvSpPr>
        <p:spPr>
          <a:xfrm>
            <a:off x="6922008" y="4398264"/>
            <a:ext cx="4361688" cy="411480"/>
          </a:xfrm>
          <a:prstGeom prst="rect">
            <a:avLst/>
          </a:prstGeom>
          <a:noFill/>
          <a:ln/>
        </p:spPr>
        <p:txBody>
          <a:bodyPr wrap="square" lIns="0" tIns="0" rIns="0" bIns="0" rtlCol="0" anchor="t"/>
          <a:lstStyle/>
          <a:p>
            <a:pPr indent="0" marL="0">
              <a:buNone/>
            </a:pPr>
            <a:r>
              <a:rPr lang="en-US" sz="1900" dirty="0">
                <a:solidFill>
                  <a:srgbClr val="27323A"/>
                </a:solidFill>
                <a:latin typeface="Arial" pitchFamily="34" charset="0"/>
                <a:ea typeface="Arial" pitchFamily="34" charset="-122"/>
                <a:cs typeface="Arial" pitchFamily="34" charset="-120"/>
              </a:rPr>
              <a:t>Reutilizar el código con parámetros</a:t>
            </a:r>
            <a:endParaRPr lang="en-US" sz="1900" dirty="0"/>
          </a:p>
        </p:txBody>
      </p:sp>
      <p:sp>
        <p:nvSpPr>
          <p:cNvPr id="24" name="Text 22"/>
          <p:cNvSpPr/>
          <p:nvPr/>
        </p:nvSpPr>
        <p:spPr>
          <a:xfrm>
            <a:off x="667512" y="5513832"/>
            <a:ext cx="3200400" cy="365760"/>
          </a:xfrm>
          <a:prstGeom prst="rect">
            <a:avLst/>
          </a:prstGeom>
          <a:noFill/>
          <a:ln/>
        </p:spPr>
        <p:txBody>
          <a:bodyPr wrap="square" lIns="0" tIns="0" rIns="0" bIns="0" rtlCol="0" anchor="t"/>
          <a:lstStyle/>
          <a:p>
            <a:pPr indent="0" marL="0">
              <a:buNone/>
            </a:pPr>
            <a:r>
              <a:rPr lang="en-US" sz="1700" b="1" dirty="0">
                <a:solidFill>
                  <a:srgbClr val="27323A"/>
                </a:solidFill>
                <a:latin typeface="Arial" pitchFamily="34" charset="0"/>
                <a:ea typeface="Arial" pitchFamily="34" charset="-122"/>
                <a:cs typeface="Arial" pitchFamily="34" charset="-120"/>
              </a:rPr>
              <a:t>Riesgos del proceso manual</a:t>
            </a:r>
            <a:endParaRPr lang="en-US" sz="1700" dirty="0"/>
          </a:p>
        </p:txBody>
      </p:sp>
      <p:sp>
        <p:nvSpPr>
          <p:cNvPr id="25" name="Text 23"/>
          <p:cNvSpPr/>
          <p:nvPr/>
        </p:nvSpPr>
        <p:spPr>
          <a:xfrm>
            <a:off x="3877056" y="5513832"/>
            <a:ext cx="7498080" cy="457200"/>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Errores humanos, ambientes inconsistentes y poca trazabilidad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¿Qué es Terraform?</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Herramienta de infraestructura como código (IaC) creada por HashiCorp.</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Introducción</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03 / 21</a:t>
            </a:r>
            <a:endParaRPr lang="en-US" sz="1050" dirty="0"/>
          </a:p>
        </p:txBody>
      </p:sp>
      <p:sp>
        <p:nvSpPr>
          <p:cNvPr id="6" name="Text 4"/>
          <p:cNvSpPr/>
          <p:nvPr/>
        </p:nvSpPr>
        <p:spPr>
          <a:xfrm>
            <a:off x="640080" y="2167128"/>
            <a:ext cx="6720840" cy="1508760"/>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Describe la infraestructura</a:t>
            </a:r>
            <a:endParaRPr lang="en-US" sz="3400" dirty="0"/>
          </a:p>
          <a:p>
            <a:pPr indent="0" marL="0">
              <a:buNone/>
            </a:pPr>
            <a:r>
              <a:rPr lang="en-US" sz="3400" b="1" dirty="0">
                <a:solidFill>
                  <a:srgbClr val="27323A"/>
                </a:solidFill>
                <a:latin typeface="Arial" pitchFamily="34" charset="0"/>
                <a:ea typeface="Arial" pitchFamily="34" charset="-122"/>
                <a:cs typeface="Arial" pitchFamily="34" charset="-120"/>
              </a:rPr>
              <a:t>que quieres administrar</a:t>
            </a:r>
            <a:endParaRPr lang="en-US" sz="3400" dirty="0"/>
          </a:p>
        </p:txBody>
      </p:sp>
      <p:sp>
        <p:nvSpPr>
          <p:cNvPr id="7" name="Text 5"/>
          <p:cNvSpPr/>
          <p:nvPr/>
        </p:nvSpPr>
        <p:spPr>
          <a:xfrm>
            <a:off x="667512" y="4069080"/>
            <a:ext cx="6217920" cy="960120"/>
          </a:xfrm>
          <a:prstGeom prst="rect">
            <a:avLst/>
          </a:prstGeom>
          <a:noFill/>
          <a:ln/>
        </p:spPr>
        <p:txBody>
          <a:bodyPr wrap="square" lIns="0" tIns="0" rIns="0" bIns="0" rtlCol="0" anchor="t"/>
          <a:lstStyle/>
          <a:p>
            <a:pPr indent="0" marL="0">
              <a:buNone/>
            </a:pPr>
            <a:r>
              <a:rPr lang="en-US" sz="2100" dirty="0">
                <a:solidFill>
                  <a:srgbClr val="555F69"/>
                </a:solidFill>
                <a:latin typeface="Arial" pitchFamily="34" charset="0"/>
                <a:ea typeface="Arial" pitchFamily="34" charset="-122"/>
                <a:cs typeface="Arial" pitchFamily="34" charset="-120"/>
              </a:rPr>
              <a:t>Terraform calcula un plan para crear, modificar o eliminar recursos mediante providers y APIs.</a:t>
            </a:r>
            <a:endParaRPr lang="en-US" sz="2100" dirty="0"/>
          </a:p>
        </p:txBody>
      </p:sp>
      <p:sp>
        <p:nvSpPr>
          <p:cNvPr id="8" name="Text 6"/>
          <p:cNvSpPr/>
          <p:nvPr/>
        </p:nvSpPr>
        <p:spPr>
          <a:xfrm>
            <a:off x="7863840" y="2176272"/>
            <a:ext cx="3657600" cy="347472"/>
          </a:xfrm>
          <a:prstGeom prst="rect">
            <a:avLst/>
          </a:prstGeom>
          <a:noFill/>
          <a:ln/>
        </p:spPr>
        <p:txBody>
          <a:bodyPr wrap="square" lIns="0" tIns="0" rIns="0" bIns="0" rtlCol="0" anchor="t"/>
          <a:lstStyle/>
          <a:p>
            <a:pPr indent="0" marL="0">
              <a:buNone/>
            </a:pPr>
            <a:r>
              <a:rPr lang="en-US" sz="2200" b="1" dirty="0">
                <a:solidFill>
                  <a:srgbClr val="6543BD"/>
                </a:solidFill>
                <a:latin typeface="Arial" pitchFamily="34" charset="0"/>
                <a:ea typeface="Arial" pitchFamily="34" charset="-122"/>
                <a:cs typeface="Arial" pitchFamily="34" charset="-120"/>
              </a:rPr>
              <a:t>Declarativa</a:t>
            </a:r>
            <a:endParaRPr lang="en-US" sz="2200" dirty="0"/>
          </a:p>
        </p:txBody>
      </p:sp>
      <p:sp>
        <p:nvSpPr>
          <p:cNvPr id="9" name="Text 7"/>
          <p:cNvSpPr/>
          <p:nvPr/>
        </p:nvSpPr>
        <p:spPr>
          <a:xfrm>
            <a:off x="7863840" y="2660904"/>
            <a:ext cx="3520440" cy="539496"/>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Expresa el estado deseado.</a:t>
            </a:r>
            <a:endParaRPr lang="en-US" sz="1700" dirty="0"/>
          </a:p>
        </p:txBody>
      </p:sp>
      <p:sp>
        <p:nvSpPr>
          <p:cNvPr id="10" name="Text 8"/>
          <p:cNvSpPr/>
          <p:nvPr/>
        </p:nvSpPr>
        <p:spPr>
          <a:xfrm>
            <a:off x="7863840" y="3364992"/>
            <a:ext cx="3657600" cy="347472"/>
          </a:xfrm>
          <a:prstGeom prst="rect">
            <a:avLst/>
          </a:prstGeom>
          <a:noFill/>
          <a:ln/>
        </p:spPr>
        <p:txBody>
          <a:bodyPr wrap="square" lIns="0" tIns="0" rIns="0" bIns="0" rtlCol="0" anchor="t"/>
          <a:lstStyle/>
          <a:p>
            <a:pPr indent="0" marL="0">
              <a:buNone/>
            </a:pPr>
            <a:r>
              <a:rPr lang="en-US" sz="2200" b="1" dirty="0">
                <a:solidFill>
                  <a:srgbClr val="6543BD"/>
                </a:solidFill>
                <a:latin typeface="Arial" pitchFamily="34" charset="0"/>
                <a:ea typeface="Arial" pitchFamily="34" charset="-122"/>
                <a:cs typeface="Arial" pitchFamily="34" charset="-120"/>
              </a:rPr>
              <a:t>Versionable</a:t>
            </a:r>
            <a:endParaRPr lang="en-US" sz="2200" dirty="0"/>
          </a:p>
        </p:txBody>
      </p:sp>
      <p:sp>
        <p:nvSpPr>
          <p:cNvPr id="11" name="Text 9"/>
          <p:cNvSpPr/>
          <p:nvPr/>
        </p:nvSpPr>
        <p:spPr>
          <a:xfrm>
            <a:off x="7863840" y="3849624"/>
            <a:ext cx="3520440" cy="539496"/>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La configuración se revisa con Git.</a:t>
            </a:r>
            <a:endParaRPr lang="en-US" sz="1700" dirty="0"/>
          </a:p>
        </p:txBody>
      </p:sp>
      <p:sp>
        <p:nvSpPr>
          <p:cNvPr id="12" name="Text 10"/>
          <p:cNvSpPr/>
          <p:nvPr/>
        </p:nvSpPr>
        <p:spPr>
          <a:xfrm>
            <a:off x="7863840" y="4553712"/>
            <a:ext cx="3657600" cy="347472"/>
          </a:xfrm>
          <a:prstGeom prst="rect">
            <a:avLst/>
          </a:prstGeom>
          <a:noFill/>
          <a:ln/>
        </p:spPr>
        <p:txBody>
          <a:bodyPr wrap="square" lIns="0" tIns="0" rIns="0" bIns="0" rtlCol="0" anchor="t"/>
          <a:lstStyle/>
          <a:p>
            <a:pPr indent="0" marL="0">
              <a:buNone/>
            </a:pPr>
            <a:r>
              <a:rPr lang="en-US" sz="2200" b="1" dirty="0">
                <a:solidFill>
                  <a:srgbClr val="6543BD"/>
                </a:solidFill>
                <a:latin typeface="Arial" pitchFamily="34" charset="0"/>
                <a:ea typeface="Arial" pitchFamily="34" charset="-122"/>
                <a:cs typeface="Arial" pitchFamily="34" charset="-120"/>
              </a:rPr>
              <a:t>Reutilizable</a:t>
            </a:r>
            <a:endParaRPr lang="en-US" sz="2200" dirty="0"/>
          </a:p>
        </p:txBody>
      </p:sp>
      <p:sp>
        <p:nvSpPr>
          <p:cNvPr id="13" name="Text 11"/>
          <p:cNvSpPr/>
          <p:nvPr/>
        </p:nvSpPr>
        <p:spPr>
          <a:xfrm>
            <a:off x="7863840" y="5038344"/>
            <a:ext cx="3520440" cy="539496"/>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Los módulos y variables evitan repetir código.</a:t>
            </a:r>
            <a:endParaRPr lang="en-US" sz="1700" dirty="0"/>
          </a:p>
        </p:txBody>
      </p:sp>
      <p:sp>
        <p:nvSpPr>
          <p:cNvPr id="14" name="Text 12"/>
          <p:cNvSpPr/>
          <p:nvPr/>
        </p:nvSpPr>
        <p:spPr>
          <a:xfrm>
            <a:off x="667512" y="5760720"/>
            <a:ext cx="10789920" cy="347472"/>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Alcance: recursos locales, nube y servicios con una API compatible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19" name="Tarjeta Menos tareas manuales"/>
          <p:cNvSpPr/>
          <p:nvPr/>
        </p:nvSpPr>
        <p:spPr>
          <a:xfrm>
            <a:off x="8119872" y="2011680"/>
            <a:ext cx="3410712" cy="3246120"/>
          </a:xfrm>
          <a:prstGeom prst="roundRect">
            <a:avLst>
              <a:gd name="adj" fmla="val 2394"/>
            </a:avLst>
          </a:prstGeom>
          <a:solidFill>
            <a:srgbClr val="F4F5F7"/>
          </a:solidFill>
          <a:ln w="7620">
            <a:solidFill>
              <a:srgbClr val="DDE1E6"/>
            </a:solidFill>
            <a:prstDash val="solid"/>
          </a:ln>
          <a:effectLst/>
        </p:spPr>
      </p:sp>
      <p:sp>
        <p:nvSpPr>
          <p:cNvPr id="18" name="Tarjeta Trazabilidad"/>
          <p:cNvSpPr/>
          <p:nvPr/>
        </p:nvSpPr>
        <p:spPr>
          <a:xfrm>
            <a:off x="4393692" y="2011680"/>
            <a:ext cx="3410712" cy="3246120"/>
          </a:xfrm>
          <a:prstGeom prst="roundRect">
            <a:avLst>
              <a:gd name="adj" fmla="val 2394"/>
            </a:avLst>
          </a:prstGeom>
          <a:solidFill>
            <a:srgbClr val="F4F5F7"/>
          </a:solidFill>
          <a:ln w="7620">
            <a:solidFill>
              <a:srgbClr val="DDE1E6"/>
            </a:solidFill>
            <a:prstDash val="solid"/>
          </a:ln>
          <a:effectLst/>
        </p:spPr>
      </p:sp>
      <p:sp>
        <p:nvSpPr>
          <p:cNvPr id="17" name="Tarjeta Repetibilidad"/>
          <p:cNvSpPr/>
          <p:nvPr/>
        </p:nvSpPr>
        <p:spPr>
          <a:xfrm>
            <a:off x="667512" y="2011680"/>
            <a:ext cx="3410712" cy="3246120"/>
          </a:xfrm>
          <a:prstGeom prst="roundRect">
            <a:avLst>
              <a:gd name="adj" fmla="val 2394"/>
            </a:avLst>
          </a:prstGeom>
          <a:solidFill>
            <a:srgbClr val="F4F5F7"/>
          </a:solidFill>
          <a:ln w="7620">
            <a:solidFill>
              <a:srgbClr val="DDE1E6"/>
            </a:solidFill>
            <a:prstDash val="solid"/>
          </a:ln>
          <a:effectLst/>
        </p:spPr>
      </p:sp>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¿Qué problemas resuelve?</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Resulta útil cuando la infraestructura debe ser repetible y controlada.</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Introducción</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04 / 21</a:t>
            </a:r>
            <a:endParaRPr lang="en-US" sz="1050" dirty="0"/>
          </a:p>
        </p:txBody>
      </p:sp>
      <p:sp>
        <p:nvSpPr>
          <p:cNvPr id="6" name="Text 4"/>
          <p:cNvSpPr/>
          <p:nvPr/>
        </p:nvSpPr>
        <p:spPr>
          <a:xfrm>
            <a:off x="896112" y="2267712"/>
            <a:ext cx="658368" cy="411480"/>
          </a:xfrm>
          <a:prstGeom prst="rect">
            <a:avLst/>
          </a:prstGeom>
          <a:noFill/>
          <a:ln/>
        </p:spPr>
        <p:txBody>
          <a:bodyPr wrap="square" lIns="0" tIns="0" rIns="0" bIns="0" rtlCol="0" anchor="t"/>
          <a:lstStyle/>
          <a:p>
            <a:pPr indent="0" marL="0">
              <a:buNone/>
            </a:pPr>
            <a:r>
              <a:rPr lang="en-US" sz="2400" b="1" dirty="0">
                <a:solidFill>
                  <a:srgbClr val="6543BD"/>
                </a:solidFill>
                <a:latin typeface="Arial" pitchFamily="34" charset="0"/>
                <a:ea typeface="Arial" pitchFamily="34" charset="-122"/>
                <a:cs typeface="Arial" pitchFamily="34" charset="-120"/>
              </a:rPr>
              <a:t>01</a:t>
            </a:r>
            <a:endParaRPr lang="en-US" sz="2400" dirty="0"/>
          </a:p>
        </p:txBody>
      </p:sp>
      <p:sp>
        <p:nvSpPr>
          <p:cNvPr id="7" name="Text 5"/>
          <p:cNvSpPr/>
          <p:nvPr/>
        </p:nvSpPr>
        <p:spPr>
          <a:xfrm>
            <a:off x="896112" y="2880360"/>
            <a:ext cx="2953512" cy="722376"/>
          </a:xfrm>
          <a:prstGeom prst="rect">
            <a:avLst/>
          </a:prstGeom>
          <a:noFill/>
          <a:ln/>
        </p:spPr>
        <p:txBody>
          <a:bodyPr wrap="square" lIns="0" tIns="0" rIns="0" bIns="0" rtlCol="0" anchor="t"/>
          <a:lstStyle/>
          <a:p>
            <a:pPr indent="0" marL="0">
              <a:buNone/>
            </a:pPr>
            <a:r>
              <a:rPr lang="en-US" sz="2200" b="1" dirty="0">
                <a:solidFill>
                  <a:srgbClr val="27323A"/>
                </a:solidFill>
                <a:latin typeface="Arial" pitchFamily="34" charset="0"/>
                <a:ea typeface="Arial" pitchFamily="34" charset="-122"/>
                <a:cs typeface="Arial" pitchFamily="34" charset="-120"/>
              </a:rPr>
              <a:t>Repetibilidad</a:t>
            </a:r>
            <a:endParaRPr lang="en-US" sz="2200" dirty="0"/>
          </a:p>
        </p:txBody>
      </p:sp>
      <p:sp>
        <p:nvSpPr>
          <p:cNvPr id="8" name="Text 6"/>
          <p:cNvSpPr/>
          <p:nvPr/>
        </p:nvSpPr>
        <p:spPr>
          <a:xfrm>
            <a:off x="896112" y="3785616"/>
            <a:ext cx="2953512" cy="1261872"/>
          </a:xfrm>
          <a:prstGeom prst="rect">
            <a:avLst/>
          </a:prstGeom>
          <a:noFill/>
          <a:ln/>
        </p:spPr>
        <p:txBody>
          <a:bodyPr wrap="square" lIns="0" tIns="0" rIns="0" bIns="0" rtlCol="0" anchor="t"/>
          <a:lstStyle/>
          <a:p>
            <a:pPr indent="0" marL="0">
              <a:buNone/>
            </a:pPr>
            <a:r>
              <a:rPr lang="en-US" sz="1900" dirty="0">
                <a:solidFill>
                  <a:srgbClr val="555F69"/>
                </a:solidFill>
                <a:latin typeface="Arial" pitchFamily="34" charset="0"/>
                <a:ea typeface="Arial" pitchFamily="34" charset="-122"/>
                <a:cs typeface="Arial" pitchFamily="34" charset="-120"/>
              </a:rPr>
              <a:t>Crear desarrollo, pruebas y producción desde una definición compartida, con parámetros por ambiente.</a:t>
            </a:r>
            <a:endParaRPr lang="en-US" sz="1900" dirty="0"/>
          </a:p>
        </p:txBody>
      </p:sp>
      <p:sp>
        <p:nvSpPr>
          <p:cNvPr id="9" name="Text 7"/>
          <p:cNvSpPr/>
          <p:nvPr/>
        </p:nvSpPr>
        <p:spPr>
          <a:xfrm>
            <a:off x="4622292" y="2267712"/>
            <a:ext cx="658368" cy="411480"/>
          </a:xfrm>
          <a:prstGeom prst="rect">
            <a:avLst/>
          </a:prstGeom>
          <a:noFill/>
          <a:ln/>
        </p:spPr>
        <p:txBody>
          <a:bodyPr wrap="square" lIns="0" tIns="0" rIns="0" bIns="0" rtlCol="0" anchor="t"/>
          <a:lstStyle/>
          <a:p>
            <a:pPr indent="0" marL="0">
              <a:buNone/>
            </a:pPr>
            <a:r>
              <a:rPr lang="en-US" sz="2400" b="1" dirty="0">
                <a:solidFill>
                  <a:srgbClr val="6543BD"/>
                </a:solidFill>
                <a:latin typeface="Arial" pitchFamily="34" charset="0"/>
                <a:ea typeface="Arial" pitchFamily="34" charset="-122"/>
                <a:cs typeface="Arial" pitchFamily="34" charset="-120"/>
              </a:rPr>
              <a:t>02</a:t>
            </a:r>
            <a:endParaRPr lang="en-US" sz="2400" dirty="0"/>
          </a:p>
        </p:txBody>
      </p:sp>
      <p:sp>
        <p:nvSpPr>
          <p:cNvPr id="10" name="Text 8"/>
          <p:cNvSpPr/>
          <p:nvPr/>
        </p:nvSpPr>
        <p:spPr>
          <a:xfrm>
            <a:off x="4622292" y="2880360"/>
            <a:ext cx="2953512" cy="722376"/>
          </a:xfrm>
          <a:prstGeom prst="rect">
            <a:avLst/>
          </a:prstGeom>
          <a:noFill/>
          <a:ln/>
        </p:spPr>
        <p:txBody>
          <a:bodyPr wrap="square" lIns="0" tIns="0" rIns="0" bIns="0" rtlCol="0" anchor="t"/>
          <a:lstStyle/>
          <a:p>
            <a:pPr indent="0" marL="0">
              <a:buNone/>
            </a:pPr>
            <a:r>
              <a:rPr lang="en-US" sz="2200" b="1" dirty="0">
                <a:solidFill>
                  <a:srgbClr val="27323A"/>
                </a:solidFill>
                <a:latin typeface="Arial" pitchFamily="34" charset="0"/>
                <a:ea typeface="Arial" pitchFamily="34" charset="-122"/>
                <a:cs typeface="Arial" pitchFamily="34" charset="-120"/>
              </a:rPr>
              <a:t>Trazabilidad</a:t>
            </a:r>
            <a:endParaRPr lang="en-US" sz="2200" dirty="0"/>
          </a:p>
        </p:txBody>
      </p:sp>
      <p:sp>
        <p:nvSpPr>
          <p:cNvPr id="11" name="Text 9"/>
          <p:cNvSpPr/>
          <p:nvPr/>
        </p:nvSpPr>
        <p:spPr>
          <a:xfrm>
            <a:off x="4622292" y="3785616"/>
            <a:ext cx="2953512" cy="1261872"/>
          </a:xfrm>
          <a:prstGeom prst="rect">
            <a:avLst/>
          </a:prstGeom>
          <a:noFill/>
          <a:ln/>
        </p:spPr>
        <p:txBody>
          <a:bodyPr wrap="square" lIns="0" tIns="0" rIns="0" bIns="0" rtlCol="0" anchor="t"/>
          <a:lstStyle/>
          <a:p>
            <a:pPr indent="0" marL="0">
              <a:buNone/>
            </a:pPr>
            <a:r>
              <a:rPr lang="en-US" sz="1900" dirty="0">
                <a:solidFill>
                  <a:srgbClr val="555F69"/>
                </a:solidFill>
                <a:latin typeface="Arial" pitchFamily="34" charset="0"/>
                <a:ea typeface="Arial" pitchFamily="34" charset="-122"/>
                <a:cs typeface="Arial" pitchFamily="34" charset="-120"/>
              </a:rPr>
              <a:t>Revisar en Git qué configuración cambió y quién propuso el cambio.</a:t>
            </a:r>
            <a:endParaRPr lang="en-US" sz="1900" dirty="0"/>
          </a:p>
        </p:txBody>
      </p:sp>
      <p:sp>
        <p:nvSpPr>
          <p:cNvPr id="12" name="Text 10"/>
          <p:cNvSpPr/>
          <p:nvPr/>
        </p:nvSpPr>
        <p:spPr>
          <a:xfrm>
            <a:off x="8348472" y="2267712"/>
            <a:ext cx="658368" cy="411480"/>
          </a:xfrm>
          <a:prstGeom prst="rect">
            <a:avLst/>
          </a:prstGeom>
          <a:noFill/>
          <a:ln/>
        </p:spPr>
        <p:txBody>
          <a:bodyPr wrap="square" lIns="0" tIns="0" rIns="0" bIns="0" rtlCol="0" anchor="t"/>
          <a:lstStyle/>
          <a:p>
            <a:pPr indent="0" marL="0">
              <a:buNone/>
            </a:pPr>
            <a:r>
              <a:rPr lang="en-US" sz="2400" b="1" dirty="0">
                <a:solidFill>
                  <a:srgbClr val="6543BD"/>
                </a:solidFill>
                <a:latin typeface="Arial" pitchFamily="34" charset="0"/>
                <a:ea typeface="Arial" pitchFamily="34" charset="-122"/>
                <a:cs typeface="Arial" pitchFamily="34" charset="-120"/>
              </a:rPr>
              <a:t>03</a:t>
            </a:r>
            <a:endParaRPr lang="en-US" sz="2400" dirty="0"/>
          </a:p>
        </p:txBody>
      </p:sp>
      <p:sp>
        <p:nvSpPr>
          <p:cNvPr id="13" name="Text 11"/>
          <p:cNvSpPr/>
          <p:nvPr/>
        </p:nvSpPr>
        <p:spPr>
          <a:xfrm>
            <a:off x="8348472" y="2880360"/>
            <a:ext cx="2953512" cy="722376"/>
          </a:xfrm>
          <a:prstGeom prst="rect">
            <a:avLst/>
          </a:prstGeom>
          <a:noFill/>
          <a:ln/>
        </p:spPr>
        <p:txBody>
          <a:bodyPr wrap="square" lIns="0" tIns="0" rIns="0" bIns="0" rtlCol="0" anchor="t"/>
          <a:lstStyle/>
          <a:p>
            <a:pPr indent="0" marL="0">
              <a:buNone/>
            </a:pPr>
            <a:r>
              <a:rPr lang="en-US" sz="2200" b="1" dirty="0">
                <a:solidFill>
                  <a:srgbClr val="27323A"/>
                </a:solidFill>
                <a:latin typeface="Arial" pitchFamily="34" charset="0"/>
                <a:ea typeface="Arial" pitchFamily="34" charset="-122"/>
                <a:cs typeface="Arial" pitchFamily="34" charset="-120"/>
              </a:rPr>
              <a:t>Menos tareas manuales</a:t>
            </a:r>
            <a:endParaRPr lang="en-US" sz="2200" dirty="0"/>
          </a:p>
        </p:txBody>
      </p:sp>
      <p:sp>
        <p:nvSpPr>
          <p:cNvPr id="14" name="Text 12"/>
          <p:cNvSpPr/>
          <p:nvPr/>
        </p:nvSpPr>
        <p:spPr>
          <a:xfrm>
            <a:off x="8348472" y="3785616"/>
            <a:ext cx="2953512" cy="1261872"/>
          </a:xfrm>
          <a:prstGeom prst="rect">
            <a:avLst/>
          </a:prstGeom>
          <a:noFill/>
          <a:ln/>
        </p:spPr>
        <p:txBody>
          <a:bodyPr wrap="square" lIns="0" tIns="0" rIns="0" bIns="0" rtlCol="0" anchor="t"/>
          <a:lstStyle/>
          <a:p>
            <a:pPr indent="0" marL="0">
              <a:buNone/>
            </a:pPr>
            <a:r>
              <a:rPr lang="en-US" sz="1900" dirty="0">
                <a:solidFill>
                  <a:srgbClr val="555F69"/>
                </a:solidFill>
                <a:latin typeface="Arial" pitchFamily="34" charset="0"/>
                <a:ea typeface="Arial" pitchFamily="34" charset="-122"/>
                <a:cs typeface="Arial" pitchFamily="34" charset="-120"/>
              </a:rPr>
              <a:t>Automatizar altas, modificaciones y bajas de recursos.</a:t>
            </a:r>
            <a:endParaRPr lang="en-US" sz="1900" dirty="0"/>
          </a:p>
        </p:txBody>
      </p:sp>
      <p:sp>
        <p:nvSpPr>
          <p:cNvPr id="15" name="Text 13"/>
          <p:cNvSpPr/>
          <p:nvPr/>
        </p:nvSpPr>
        <p:spPr>
          <a:xfrm>
            <a:off x="667512" y="5449824"/>
            <a:ext cx="2926080" cy="365760"/>
          </a:xfrm>
          <a:prstGeom prst="rect">
            <a:avLst/>
          </a:prstGeom>
          <a:noFill/>
          <a:ln/>
        </p:spPr>
        <p:txBody>
          <a:bodyPr wrap="square" lIns="0" tIns="0" rIns="0" bIns="0" rtlCol="0" anchor="t"/>
          <a:lstStyle/>
          <a:p>
            <a:pPr indent="0" marL="0">
              <a:buNone/>
            </a:pPr>
            <a:r>
              <a:rPr lang="en-US" sz="1800" b="1" dirty="0">
                <a:solidFill>
                  <a:srgbClr val="27323A"/>
                </a:solidFill>
                <a:latin typeface="Arial" pitchFamily="34" charset="0"/>
                <a:ea typeface="Arial" pitchFamily="34" charset="-122"/>
                <a:cs typeface="Arial" pitchFamily="34" charset="-120"/>
              </a:rPr>
              <a:t>Escenarios habituales</a:t>
            </a:r>
            <a:endParaRPr lang="en-US" sz="1800" dirty="0"/>
          </a:p>
        </p:txBody>
      </p:sp>
      <p:sp>
        <p:nvSpPr>
          <p:cNvPr id="16" name="Text 14"/>
          <p:cNvSpPr/>
          <p:nvPr/>
        </p:nvSpPr>
        <p:spPr>
          <a:xfrm>
            <a:off x="3840480" y="5449824"/>
            <a:ext cx="7498080" cy="594360"/>
          </a:xfrm>
          <a:prstGeom prst="rect">
            <a:avLst/>
          </a:prstGeom>
          <a:noFill/>
          <a:ln/>
        </p:spPr>
        <p:txBody>
          <a:bodyPr wrap="square" lIns="0" tIns="0" rIns="0" bIns="0" rtlCol="0" anchor="t"/>
          <a:lstStyle/>
          <a:p>
            <a:pPr indent="0" marL="0">
              <a:buNone/>
            </a:pPr>
            <a:r>
              <a:rPr lang="en-US" sz="1800" dirty="0">
                <a:solidFill>
                  <a:srgbClr val="555F69"/>
                </a:solidFill>
                <a:latin typeface="Arial" pitchFamily="34" charset="0"/>
                <a:ea typeface="Arial" pitchFamily="34" charset="-122"/>
                <a:cs typeface="Arial" pitchFamily="34" charset="-120"/>
              </a:rPr>
              <a:t>Ambientes temporales, nube, redes, servidores y recursos Docker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Clasificación y papel en el despliegue</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Su función principal es aprovisionar y administrar recursos.</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Clasificación</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05 / 21</a:t>
            </a:r>
            <a:endParaRPr lang="en-US" sz="1050" dirty="0"/>
          </a:p>
        </p:txBody>
      </p:sp>
      <p:sp>
        <p:nvSpPr>
          <p:cNvPr id="6" name="Text 4"/>
          <p:cNvSpPr/>
          <p:nvPr/>
        </p:nvSpPr>
        <p:spPr>
          <a:xfrm>
            <a:off x="667512" y="2267712"/>
            <a:ext cx="4754880" cy="1463040"/>
          </a:xfrm>
          <a:prstGeom prst="rect">
            <a:avLst/>
          </a:prstGeom>
          <a:noFill/>
          <a:ln/>
        </p:spPr>
        <p:txBody>
          <a:bodyPr wrap="square" lIns="0" tIns="0" rIns="0" bIns="0" rtlCol="0" anchor="t"/>
          <a:lstStyle/>
          <a:p>
            <a:pPr indent="0" marL="0">
              <a:buNone/>
            </a:pPr>
            <a:r>
              <a:rPr lang="en-US" sz="3800" b="1" dirty="0">
                <a:solidFill>
                  <a:srgbClr val="6543BD"/>
                </a:solidFill>
                <a:latin typeface="Arial" pitchFamily="34" charset="0"/>
                <a:ea typeface="Arial" pitchFamily="34" charset="-122"/>
                <a:cs typeface="Arial" pitchFamily="34" charset="-120"/>
              </a:rPr>
              <a:t>Infrastructure</a:t>
            </a:r>
            <a:endParaRPr lang="en-US" sz="3800" dirty="0"/>
          </a:p>
          <a:p>
            <a:pPr indent="0" marL="0">
              <a:buNone/>
            </a:pPr>
            <a:r>
              <a:rPr lang="en-US" sz="3800" b="1" dirty="0">
                <a:solidFill>
                  <a:srgbClr val="6543BD"/>
                </a:solidFill>
                <a:latin typeface="Arial" pitchFamily="34" charset="0"/>
                <a:ea typeface="Arial" pitchFamily="34" charset="-122"/>
                <a:cs typeface="Arial" pitchFamily="34" charset="-120"/>
              </a:rPr>
              <a:t>as Code</a:t>
            </a:r>
            <a:endParaRPr lang="en-US" sz="3800" dirty="0"/>
          </a:p>
        </p:txBody>
      </p:sp>
      <p:sp>
        <p:nvSpPr>
          <p:cNvPr id="7" name="Text 5"/>
          <p:cNvSpPr/>
          <p:nvPr/>
        </p:nvSpPr>
        <p:spPr>
          <a:xfrm>
            <a:off x="694944" y="3977640"/>
            <a:ext cx="4846320" cy="502920"/>
          </a:xfrm>
          <a:prstGeom prst="rect">
            <a:avLst/>
          </a:prstGeom>
          <a:noFill/>
          <a:ln/>
        </p:spPr>
        <p:txBody>
          <a:bodyPr wrap="square" lIns="0" tIns="0" rIns="0" bIns="0" rtlCol="0" anchor="t"/>
          <a:lstStyle/>
          <a:p>
            <a:pPr indent="0" marL="0">
              <a:buNone/>
            </a:pPr>
            <a:r>
              <a:rPr lang="en-US" sz="2600" b="1" dirty="0">
                <a:solidFill>
                  <a:srgbClr val="27323A"/>
                </a:solidFill>
                <a:latin typeface="Arial" pitchFamily="34" charset="0"/>
                <a:ea typeface="Arial" pitchFamily="34" charset="-122"/>
                <a:cs typeface="Arial" pitchFamily="34" charset="-120"/>
              </a:rPr>
              <a:t>Aprovisionamiento</a:t>
            </a:r>
            <a:endParaRPr lang="en-US" sz="2600" dirty="0"/>
          </a:p>
        </p:txBody>
      </p:sp>
      <p:sp>
        <p:nvSpPr>
          <p:cNvPr id="8" name="Text 6"/>
          <p:cNvSpPr/>
          <p:nvPr/>
        </p:nvSpPr>
        <p:spPr>
          <a:xfrm>
            <a:off x="694944" y="4709160"/>
            <a:ext cx="4800600" cy="822960"/>
          </a:xfrm>
          <a:prstGeom prst="rect">
            <a:avLst/>
          </a:prstGeom>
          <a:noFill/>
          <a:ln/>
        </p:spPr>
        <p:txBody>
          <a:bodyPr wrap="square" lIns="0" tIns="0" rIns="0" bIns="0" rtlCol="0" anchor="t"/>
          <a:lstStyle/>
          <a:p>
            <a:pPr indent="0" marL="0">
              <a:buNone/>
            </a:pPr>
            <a:r>
              <a:rPr lang="en-US" sz="2000" dirty="0">
                <a:solidFill>
                  <a:srgbClr val="555F69"/>
                </a:solidFill>
                <a:latin typeface="Arial" pitchFamily="34" charset="0"/>
                <a:ea typeface="Arial" pitchFamily="34" charset="-122"/>
                <a:cs typeface="Arial" pitchFamily="34" charset="-120"/>
              </a:rPr>
              <a:t>Crea, modifica y elimina</a:t>
            </a:r>
            <a:endParaRPr lang="en-US" sz="2000" dirty="0"/>
          </a:p>
          <a:p>
            <a:pPr indent="0" marL="0">
              <a:buNone/>
            </a:pPr>
            <a:r>
              <a:rPr lang="en-US" sz="2000" dirty="0">
                <a:solidFill>
                  <a:srgbClr val="555F69"/>
                </a:solidFill>
                <a:latin typeface="Arial" pitchFamily="34" charset="0"/>
                <a:ea typeface="Arial" pitchFamily="34" charset="-122"/>
                <a:cs typeface="Arial" pitchFamily="34" charset="-120"/>
              </a:rPr>
              <a:t>infraestructura declarada.</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16168" y="2212848"/>
          <a:ext cx="5641848" cy="914400"/>
        </p:xfrm>
        <a:graphic>
          <a:graphicData uri="http://schemas.openxmlformats.org/drawingml/2006/table">
            <a:tbl>
              <a:tblPr/>
              <a:tblGrid>
                <a:gridCol w="1490472"/>
                <a:gridCol w="4151376"/>
              </a:tblGrid>
              <a:tr h="813816">
                <a:tc>
                  <a:txBody>
                    <a:bodyPr/>
                    <a:lstStyle/>
                    <a:p>
                      <a:pPr indent="0" marL="0">
                        <a:buNone/>
                      </a:pPr>
                      <a:r>
                        <a:rPr lang="en-US" sz="1800" b="1" dirty="0">
                          <a:solidFill>
                            <a:srgbClr val="27323A"/>
                          </a:solidFill>
                          <a:latin typeface="Arial" pitchFamily="34" charset="0"/>
                          <a:ea typeface="Arial" pitchFamily="34" charset="-122"/>
                          <a:cs typeface="Arial" pitchFamily="34" charset="-120"/>
                        </a:rPr>
                        <a:t>Terraform</a:t>
                      </a:r>
                      <a:endParaRPr lang="en-US" sz="18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800" dirty="0">
                          <a:solidFill>
                            <a:srgbClr val="555F69"/>
                          </a:solidFill>
                          <a:latin typeface="Arial" pitchFamily="34" charset="0"/>
                          <a:ea typeface="Arial" pitchFamily="34" charset="-122"/>
                          <a:cs typeface="Arial" pitchFamily="34" charset="-120"/>
                        </a:rPr>
                        <a:t>Gestiona el ciclo de vida de recursos.</a:t>
                      </a:r>
                      <a:endParaRPr lang="en-US" sz="18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813816">
                <a:tc>
                  <a:txBody>
                    <a:bodyPr/>
                    <a:lstStyle/>
                    <a:p>
                      <a:pPr indent="0" marL="0">
                        <a:buNone/>
                      </a:pPr>
                      <a:r>
                        <a:rPr lang="en-US" sz="1800" b="1" dirty="0">
                          <a:solidFill>
                            <a:srgbClr val="27323A"/>
                          </a:solidFill>
                          <a:latin typeface="Arial" pitchFamily="34" charset="0"/>
                          <a:ea typeface="Arial" pitchFamily="34" charset="-122"/>
                          <a:cs typeface="Arial" pitchFamily="34" charset="-120"/>
                        </a:rPr>
                        <a:t>Jenkins</a:t>
                      </a:r>
                      <a:endParaRPr lang="en-US" sz="18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800" dirty="0">
                          <a:solidFill>
                            <a:srgbClr val="555F69"/>
                          </a:solidFill>
                          <a:latin typeface="Arial" pitchFamily="34" charset="0"/>
                          <a:ea typeface="Arial" pitchFamily="34" charset="-122"/>
                          <a:cs typeface="Arial" pitchFamily="34" charset="-120"/>
                        </a:rPr>
                        <a:t>Coordina las etapas de un pipeline.</a:t>
                      </a:r>
                      <a:endParaRPr lang="en-US" sz="18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r h="813816">
                <a:tc>
                  <a:txBody>
                    <a:bodyPr/>
                    <a:lstStyle/>
                    <a:p>
                      <a:pPr indent="0" marL="0">
                        <a:buNone/>
                      </a:pPr>
                      <a:r>
                        <a:rPr lang="en-US" sz="1800" b="1" dirty="0">
                          <a:solidFill>
                            <a:srgbClr val="27323A"/>
                          </a:solidFill>
                          <a:latin typeface="Arial" pitchFamily="34" charset="0"/>
                          <a:ea typeface="Arial" pitchFamily="34" charset="-122"/>
                          <a:cs typeface="Arial" pitchFamily="34" charset="-120"/>
                        </a:rPr>
                        <a:t>Ansible</a:t>
                      </a:r>
                      <a:endParaRPr lang="en-US" sz="18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800" dirty="0">
                          <a:solidFill>
                            <a:srgbClr val="555F69"/>
                          </a:solidFill>
                          <a:latin typeface="Arial" pitchFamily="34" charset="0"/>
                          <a:ea typeface="Arial" pitchFamily="34" charset="-122"/>
                          <a:cs typeface="Arial" pitchFamily="34" charset="-120"/>
                        </a:rPr>
                        <a:t>Configura y automatiza sistemas.</a:t>
                      </a:r>
                      <a:endParaRPr lang="en-US" sz="18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813816">
                <a:tc>
                  <a:txBody>
                    <a:bodyPr/>
                    <a:lstStyle/>
                    <a:p>
                      <a:pPr indent="0" marL="0">
                        <a:buNone/>
                      </a:pPr>
                      <a:r>
                        <a:rPr lang="en-US" sz="1800" b="1" dirty="0">
                          <a:solidFill>
                            <a:srgbClr val="27323A"/>
                          </a:solidFill>
                          <a:latin typeface="Arial" pitchFamily="34" charset="0"/>
                          <a:ea typeface="Arial" pitchFamily="34" charset="-122"/>
                          <a:cs typeface="Arial" pitchFamily="34" charset="-120"/>
                        </a:rPr>
                        <a:t>Docker</a:t>
                      </a:r>
                      <a:endParaRPr lang="en-US" sz="18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800" dirty="0">
                          <a:solidFill>
                            <a:srgbClr val="555F69"/>
                          </a:solidFill>
                          <a:latin typeface="Arial" pitchFamily="34" charset="0"/>
                          <a:ea typeface="Arial" pitchFamily="34" charset="-122"/>
                          <a:cs typeface="Arial" pitchFamily="34" charset="-120"/>
                        </a:rPr>
                        <a:t>Ejecuta y administra contenedores.</a:t>
                      </a:r>
                      <a:endParaRPr lang="en-US" sz="18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Arquitectura y funcionamiento</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Terraform no necesita instalar un agente propio permanente en cada recurso.</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Arquitectura</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06 / 21</a:t>
            </a:r>
            <a:endParaRPr lang="en-US" sz="1050" dirty="0"/>
          </a:p>
        </p:txBody>
      </p:sp>
      <p:sp>
        <p:nvSpPr>
          <p:cNvPr id="6" name="Shape 4"/>
          <p:cNvSpPr/>
          <p:nvPr/>
        </p:nvSpPr>
        <p:spPr>
          <a:xfrm>
            <a:off x="658368" y="2395728"/>
            <a:ext cx="2194560" cy="1691640"/>
          </a:xfrm>
          <a:prstGeom prst="rect">
            <a:avLst/>
          </a:prstGeom>
          <a:solidFill>
            <a:srgbClr val="F4F5F7"/>
          </a:solidFill>
          <a:ln w="8890">
            <a:solidFill>
              <a:srgbClr val="DDE1E6"/>
            </a:solidFill>
            <a:prstDash val="solid"/>
          </a:ln>
        </p:spPr>
      </p:sp>
      <p:sp>
        <p:nvSpPr>
          <p:cNvPr id="7" name="Text 5"/>
          <p:cNvSpPr/>
          <p:nvPr/>
        </p:nvSpPr>
        <p:spPr>
          <a:xfrm>
            <a:off x="822960" y="2596896"/>
            <a:ext cx="1865376" cy="530352"/>
          </a:xfrm>
          <a:prstGeom prst="rect">
            <a:avLst/>
          </a:prstGeom>
          <a:noFill/>
          <a:ln/>
        </p:spPr>
        <p:txBody>
          <a:bodyPr wrap="square" lIns="0" tIns="0" rIns="0" bIns="0" rtlCol="0" anchor="t"/>
          <a:lstStyle/>
          <a:p>
            <a:pPr indent="0" marL="0">
              <a:buNone/>
            </a:pPr>
            <a:r>
              <a:rPr lang="en-US" sz="1900" b="1" dirty="0">
                <a:solidFill>
                  <a:srgbClr val="27323A"/>
                </a:solidFill>
                <a:latin typeface="Arial" pitchFamily="34" charset="0"/>
                <a:ea typeface="Arial" pitchFamily="34" charset="-122"/>
                <a:cs typeface="Arial" pitchFamily="34" charset="-120"/>
              </a:rPr>
              <a:t>Archivos .tf</a:t>
            </a:r>
            <a:endParaRPr lang="en-US" sz="1900" dirty="0"/>
          </a:p>
        </p:txBody>
      </p:sp>
      <p:sp>
        <p:nvSpPr>
          <p:cNvPr id="8" name="Text 6"/>
          <p:cNvSpPr/>
          <p:nvPr/>
        </p:nvSpPr>
        <p:spPr>
          <a:xfrm>
            <a:off x="822960" y="3090672"/>
            <a:ext cx="1865376" cy="91440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Estado deseado</a:t>
            </a:r>
            <a:endParaRPr lang="en-US" sz="1550" dirty="0"/>
          </a:p>
          <a:p>
            <a:pPr indent="0" marL="0">
              <a:buNone/>
            </a:pPr>
            <a:r>
              <a:rPr lang="en-US" sz="1550" dirty="0">
                <a:solidFill>
                  <a:srgbClr val="555F69"/>
                </a:solidFill>
                <a:latin typeface="Arial" pitchFamily="34" charset="0"/>
                <a:ea typeface="Arial" pitchFamily="34" charset="-122"/>
                <a:cs typeface="Arial" pitchFamily="34" charset="-120"/>
              </a:rPr>
              <a:t>en HCL</a:t>
            </a:r>
            <a:endParaRPr lang="en-US" sz="1550" dirty="0"/>
          </a:p>
        </p:txBody>
      </p:sp>
      <p:sp>
        <p:nvSpPr>
          <p:cNvPr id="9" name="Shape 7"/>
          <p:cNvSpPr/>
          <p:nvPr/>
        </p:nvSpPr>
        <p:spPr>
          <a:xfrm>
            <a:off x="2898648" y="3255264"/>
            <a:ext cx="557784" cy="0"/>
          </a:xfrm>
          <a:prstGeom prst="line">
            <a:avLst/>
          </a:prstGeom>
          <a:noFill/>
          <a:ln w="13970">
            <a:solidFill>
              <a:srgbClr val="6543BD"/>
            </a:solidFill>
            <a:prstDash val="solid"/>
            <a:tailEnd type="triangle"/>
          </a:ln>
        </p:spPr>
      </p:sp>
      <p:sp>
        <p:nvSpPr>
          <p:cNvPr id="10" name="Shape 8"/>
          <p:cNvSpPr/>
          <p:nvPr/>
        </p:nvSpPr>
        <p:spPr>
          <a:xfrm>
            <a:off x="3547872" y="2395728"/>
            <a:ext cx="2194560" cy="1691640"/>
          </a:xfrm>
          <a:prstGeom prst="rect">
            <a:avLst/>
          </a:prstGeom>
          <a:solidFill>
            <a:srgbClr val="F0ECF8"/>
          </a:solidFill>
          <a:ln w="8890">
            <a:solidFill>
              <a:srgbClr val="6543BD"/>
            </a:solidFill>
            <a:prstDash val="solid"/>
          </a:ln>
        </p:spPr>
      </p:sp>
      <p:sp>
        <p:nvSpPr>
          <p:cNvPr id="11" name="Text 9"/>
          <p:cNvSpPr/>
          <p:nvPr/>
        </p:nvSpPr>
        <p:spPr>
          <a:xfrm>
            <a:off x="3712464" y="2596896"/>
            <a:ext cx="1865376" cy="530352"/>
          </a:xfrm>
          <a:prstGeom prst="rect">
            <a:avLst/>
          </a:prstGeom>
          <a:noFill/>
          <a:ln/>
        </p:spPr>
        <p:txBody>
          <a:bodyPr wrap="square" lIns="0" tIns="0" rIns="0" bIns="0" rtlCol="0" anchor="t"/>
          <a:lstStyle/>
          <a:p>
            <a:pPr indent="0" marL="0">
              <a:buNone/>
            </a:pPr>
            <a:r>
              <a:rPr lang="en-US" sz="1900" b="1" dirty="0">
                <a:solidFill>
                  <a:srgbClr val="6543BD"/>
                </a:solidFill>
                <a:latin typeface="Arial" pitchFamily="34" charset="0"/>
                <a:ea typeface="Arial" pitchFamily="34" charset="-122"/>
                <a:cs typeface="Arial" pitchFamily="34" charset="-120"/>
              </a:rPr>
              <a:t>Terraform CLI</a:t>
            </a:r>
            <a:endParaRPr lang="en-US" sz="1900" dirty="0"/>
          </a:p>
        </p:txBody>
      </p:sp>
      <p:sp>
        <p:nvSpPr>
          <p:cNvPr id="12" name="Text 10"/>
          <p:cNvSpPr/>
          <p:nvPr/>
        </p:nvSpPr>
        <p:spPr>
          <a:xfrm>
            <a:off x="3712464" y="3090672"/>
            <a:ext cx="1865376" cy="91440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Evalúa dependencias</a:t>
            </a:r>
            <a:endParaRPr lang="en-US" sz="1550" dirty="0"/>
          </a:p>
          <a:p>
            <a:pPr indent="0" marL="0">
              <a:buNone/>
            </a:pPr>
            <a:r>
              <a:rPr lang="en-US" sz="1550" dirty="0">
                <a:solidFill>
                  <a:srgbClr val="555F69"/>
                </a:solidFill>
                <a:latin typeface="Arial" pitchFamily="34" charset="0"/>
                <a:ea typeface="Arial" pitchFamily="34" charset="-122"/>
                <a:cs typeface="Arial" pitchFamily="34" charset="-120"/>
              </a:rPr>
              <a:t>y construye el plan</a:t>
            </a:r>
            <a:endParaRPr lang="en-US" sz="1550" dirty="0"/>
          </a:p>
        </p:txBody>
      </p:sp>
      <p:sp>
        <p:nvSpPr>
          <p:cNvPr id="13" name="Shape 11"/>
          <p:cNvSpPr/>
          <p:nvPr/>
        </p:nvSpPr>
        <p:spPr>
          <a:xfrm>
            <a:off x="5788152" y="3255264"/>
            <a:ext cx="557784" cy="0"/>
          </a:xfrm>
          <a:prstGeom prst="line">
            <a:avLst/>
          </a:prstGeom>
          <a:noFill/>
          <a:ln w="13970">
            <a:solidFill>
              <a:srgbClr val="6543BD"/>
            </a:solidFill>
            <a:prstDash val="solid"/>
            <a:tailEnd type="triangle"/>
          </a:ln>
        </p:spPr>
      </p:sp>
      <p:sp>
        <p:nvSpPr>
          <p:cNvPr id="14" name="Shape 12"/>
          <p:cNvSpPr/>
          <p:nvPr/>
        </p:nvSpPr>
        <p:spPr>
          <a:xfrm>
            <a:off x="6437376" y="2395728"/>
            <a:ext cx="2194560" cy="1691640"/>
          </a:xfrm>
          <a:prstGeom prst="rect">
            <a:avLst/>
          </a:prstGeom>
          <a:solidFill>
            <a:srgbClr val="F4F5F7"/>
          </a:solidFill>
          <a:ln w="8890">
            <a:solidFill>
              <a:srgbClr val="DDE1E6"/>
            </a:solidFill>
            <a:prstDash val="solid"/>
          </a:ln>
        </p:spPr>
      </p:sp>
      <p:sp>
        <p:nvSpPr>
          <p:cNvPr id="15" name="Text 13"/>
          <p:cNvSpPr/>
          <p:nvPr/>
        </p:nvSpPr>
        <p:spPr>
          <a:xfrm>
            <a:off x="6601968" y="2596896"/>
            <a:ext cx="1865376" cy="530352"/>
          </a:xfrm>
          <a:prstGeom prst="rect">
            <a:avLst/>
          </a:prstGeom>
          <a:noFill/>
          <a:ln/>
        </p:spPr>
        <p:txBody>
          <a:bodyPr wrap="square" lIns="0" tIns="0" rIns="0" bIns="0" rtlCol="0" anchor="t"/>
          <a:lstStyle/>
          <a:p>
            <a:pPr indent="0" marL="0">
              <a:buNone/>
            </a:pPr>
            <a:r>
              <a:rPr lang="en-US" sz="1900" b="1" dirty="0">
                <a:solidFill>
                  <a:srgbClr val="27323A"/>
                </a:solidFill>
                <a:latin typeface="Arial" pitchFamily="34" charset="0"/>
                <a:ea typeface="Arial" pitchFamily="34" charset="-122"/>
                <a:cs typeface="Arial" pitchFamily="34" charset="-120"/>
              </a:rPr>
              <a:t>Providers</a:t>
            </a:r>
            <a:endParaRPr lang="en-US" sz="1900" dirty="0"/>
          </a:p>
        </p:txBody>
      </p:sp>
      <p:sp>
        <p:nvSpPr>
          <p:cNvPr id="16" name="Text 14"/>
          <p:cNvSpPr/>
          <p:nvPr/>
        </p:nvSpPr>
        <p:spPr>
          <a:xfrm>
            <a:off x="6601968" y="3090672"/>
            <a:ext cx="1865376" cy="91440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Plugins que llaman</a:t>
            </a:r>
            <a:endParaRPr lang="en-US" sz="1550" dirty="0"/>
          </a:p>
          <a:p>
            <a:pPr indent="0" marL="0">
              <a:buNone/>
            </a:pPr>
            <a:r>
              <a:rPr lang="en-US" sz="1550" dirty="0">
                <a:solidFill>
                  <a:srgbClr val="555F69"/>
                </a:solidFill>
                <a:latin typeface="Arial" pitchFamily="34" charset="0"/>
                <a:ea typeface="Arial" pitchFamily="34" charset="-122"/>
                <a:cs typeface="Arial" pitchFamily="34" charset="-120"/>
              </a:rPr>
              <a:t>a las APIs</a:t>
            </a:r>
            <a:endParaRPr lang="en-US" sz="1550" dirty="0"/>
          </a:p>
        </p:txBody>
      </p:sp>
      <p:sp>
        <p:nvSpPr>
          <p:cNvPr id="17" name="Shape 15"/>
          <p:cNvSpPr/>
          <p:nvPr/>
        </p:nvSpPr>
        <p:spPr>
          <a:xfrm>
            <a:off x="8677656" y="3255264"/>
            <a:ext cx="557784" cy="0"/>
          </a:xfrm>
          <a:prstGeom prst="line">
            <a:avLst/>
          </a:prstGeom>
          <a:noFill/>
          <a:ln w="13970">
            <a:solidFill>
              <a:srgbClr val="6543BD"/>
            </a:solidFill>
            <a:prstDash val="solid"/>
            <a:tailEnd type="triangle"/>
          </a:ln>
        </p:spPr>
      </p:sp>
      <p:sp>
        <p:nvSpPr>
          <p:cNvPr id="18" name="Shape 16"/>
          <p:cNvSpPr/>
          <p:nvPr/>
        </p:nvSpPr>
        <p:spPr>
          <a:xfrm>
            <a:off x="9326880" y="2395728"/>
            <a:ext cx="2194560" cy="1691640"/>
          </a:xfrm>
          <a:prstGeom prst="rect">
            <a:avLst/>
          </a:prstGeom>
          <a:solidFill>
            <a:srgbClr val="F4F5F7"/>
          </a:solidFill>
          <a:ln w="8890">
            <a:solidFill>
              <a:srgbClr val="DDE1E6"/>
            </a:solidFill>
            <a:prstDash val="solid"/>
          </a:ln>
        </p:spPr>
      </p:sp>
      <p:sp>
        <p:nvSpPr>
          <p:cNvPr id="19" name="Text 17"/>
          <p:cNvSpPr/>
          <p:nvPr/>
        </p:nvSpPr>
        <p:spPr>
          <a:xfrm>
            <a:off x="9491472" y="2596896"/>
            <a:ext cx="1865376" cy="530352"/>
          </a:xfrm>
          <a:prstGeom prst="rect">
            <a:avLst/>
          </a:prstGeom>
          <a:noFill/>
          <a:ln/>
        </p:spPr>
        <p:txBody>
          <a:bodyPr wrap="square" lIns="0" tIns="0" rIns="0" bIns="0" rtlCol="0" anchor="t"/>
          <a:lstStyle/>
          <a:p>
            <a:pPr indent="0" marL="0">
              <a:buNone/>
            </a:pPr>
            <a:r>
              <a:rPr lang="en-US" sz="1900" b="1" dirty="0">
                <a:solidFill>
                  <a:srgbClr val="27323A"/>
                </a:solidFill>
                <a:latin typeface="Arial" pitchFamily="34" charset="0"/>
                <a:ea typeface="Arial" pitchFamily="34" charset="-122"/>
                <a:cs typeface="Arial" pitchFamily="34" charset="-120"/>
              </a:rPr>
              <a:t>Infraestructura</a:t>
            </a:r>
            <a:endParaRPr lang="en-US" sz="1900" dirty="0"/>
          </a:p>
        </p:txBody>
      </p:sp>
      <p:sp>
        <p:nvSpPr>
          <p:cNvPr id="20" name="Text 18"/>
          <p:cNvSpPr/>
          <p:nvPr/>
        </p:nvSpPr>
        <p:spPr>
          <a:xfrm>
            <a:off x="9491472" y="3090672"/>
            <a:ext cx="1865376" cy="91440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Docker, nube</a:t>
            </a:r>
            <a:endParaRPr lang="en-US" sz="1550" dirty="0"/>
          </a:p>
          <a:p>
            <a:pPr indent="0" marL="0">
              <a:buNone/>
            </a:pPr>
            <a:r>
              <a:rPr lang="en-US" sz="1550" dirty="0">
                <a:solidFill>
                  <a:srgbClr val="555F69"/>
                </a:solidFill>
                <a:latin typeface="Arial" pitchFamily="34" charset="0"/>
                <a:ea typeface="Arial" pitchFamily="34" charset="-122"/>
                <a:cs typeface="Arial" pitchFamily="34" charset="-120"/>
              </a:rPr>
              <a:t>y otros servicios</a:t>
            </a:r>
            <a:endParaRPr lang="en-US" sz="1550" dirty="0"/>
          </a:p>
        </p:txBody>
      </p:sp>
      <p:sp>
        <p:nvSpPr>
          <p:cNvPr id="21" name="Shape 19"/>
          <p:cNvSpPr/>
          <p:nvPr/>
        </p:nvSpPr>
        <p:spPr>
          <a:xfrm>
            <a:off x="4645152" y="4114800"/>
            <a:ext cx="0" cy="484632"/>
          </a:xfrm>
          <a:prstGeom prst="line">
            <a:avLst/>
          </a:prstGeom>
          <a:noFill/>
          <a:ln w="13970">
            <a:solidFill>
              <a:srgbClr val="6543BD"/>
            </a:solidFill>
            <a:prstDash val="solid"/>
            <a:tailEnd type="triangle"/>
          </a:ln>
        </p:spPr>
      </p:sp>
      <p:sp>
        <p:nvSpPr>
          <p:cNvPr id="22" name="Shape 20"/>
          <p:cNvSpPr/>
          <p:nvPr/>
        </p:nvSpPr>
        <p:spPr>
          <a:xfrm>
            <a:off x="3547872" y="4709160"/>
            <a:ext cx="5084064" cy="1042416"/>
          </a:xfrm>
          <a:prstGeom prst="rect">
            <a:avLst/>
          </a:prstGeom>
          <a:solidFill>
            <a:srgbClr val="F4F5F7"/>
          </a:solidFill>
          <a:ln w="8890">
            <a:solidFill>
              <a:srgbClr val="DDE1E6"/>
            </a:solidFill>
            <a:prstDash val="solid"/>
          </a:ln>
        </p:spPr>
      </p:sp>
      <p:sp>
        <p:nvSpPr>
          <p:cNvPr id="23" name="Text 21"/>
          <p:cNvSpPr/>
          <p:nvPr/>
        </p:nvSpPr>
        <p:spPr>
          <a:xfrm>
            <a:off x="3767328" y="4892040"/>
            <a:ext cx="4389120" cy="320040"/>
          </a:xfrm>
          <a:prstGeom prst="rect">
            <a:avLst/>
          </a:prstGeom>
          <a:noFill/>
          <a:ln/>
        </p:spPr>
        <p:txBody>
          <a:bodyPr wrap="square" lIns="0" tIns="0" rIns="0" bIns="0" rtlCol="0" anchor="t"/>
          <a:lstStyle/>
          <a:p>
            <a:pPr indent="0" marL="0">
              <a:buNone/>
            </a:pPr>
            <a:r>
              <a:rPr lang="en-US" sz="2000" b="1" dirty="0">
                <a:solidFill>
                  <a:srgbClr val="27323A"/>
                </a:solidFill>
                <a:latin typeface="Arial" pitchFamily="34" charset="0"/>
                <a:ea typeface="Arial" pitchFamily="34" charset="-122"/>
                <a:cs typeface="Arial" pitchFamily="34" charset="-120"/>
              </a:rPr>
              <a:t>State y backend</a:t>
            </a:r>
            <a:endParaRPr lang="en-US" sz="2000" dirty="0"/>
          </a:p>
        </p:txBody>
      </p:sp>
      <p:sp>
        <p:nvSpPr>
          <p:cNvPr id="24" name="Text 22"/>
          <p:cNvSpPr/>
          <p:nvPr/>
        </p:nvSpPr>
        <p:spPr>
          <a:xfrm>
            <a:off x="3767328" y="5321808"/>
            <a:ext cx="4617720" cy="36576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Vinculan configuración y recursos reales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Estado deseado y estado real</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Terraform compara la configuración, el state y los recursos consultados mediante APIs.</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Arquitectura</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07 / 21</a:t>
            </a:r>
            <a:endParaRPr lang="en-US" sz="1050" dirty="0"/>
          </a:p>
        </p:txBody>
      </p:sp>
      <p:sp>
        <p:nvSpPr>
          <p:cNvPr id="6" name="Text 4"/>
          <p:cNvSpPr/>
          <p:nvPr/>
        </p:nvSpPr>
        <p:spPr>
          <a:xfrm>
            <a:off x="676656" y="2057400"/>
            <a:ext cx="4389120" cy="365760"/>
          </a:xfrm>
          <a:prstGeom prst="rect">
            <a:avLst/>
          </a:prstGeom>
          <a:noFill/>
          <a:ln/>
        </p:spPr>
        <p:txBody>
          <a:bodyPr wrap="square" lIns="0" tIns="0" rIns="0" bIns="0" rtlCol="0" anchor="t"/>
          <a:lstStyle/>
          <a:p>
            <a:pPr indent="0" marL="0">
              <a:buNone/>
            </a:pPr>
            <a:r>
              <a:rPr lang="en-US" sz="2200" b="1" dirty="0">
                <a:solidFill>
                  <a:srgbClr val="27323A"/>
                </a:solidFill>
                <a:latin typeface="Arial" pitchFamily="34" charset="0"/>
                <a:ea typeface="Arial" pitchFamily="34" charset="-122"/>
                <a:cs typeface="Arial" pitchFamily="34" charset="-120"/>
              </a:rPr>
              <a:t>Configuración deseada</a:t>
            </a:r>
            <a:endParaRPr lang="en-US" sz="2200" dirty="0"/>
          </a:p>
        </p:txBody>
      </p:sp>
      <p:sp>
        <p:nvSpPr>
          <p:cNvPr id="7" name="Shape 5"/>
          <p:cNvSpPr/>
          <p:nvPr/>
        </p:nvSpPr>
        <p:spPr>
          <a:xfrm>
            <a:off x="667512" y="2724912"/>
            <a:ext cx="3840480" cy="1993392"/>
          </a:xfrm>
          <a:prstGeom prst="rect">
            <a:avLst/>
          </a:prstGeom>
          <a:solidFill>
            <a:srgbClr val="F4F5F7"/>
          </a:solidFill>
          <a:ln w="8890">
            <a:solidFill>
              <a:srgbClr val="F4F5F7"/>
            </a:solidFill>
            <a:prstDash val="solid"/>
          </a:ln>
        </p:spPr>
      </p:sp>
      <p:sp>
        <p:nvSpPr>
          <p:cNvPr id="8" name="Text 6"/>
          <p:cNvSpPr/>
          <p:nvPr/>
        </p:nvSpPr>
        <p:spPr>
          <a:xfrm>
            <a:off x="896112" y="2935224"/>
            <a:ext cx="3383280" cy="1572768"/>
          </a:xfrm>
          <a:prstGeom prst="rect">
            <a:avLst/>
          </a:prstGeom>
          <a:noFill/>
          <a:ln/>
        </p:spPr>
        <p:txBody>
          <a:bodyPr wrap="square" lIns="0" tIns="0" rIns="0" bIns="0" rtlCol="0" anchor="t"/>
          <a:lstStyle/>
          <a:p>
            <a:pPr indent="0" marL="0">
              <a:lnSpc>
                <a:spcPct val="102000"/>
              </a:lnSpc>
              <a:buNone/>
            </a:pPr>
            <a:r>
              <a:rPr lang="en-US" sz="1900" dirty="0">
                <a:solidFill>
                  <a:srgbClr val="27323A"/>
                </a:solidFill>
                <a:latin typeface="Courier New" pitchFamily="34" charset="0"/>
                <a:ea typeface="Courier New" pitchFamily="34" charset="-122"/>
                <a:cs typeface="Courier New" pitchFamily="34" charset="-120"/>
              </a:rPr>
              <a:t>ports {</a:t>
            </a:r>
            <a:endParaRPr lang="en-US" sz="1900" dirty="0"/>
          </a:p>
          <a:p>
            <a:pPr indent="0" marL="0">
              <a:lnSpc>
                <a:spcPct val="102000"/>
              </a:lnSpc>
              <a:buNone/>
            </a:pPr>
            <a:r>
              <a:rPr lang="en-US" sz="1900" dirty="0">
                <a:solidFill>
                  <a:srgbClr val="27323A"/>
                </a:solidFill>
                <a:latin typeface="Courier New" pitchFamily="34" charset="0"/>
                <a:ea typeface="Courier New" pitchFamily="34" charset="-122"/>
                <a:cs typeface="Courier New" pitchFamily="34" charset="-120"/>
              </a:rPr>
              <a:t>  internal = 80</a:t>
            </a:r>
            <a:endParaRPr lang="en-US" sz="1900" dirty="0"/>
          </a:p>
          <a:p>
            <a:pPr indent="0" marL="0">
              <a:lnSpc>
                <a:spcPct val="102000"/>
              </a:lnSpc>
              <a:buNone/>
            </a:pPr>
            <a:r>
              <a:rPr lang="en-US" sz="1900" dirty="0">
                <a:solidFill>
                  <a:srgbClr val="27323A"/>
                </a:solidFill>
                <a:latin typeface="Courier New" pitchFamily="34" charset="0"/>
                <a:ea typeface="Courier New" pitchFamily="34" charset="-122"/>
                <a:cs typeface="Courier New" pitchFamily="34" charset="-120"/>
              </a:rPr>
              <a:t>  external = 8080</a:t>
            </a:r>
            <a:endParaRPr lang="en-US" sz="1900" dirty="0"/>
          </a:p>
          <a:p>
            <a:pPr indent="0" marL="0">
              <a:lnSpc>
                <a:spcPct val="102000"/>
              </a:lnSpc>
              <a:buNone/>
            </a:pPr>
            <a:r>
              <a:rPr lang="en-US" sz="1900" dirty="0">
                <a:solidFill>
                  <a:srgbClr val="27323A"/>
                </a:solidFill>
                <a:latin typeface="Courier New" pitchFamily="34" charset="0"/>
                <a:ea typeface="Courier New" pitchFamily="34" charset="-122"/>
                <a:cs typeface="Courier New" pitchFamily="34" charset="-120"/>
              </a:rPr>
              <a:t>}</a:t>
            </a:r>
            <a:endParaRPr lang="en-US" sz="1900" dirty="0"/>
          </a:p>
        </p:txBody>
      </p:sp>
      <p:sp>
        <p:nvSpPr>
          <p:cNvPr id="9" name="Shape 7"/>
          <p:cNvSpPr/>
          <p:nvPr/>
        </p:nvSpPr>
        <p:spPr>
          <a:xfrm>
            <a:off x="5148072" y="2990088"/>
            <a:ext cx="2048256" cy="1353312"/>
          </a:xfrm>
          <a:prstGeom prst="rect">
            <a:avLst/>
          </a:prstGeom>
          <a:solidFill>
            <a:srgbClr val="F0ECF8"/>
          </a:solidFill>
          <a:ln w="8890">
            <a:solidFill>
              <a:srgbClr val="6543BD"/>
            </a:solidFill>
            <a:prstDash val="solid"/>
          </a:ln>
        </p:spPr>
      </p:sp>
      <p:sp>
        <p:nvSpPr>
          <p:cNvPr id="10" name="Text 8"/>
          <p:cNvSpPr/>
          <p:nvPr/>
        </p:nvSpPr>
        <p:spPr>
          <a:xfrm>
            <a:off x="5312664" y="3191256"/>
            <a:ext cx="1719072" cy="530352"/>
          </a:xfrm>
          <a:prstGeom prst="rect">
            <a:avLst/>
          </a:prstGeom>
          <a:noFill/>
          <a:ln/>
        </p:spPr>
        <p:txBody>
          <a:bodyPr wrap="square" lIns="0" tIns="0" rIns="0" bIns="0" rtlCol="0" anchor="t"/>
          <a:lstStyle/>
          <a:p>
            <a:pPr indent="0" marL="0">
              <a:buNone/>
            </a:pPr>
            <a:r>
              <a:rPr lang="en-US" sz="1750" b="1" dirty="0">
                <a:solidFill>
                  <a:srgbClr val="6543BD"/>
                </a:solidFill>
                <a:latin typeface="Arial" pitchFamily="34" charset="0"/>
                <a:ea typeface="Arial" pitchFamily="34" charset="-122"/>
                <a:cs typeface="Arial" pitchFamily="34" charset="-120"/>
              </a:rPr>
              <a:t>Plan</a:t>
            </a:r>
            <a:endParaRPr lang="en-US" sz="1750" dirty="0"/>
          </a:p>
        </p:txBody>
      </p:sp>
      <p:sp>
        <p:nvSpPr>
          <p:cNvPr id="11" name="Text 9"/>
          <p:cNvSpPr/>
          <p:nvPr/>
        </p:nvSpPr>
        <p:spPr>
          <a:xfrm>
            <a:off x="5312664" y="3685032"/>
            <a:ext cx="1719072" cy="576072"/>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Propone los cambios</a:t>
            </a:r>
            <a:endParaRPr lang="en-US" sz="1550" dirty="0"/>
          </a:p>
        </p:txBody>
      </p:sp>
      <p:sp>
        <p:nvSpPr>
          <p:cNvPr id="12" name="Shape 10"/>
          <p:cNvSpPr/>
          <p:nvPr/>
        </p:nvSpPr>
        <p:spPr>
          <a:xfrm>
            <a:off x="4562856" y="3675888"/>
            <a:ext cx="475488" cy="0"/>
          </a:xfrm>
          <a:prstGeom prst="line">
            <a:avLst/>
          </a:prstGeom>
          <a:noFill/>
          <a:ln w="13970">
            <a:solidFill>
              <a:srgbClr val="6543BD"/>
            </a:solidFill>
            <a:prstDash val="solid"/>
            <a:tailEnd type="triangle"/>
          </a:ln>
        </p:spPr>
      </p:sp>
      <p:sp>
        <p:nvSpPr>
          <p:cNvPr id="13" name="Shape 11"/>
          <p:cNvSpPr/>
          <p:nvPr/>
        </p:nvSpPr>
        <p:spPr>
          <a:xfrm>
            <a:off x="7278624" y="3675888"/>
            <a:ext cx="475488" cy="0"/>
          </a:xfrm>
          <a:prstGeom prst="line">
            <a:avLst/>
          </a:prstGeom>
          <a:noFill/>
          <a:ln w="13970">
            <a:solidFill>
              <a:srgbClr val="6543BD"/>
            </a:solidFill>
            <a:prstDash val="solid"/>
            <a:tailEnd type="triangle"/>
          </a:ln>
        </p:spPr>
      </p:sp>
      <p:sp>
        <p:nvSpPr>
          <p:cNvPr id="14" name="Text 12"/>
          <p:cNvSpPr/>
          <p:nvPr/>
        </p:nvSpPr>
        <p:spPr>
          <a:xfrm>
            <a:off x="7927848" y="2057400"/>
            <a:ext cx="3611880" cy="384048"/>
          </a:xfrm>
          <a:prstGeom prst="rect">
            <a:avLst/>
          </a:prstGeom>
          <a:noFill/>
          <a:ln/>
        </p:spPr>
        <p:txBody>
          <a:bodyPr wrap="square" lIns="0" tIns="0" rIns="0" bIns="0" rtlCol="0" anchor="t"/>
          <a:lstStyle/>
          <a:p>
            <a:pPr indent="0" marL="0">
              <a:buNone/>
            </a:pPr>
            <a:r>
              <a:rPr lang="en-US" sz="2200" b="1" dirty="0">
                <a:solidFill>
                  <a:srgbClr val="27323A"/>
                </a:solidFill>
                <a:latin typeface="Arial" pitchFamily="34" charset="0"/>
                <a:ea typeface="Arial" pitchFamily="34" charset="-122"/>
                <a:cs typeface="Arial" pitchFamily="34" charset="-120"/>
              </a:rPr>
              <a:t>Recurso real en Docker</a:t>
            </a:r>
            <a:endParaRPr lang="en-US" sz="2200" dirty="0"/>
          </a:p>
        </p:txBody>
      </p:sp>
      <p:sp>
        <p:nvSpPr>
          <p:cNvPr id="15" name="Text 13"/>
          <p:cNvSpPr/>
          <p:nvPr/>
        </p:nvSpPr>
        <p:spPr>
          <a:xfrm>
            <a:off x="7955280" y="3035808"/>
            <a:ext cx="3383280" cy="1097280"/>
          </a:xfrm>
          <a:prstGeom prst="rect">
            <a:avLst/>
          </a:prstGeom>
          <a:noFill/>
          <a:ln/>
        </p:spPr>
        <p:txBody>
          <a:bodyPr wrap="square" lIns="0" tIns="0" rIns="0" bIns="0" rtlCol="0" anchor="t"/>
          <a:lstStyle/>
          <a:p>
            <a:pPr indent="0" marL="0">
              <a:buNone/>
            </a:pPr>
            <a:r>
              <a:rPr lang="en-US" sz="2300" dirty="0">
                <a:solidFill>
                  <a:srgbClr val="555F69"/>
                </a:solidFill>
                <a:latin typeface="Arial" pitchFamily="34" charset="0"/>
                <a:ea typeface="Arial" pitchFamily="34" charset="-122"/>
                <a:cs typeface="Arial" pitchFamily="34" charset="-120"/>
              </a:rPr>
              <a:t>Nginx activo</a:t>
            </a:r>
            <a:endParaRPr lang="en-US" sz="2300" dirty="0"/>
          </a:p>
          <a:p>
            <a:pPr indent="0" marL="0">
              <a:buNone/>
            </a:pPr>
            <a:r>
              <a:rPr lang="en-US" sz="2300" dirty="0">
                <a:solidFill>
                  <a:srgbClr val="555F69"/>
                </a:solidFill>
                <a:latin typeface="Arial" pitchFamily="34" charset="0"/>
                <a:ea typeface="Arial" pitchFamily="34" charset="-122"/>
                <a:cs typeface="Arial" pitchFamily="34" charset="-120"/>
              </a:rPr>
              <a:t>Puerto publicado: 8080</a:t>
            </a:r>
            <a:endParaRPr lang="en-US" sz="2300" dirty="0"/>
          </a:p>
        </p:txBody>
      </p:sp>
      <p:sp>
        <p:nvSpPr>
          <p:cNvPr id="16" name="Text 14"/>
          <p:cNvSpPr/>
          <p:nvPr/>
        </p:nvSpPr>
        <p:spPr>
          <a:xfrm>
            <a:off x="685800" y="5248656"/>
            <a:ext cx="4023360" cy="411480"/>
          </a:xfrm>
          <a:prstGeom prst="rect">
            <a:avLst/>
          </a:prstGeom>
          <a:noFill/>
          <a:ln/>
        </p:spPr>
        <p:txBody>
          <a:bodyPr wrap="square" lIns="0" tIns="0" rIns="0" bIns="0" rtlCol="0" anchor="t"/>
          <a:lstStyle/>
          <a:p>
            <a:pPr indent="0" marL="0">
              <a:buNone/>
            </a:pPr>
            <a:r>
              <a:rPr lang="en-US" sz="2200" b="1" dirty="0">
                <a:solidFill>
                  <a:srgbClr val="6543BD"/>
                </a:solidFill>
                <a:latin typeface="Arial" pitchFamily="34" charset="0"/>
                <a:ea typeface="Arial" pitchFamily="34" charset="-122"/>
                <a:cs typeface="Arial" pitchFamily="34" charset="-120"/>
              </a:rPr>
              <a:t>Cambio de 8080 a 8081</a:t>
            </a:r>
            <a:endParaRPr lang="en-US" sz="2200" dirty="0"/>
          </a:p>
        </p:txBody>
      </p:sp>
      <p:sp>
        <p:nvSpPr>
          <p:cNvPr id="17" name="Text 15"/>
          <p:cNvSpPr/>
          <p:nvPr/>
        </p:nvSpPr>
        <p:spPr>
          <a:xfrm>
            <a:off x="5166360" y="5230368"/>
            <a:ext cx="6217920" cy="777240"/>
          </a:xfrm>
          <a:prstGeom prst="rect">
            <a:avLst/>
          </a:prstGeom>
          <a:noFill/>
          <a:ln/>
        </p:spPr>
        <p:txBody>
          <a:bodyPr wrap="square" lIns="0" tIns="0" rIns="0" bIns="0" rtlCol="0" anchor="t"/>
          <a:lstStyle/>
          <a:p>
            <a:pPr indent="0" marL="0">
              <a:buNone/>
            </a:pPr>
            <a:r>
              <a:rPr lang="en-US" sz="1800" dirty="0">
                <a:solidFill>
                  <a:srgbClr val="555F69"/>
                </a:solidFill>
                <a:latin typeface="Arial" pitchFamily="34" charset="0"/>
                <a:ea typeface="Arial" pitchFamily="34" charset="-122"/>
                <a:cs typeface="Arial" pitchFamily="34" charset="-120"/>
              </a:rPr>
              <a:t>El plan permite revisar el cambio. Según el atributo y el provider, puede implicar recrear el contenedor.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Conceptos fundamentales I</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Términos esenciales para leer y entender una configuración.</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Elementos</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08 / 21</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7512" y="2103120"/>
          <a:ext cx="10863072" cy="914400"/>
        </p:xfrm>
        <a:graphic>
          <a:graphicData uri="http://schemas.openxmlformats.org/drawingml/2006/table">
            <a:tbl>
              <a:tblPr/>
              <a:tblGrid>
                <a:gridCol w="2130552"/>
                <a:gridCol w="8732520"/>
              </a:tblGrid>
              <a:tr h="713232">
                <a:tc>
                  <a:txBody>
                    <a:bodyPr/>
                    <a:lstStyle/>
                    <a:p>
                      <a:pPr indent="0" marL="0">
                        <a:buNone/>
                      </a:pPr>
                      <a:r>
                        <a:rPr lang="en-US" sz="1900" b="1" dirty="0">
                          <a:solidFill>
                            <a:srgbClr val="27323A"/>
                          </a:solidFill>
                          <a:latin typeface="Arial" pitchFamily="34" charset="0"/>
                          <a:ea typeface="Arial" pitchFamily="34" charset="-122"/>
                          <a:cs typeface="Arial" pitchFamily="34" charset="-120"/>
                        </a:rPr>
                        <a:t>HCL</a:t>
                      </a:r>
                      <a:endParaRPr lang="en-US" sz="19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900" dirty="0">
                          <a:solidFill>
                            <a:srgbClr val="555F69"/>
                          </a:solidFill>
                          <a:latin typeface="Arial" pitchFamily="34" charset="0"/>
                          <a:ea typeface="Arial" pitchFamily="34" charset="-122"/>
                          <a:cs typeface="Arial" pitchFamily="34" charset="-120"/>
                        </a:rPr>
                        <a:t>Sintaxis declarativa utilizada en los archivos de configuración.</a:t>
                      </a:r>
                      <a:endParaRPr lang="en-US" sz="19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713232">
                <a:tc>
                  <a:txBody>
                    <a:bodyPr/>
                    <a:lstStyle/>
                    <a:p>
                      <a:pPr indent="0" marL="0">
                        <a:buNone/>
                      </a:pPr>
                      <a:r>
                        <a:rPr lang="en-US" sz="1900" b="1" dirty="0">
                          <a:solidFill>
                            <a:srgbClr val="27323A"/>
                          </a:solidFill>
                          <a:latin typeface="Arial" pitchFamily="34" charset="0"/>
                          <a:ea typeface="Arial" pitchFamily="34" charset="-122"/>
                          <a:cs typeface="Arial" pitchFamily="34" charset="-120"/>
                        </a:rPr>
                        <a:t>Provider</a:t>
                      </a:r>
                      <a:endParaRPr lang="en-US" sz="19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900" dirty="0">
                          <a:solidFill>
                            <a:srgbClr val="555F69"/>
                          </a:solidFill>
                          <a:latin typeface="Arial" pitchFamily="34" charset="0"/>
                          <a:ea typeface="Arial" pitchFamily="34" charset="-122"/>
                          <a:cs typeface="Arial" pitchFamily="34" charset="-120"/>
                        </a:rPr>
                        <a:t>Plugin que conecta Terraform con la API de un servicio.</a:t>
                      </a:r>
                      <a:endParaRPr lang="en-US" sz="19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r h="713232">
                <a:tc>
                  <a:txBody>
                    <a:bodyPr/>
                    <a:lstStyle/>
                    <a:p>
                      <a:pPr indent="0" marL="0">
                        <a:buNone/>
                      </a:pPr>
                      <a:r>
                        <a:rPr lang="en-US" sz="1900" b="1" dirty="0">
                          <a:solidFill>
                            <a:srgbClr val="27323A"/>
                          </a:solidFill>
                          <a:latin typeface="Arial" pitchFamily="34" charset="0"/>
                          <a:ea typeface="Arial" pitchFamily="34" charset="-122"/>
                          <a:cs typeface="Arial" pitchFamily="34" charset="-120"/>
                        </a:rPr>
                        <a:t>Resource</a:t>
                      </a:r>
                      <a:endParaRPr lang="en-US" sz="19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900" dirty="0">
                          <a:solidFill>
                            <a:srgbClr val="555F69"/>
                          </a:solidFill>
                          <a:latin typeface="Arial" pitchFamily="34" charset="0"/>
                          <a:ea typeface="Arial" pitchFamily="34" charset="-122"/>
                          <a:cs typeface="Arial" pitchFamily="34" charset="-120"/>
                        </a:rPr>
                        <a:t>Objeto cuyo ciclo de vida administra Terraform.</a:t>
                      </a:r>
                      <a:endParaRPr lang="en-US" sz="19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713232">
                <a:tc>
                  <a:txBody>
                    <a:bodyPr/>
                    <a:lstStyle/>
                    <a:p>
                      <a:pPr indent="0" marL="0">
                        <a:buNone/>
                      </a:pPr>
                      <a:r>
                        <a:rPr lang="en-US" sz="1900" b="1" dirty="0">
                          <a:solidFill>
                            <a:srgbClr val="27323A"/>
                          </a:solidFill>
                          <a:latin typeface="Arial" pitchFamily="34" charset="0"/>
                          <a:ea typeface="Arial" pitchFamily="34" charset="-122"/>
                          <a:cs typeface="Arial" pitchFamily="34" charset="-120"/>
                        </a:rPr>
                        <a:t>Data source</a:t>
                      </a:r>
                      <a:endParaRPr lang="en-US" sz="19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900" dirty="0">
                          <a:solidFill>
                            <a:srgbClr val="555F69"/>
                          </a:solidFill>
                          <a:latin typeface="Arial" pitchFamily="34" charset="0"/>
                          <a:ea typeface="Arial" pitchFamily="34" charset="-122"/>
                          <a:cs typeface="Arial" pitchFamily="34" charset="-120"/>
                        </a:rPr>
                        <a:t>Consulta datos de una fuente sin administrar su ciclo de vida.</a:t>
                      </a:r>
                      <a:endParaRPr lang="en-US" sz="19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r h="713232">
                <a:tc>
                  <a:txBody>
                    <a:bodyPr/>
                    <a:lstStyle/>
                    <a:p>
                      <a:pPr indent="0" marL="0">
                        <a:buNone/>
                      </a:pPr>
                      <a:r>
                        <a:rPr lang="en-US" sz="1900" b="1" dirty="0">
                          <a:solidFill>
                            <a:srgbClr val="27323A"/>
                          </a:solidFill>
                          <a:latin typeface="Arial" pitchFamily="34" charset="0"/>
                          <a:ea typeface="Arial" pitchFamily="34" charset="-122"/>
                          <a:cs typeface="Arial" pitchFamily="34" charset="-120"/>
                        </a:rPr>
                        <a:t>State</a:t>
                      </a:r>
                      <a:endParaRPr lang="en-US" sz="19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900" dirty="0">
                          <a:solidFill>
                            <a:srgbClr val="555F69"/>
                          </a:solidFill>
                          <a:latin typeface="Arial" pitchFamily="34" charset="0"/>
                          <a:ea typeface="Arial" pitchFamily="34" charset="-122"/>
                          <a:cs typeface="Arial" pitchFamily="34" charset="-120"/>
                        </a:rPr>
                        <a:t>Registro que vincula los recursos declarados con los objetos reales.</a:t>
                      </a:r>
                      <a:endParaRPr lang="en-US" sz="19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19" name="Tarjeta Modules"/>
          <p:cNvSpPr/>
          <p:nvPr/>
        </p:nvSpPr>
        <p:spPr>
          <a:xfrm>
            <a:off x="8119872" y="2029968"/>
            <a:ext cx="3410712" cy="2249424"/>
          </a:xfrm>
          <a:prstGeom prst="roundRect">
            <a:avLst>
              <a:gd name="adj" fmla="val 3455"/>
            </a:avLst>
          </a:prstGeom>
          <a:solidFill>
            <a:srgbClr val="F4F5F7"/>
          </a:solidFill>
          <a:ln w="7620">
            <a:solidFill>
              <a:srgbClr val="DDE1E6"/>
            </a:solidFill>
            <a:prstDash val="solid"/>
          </a:ln>
          <a:effectLst/>
        </p:spPr>
      </p:sp>
      <p:sp>
        <p:nvSpPr>
          <p:cNvPr id="18" name="Tarjeta Outputs"/>
          <p:cNvSpPr/>
          <p:nvPr/>
        </p:nvSpPr>
        <p:spPr>
          <a:xfrm>
            <a:off x="4393692" y="2029968"/>
            <a:ext cx="3410712" cy="2249424"/>
          </a:xfrm>
          <a:prstGeom prst="roundRect">
            <a:avLst>
              <a:gd name="adj" fmla="val 3455"/>
            </a:avLst>
          </a:prstGeom>
          <a:solidFill>
            <a:srgbClr val="F4F5F7"/>
          </a:solidFill>
          <a:ln w="7620">
            <a:solidFill>
              <a:srgbClr val="DDE1E6"/>
            </a:solidFill>
            <a:prstDash val="solid"/>
          </a:ln>
          <a:effectLst/>
        </p:spPr>
      </p:sp>
      <p:sp>
        <p:nvSpPr>
          <p:cNvPr id="17" name="Tarjeta Variables"/>
          <p:cNvSpPr/>
          <p:nvPr/>
        </p:nvSpPr>
        <p:spPr>
          <a:xfrm>
            <a:off x="667512" y="2029968"/>
            <a:ext cx="3410712" cy="2249424"/>
          </a:xfrm>
          <a:prstGeom prst="roundRect">
            <a:avLst>
              <a:gd name="adj" fmla="val 3455"/>
            </a:avLst>
          </a:prstGeom>
          <a:solidFill>
            <a:srgbClr val="F4F5F7"/>
          </a:solidFill>
          <a:ln w="7620">
            <a:solidFill>
              <a:srgbClr val="DDE1E6"/>
            </a:solidFill>
            <a:prstDash val="solid"/>
          </a:ln>
          <a:effectLst/>
        </p:spPr>
      </p:sp>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Conceptos fundamentales II</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Mecanismos para parametrizar, reutilizar y compartir la configuración.</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Elementos</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09 / 21</a:t>
            </a:r>
            <a:endParaRPr lang="en-US" sz="1050" dirty="0"/>
          </a:p>
        </p:txBody>
      </p:sp>
      <p:sp>
        <p:nvSpPr>
          <p:cNvPr id="6" name="Text 4"/>
          <p:cNvSpPr/>
          <p:nvPr/>
        </p:nvSpPr>
        <p:spPr>
          <a:xfrm>
            <a:off x="896112" y="2304288"/>
            <a:ext cx="2953512" cy="438912"/>
          </a:xfrm>
          <a:prstGeom prst="rect">
            <a:avLst/>
          </a:prstGeom>
          <a:noFill/>
          <a:ln/>
        </p:spPr>
        <p:txBody>
          <a:bodyPr wrap="square" lIns="0" tIns="0" rIns="0" bIns="0" rtlCol="0" anchor="t"/>
          <a:lstStyle/>
          <a:p>
            <a:pPr indent="0" marL="0">
              <a:buNone/>
            </a:pPr>
            <a:r>
              <a:rPr lang="en-US" sz="2400" b="1" dirty="0">
                <a:solidFill>
                  <a:srgbClr val="6543BD"/>
                </a:solidFill>
                <a:latin typeface="Arial" pitchFamily="34" charset="0"/>
                <a:ea typeface="Arial" pitchFamily="34" charset="-122"/>
                <a:cs typeface="Arial" pitchFamily="34" charset="-120"/>
              </a:rPr>
              <a:t>Variables</a:t>
            </a:r>
            <a:endParaRPr lang="en-US" sz="2400" dirty="0"/>
          </a:p>
        </p:txBody>
      </p:sp>
      <p:sp>
        <p:nvSpPr>
          <p:cNvPr id="7" name="Text 5"/>
          <p:cNvSpPr/>
          <p:nvPr/>
        </p:nvSpPr>
        <p:spPr>
          <a:xfrm>
            <a:off x="896112" y="2999232"/>
            <a:ext cx="2953512" cy="969264"/>
          </a:xfrm>
          <a:prstGeom prst="rect">
            <a:avLst/>
          </a:prstGeom>
          <a:noFill/>
          <a:ln/>
        </p:spPr>
        <p:txBody>
          <a:bodyPr wrap="square" lIns="0" tIns="0" rIns="0" bIns="0" rtlCol="0" anchor="t"/>
          <a:lstStyle/>
          <a:p>
            <a:pPr indent="0" marL="0">
              <a:buNone/>
            </a:pPr>
            <a:r>
              <a:rPr lang="en-US" sz="2000" dirty="0">
                <a:solidFill>
                  <a:srgbClr val="555F69"/>
                </a:solidFill>
                <a:latin typeface="Arial" pitchFamily="34" charset="0"/>
                <a:ea typeface="Arial" pitchFamily="34" charset="-122"/>
                <a:cs typeface="Arial" pitchFamily="34" charset="-120"/>
              </a:rPr>
              <a:t>Entradas como puertos, nombres, regiones o tamaños.</a:t>
            </a:r>
            <a:endParaRPr lang="en-US" sz="2000" dirty="0"/>
          </a:p>
        </p:txBody>
      </p:sp>
      <p:sp>
        <p:nvSpPr>
          <p:cNvPr id="8" name="Text 6"/>
          <p:cNvSpPr/>
          <p:nvPr/>
        </p:nvSpPr>
        <p:spPr>
          <a:xfrm>
            <a:off x="4622292" y="2304288"/>
            <a:ext cx="2953512" cy="438912"/>
          </a:xfrm>
          <a:prstGeom prst="rect">
            <a:avLst/>
          </a:prstGeom>
          <a:noFill/>
          <a:ln/>
        </p:spPr>
        <p:txBody>
          <a:bodyPr wrap="square" lIns="0" tIns="0" rIns="0" bIns="0" rtlCol="0" anchor="t"/>
          <a:lstStyle/>
          <a:p>
            <a:pPr indent="0" marL="0">
              <a:buNone/>
            </a:pPr>
            <a:r>
              <a:rPr lang="en-US" sz="2400" b="1" dirty="0">
                <a:solidFill>
                  <a:srgbClr val="6543BD"/>
                </a:solidFill>
                <a:latin typeface="Arial" pitchFamily="34" charset="0"/>
                <a:ea typeface="Arial" pitchFamily="34" charset="-122"/>
                <a:cs typeface="Arial" pitchFamily="34" charset="-120"/>
              </a:rPr>
              <a:t>Outputs</a:t>
            </a:r>
            <a:endParaRPr lang="en-US" sz="2400" dirty="0"/>
          </a:p>
        </p:txBody>
      </p:sp>
      <p:sp>
        <p:nvSpPr>
          <p:cNvPr id="9" name="Text 7"/>
          <p:cNvSpPr/>
          <p:nvPr/>
        </p:nvSpPr>
        <p:spPr>
          <a:xfrm>
            <a:off x="4622292" y="2999232"/>
            <a:ext cx="2953512" cy="969264"/>
          </a:xfrm>
          <a:prstGeom prst="rect">
            <a:avLst/>
          </a:prstGeom>
          <a:noFill/>
          <a:ln/>
        </p:spPr>
        <p:txBody>
          <a:bodyPr wrap="square" lIns="0" tIns="0" rIns="0" bIns="0" rtlCol="0" anchor="t"/>
          <a:lstStyle/>
          <a:p>
            <a:pPr indent="0" marL="0">
              <a:buNone/>
            </a:pPr>
            <a:r>
              <a:rPr lang="en-US" sz="2000" dirty="0">
                <a:solidFill>
                  <a:srgbClr val="555F69"/>
                </a:solidFill>
                <a:latin typeface="Arial" pitchFamily="34" charset="0"/>
                <a:ea typeface="Arial" pitchFamily="34" charset="-122"/>
                <a:cs typeface="Arial" pitchFamily="34" charset="-120"/>
              </a:rPr>
              <a:t>Salidas como una IP, URL o identificador.</a:t>
            </a:r>
            <a:endParaRPr lang="en-US" sz="2000" dirty="0"/>
          </a:p>
        </p:txBody>
      </p:sp>
      <p:sp>
        <p:nvSpPr>
          <p:cNvPr id="10" name="Text 8"/>
          <p:cNvSpPr/>
          <p:nvPr/>
        </p:nvSpPr>
        <p:spPr>
          <a:xfrm>
            <a:off x="8348472" y="2304288"/>
            <a:ext cx="2953512" cy="438912"/>
          </a:xfrm>
          <a:prstGeom prst="rect">
            <a:avLst/>
          </a:prstGeom>
          <a:noFill/>
          <a:ln/>
        </p:spPr>
        <p:txBody>
          <a:bodyPr wrap="square" lIns="0" tIns="0" rIns="0" bIns="0" rtlCol="0" anchor="t"/>
          <a:lstStyle/>
          <a:p>
            <a:pPr indent="0" marL="0">
              <a:buNone/>
            </a:pPr>
            <a:r>
              <a:rPr lang="en-US" sz="2400" b="1" dirty="0">
                <a:solidFill>
                  <a:srgbClr val="6543BD"/>
                </a:solidFill>
                <a:latin typeface="Arial" pitchFamily="34" charset="0"/>
                <a:ea typeface="Arial" pitchFamily="34" charset="-122"/>
                <a:cs typeface="Arial" pitchFamily="34" charset="-120"/>
              </a:rPr>
              <a:t>Modules</a:t>
            </a:r>
            <a:endParaRPr lang="en-US" sz="2400" dirty="0"/>
          </a:p>
        </p:txBody>
      </p:sp>
      <p:sp>
        <p:nvSpPr>
          <p:cNvPr id="11" name="Text 9"/>
          <p:cNvSpPr/>
          <p:nvPr/>
        </p:nvSpPr>
        <p:spPr>
          <a:xfrm>
            <a:off x="8348472" y="2999232"/>
            <a:ext cx="2953512" cy="969264"/>
          </a:xfrm>
          <a:prstGeom prst="rect">
            <a:avLst/>
          </a:prstGeom>
          <a:noFill/>
          <a:ln/>
        </p:spPr>
        <p:txBody>
          <a:bodyPr wrap="square" lIns="0" tIns="0" rIns="0" bIns="0" rtlCol="0" anchor="t"/>
          <a:lstStyle/>
          <a:p>
            <a:pPr indent="0" marL="0">
              <a:buNone/>
            </a:pPr>
            <a:r>
              <a:rPr lang="en-US" sz="2000" dirty="0">
                <a:solidFill>
                  <a:srgbClr val="555F69"/>
                </a:solidFill>
                <a:latin typeface="Arial" pitchFamily="34" charset="0"/>
                <a:ea typeface="Arial" pitchFamily="34" charset="-122"/>
                <a:cs typeface="Arial" pitchFamily="34" charset="-120"/>
              </a:rPr>
              <a:t>Conjuntos de recursos que se reutilizan como una unidad.</a:t>
            </a:r>
            <a:endParaRPr lang="en-US" sz="2000" dirty="0"/>
          </a:p>
        </p:txBody>
      </p:sp>
      <p:sp>
        <p:nvSpPr>
          <p:cNvPr id="12" name="Shape 10"/>
          <p:cNvSpPr/>
          <p:nvPr/>
        </p:nvSpPr>
        <p:spPr>
          <a:xfrm>
            <a:off x="685800" y="4617720"/>
            <a:ext cx="10835640" cy="0"/>
          </a:xfrm>
          <a:prstGeom prst="line">
            <a:avLst/>
          </a:prstGeom>
          <a:noFill/>
          <a:ln w="13970">
            <a:solidFill>
              <a:srgbClr val="DDE1E6"/>
            </a:solidFill>
            <a:prstDash val="solid"/>
          </a:ln>
        </p:spPr>
      </p:sp>
      <p:sp>
        <p:nvSpPr>
          <p:cNvPr id="13" name="Text 11"/>
          <p:cNvSpPr/>
          <p:nvPr/>
        </p:nvSpPr>
        <p:spPr>
          <a:xfrm>
            <a:off x="685800" y="4956048"/>
            <a:ext cx="4480560" cy="365760"/>
          </a:xfrm>
          <a:prstGeom prst="rect">
            <a:avLst/>
          </a:prstGeom>
          <a:noFill/>
          <a:ln/>
        </p:spPr>
        <p:txBody>
          <a:bodyPr wrap="square" lIns="0" tIns="0" rIns="0" bIns="0" rtlCol="0" anchor="t"/>
          <a:lstStyle/>
          <a:p>
            <a:pPr indent="0" marL="0">
              <a:buNone/>
            </a:pPr>
            <a:r>
              <a:rPr lang="en-US" sz="2200" b="1" dirty="0">
                <a:solidFill>
                  <a:srgbClr val="27323A"/>
                </a:solidFill>
                <a:latin typeface="Arial" pitchFamily="34" charset="0"/>
                <a:ea typeface="Arial" pitchFamily="34" charset="-122"/>
                <a:cs typeface="Arial" pitchFamily="34" charset="-120"/>
              </a:rPr>
              <a:t>Backend</a:t>
            </a:r>
            <a:endParaRPr lang="en-US" sz="2200" dirty="0"/>
          </a:p>
        </p:txBody>
      </p:sp>
      <p:sp>
        <p:nvSpPr>
          <p:cNvPr id="14" name="Text 12"/>
          <p:cNvSpPr/>
          <p:nvPr/>
        </p:nvSpPr>
        <p:spPr>
          <a:xfrm>
            <a:off x="685800" y="5495544"/>
            <a:ext cx="5074920" cy="566928"/>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Define dónde se almacena el state. El soporte de bloqueo depende del backend.</a:t>
            </a:r>
            <a:endParaRPr lang="en-US" sz="1700" dirty="0"/>
          </a:p>
        </p:txBody>
      </p:sp>
      <p:sp>
        <p:nvSpPr>
          <p:cNvPr id="15" name="Text 13"/>
          <p:cNvSpPr/>
          <p:nvPr/>
        </p:nvSpPr>
        <p:spPr>
          <a:xfrm>
            <a:off x="6437376" y="4956048"/>
            <a:ext cx="5074920" cy="365760"/>
          </a:xfrm>
          <a:prstGeom prst="rect">
            <a:avLst/>
          </a:prstGeom>
          <a:noFill/>
          <a:ln/>
        </p:spPr>
        <p:txBody>
          <a:bodyPr wrap="square" lIns="0" tIns="0" rIns="0" bIns="0" rtlCol="0" anchor="t"/>
          <a:lstStyle/>
          <a:p>
            <a:pPr indent="0" marL="0">
              <a:buNone/>
            </a:pPr>
            <a:r>
              <a:rPr lang="en-US" sz="2200" b="1" dirty="0">
                <a:solidFill>
                  <a:srgbClr val="27323A"/>
                </a:solidFill>
                <a:latin typeface="Arial" pitchFamily="34" charset="0"/>
                <a:ea typeface="Arial" pitchFamily="34" charset="-122"/>
                <a:cs typeface="Arial" pitchFamily="34" charset="-120"/>
              </a:rPr>
              <a:t>Dependency lock file</a:t>
            </a:r>
            <a:endParaRPr lang="en-US" sz="2200" dirty="0"/>
          </a:p>
        </p:txBody>
      </p:sp>
      <p:sp>
        <p:nvSpPr>
          <p:cNvPr id="16" name="Text 14"/>
          <p:cNvSpPr/>
          <p:nvPr/>
        </p:nvSpPr>
        <p:spPr>
          <a:xfrm>
            <a:off x="6437376" y="5495544"/>
            <a:ext cx="5029200" cy="566928"/>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Registra versiones y checksums de providers. No fija las versiones de módulos remotos.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Estructura de un proyecto Terraform</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Separar archivos por responsabilidad es una convención, no un orden de ejecución.</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Elementos</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10 / 21</a:t>
            </a:r>
            <a:endParaRPr lang="en-US" sz="1050" dirty="0"/>
          </a:p>
        </p:txBody>
      </p:sp>
      <p:sp>
        <p:nvSpPr>
          <p:cNvPr id="6" name="Shape 4"/>
          <p:cNvSpPr/>
          <p:nvPr/>
        </p:nvSpPr>
        <p:spPr>
          <a:xfrm>
            <a:off x="667512" y="2194560"/>
            <a:ext cx="4160520" cy="3383280"/>
          </a:xfrm>
          <a:prstGeom prst="rect">
            <a:avLst/>
          </a:prstGeom>
          <a:solidFill>
            <a:srgbClr val="F4F5F7"/>
          </a:solidFill>
          <a:ln w="8890">
            <a:solidFill>
              <a:srgbClr val="F4F5F7"/>
            </a:solidFill>
            <a:prstDash val="solid"/>
          </a:ln>
        </p:spPr>
      </p:sp>
      <p:sp>
        <p:nvSpPr>
          <p:cNvPr id="7" name="Text 5"/>
          <p:cNvSpPr/>
          <p:nvPr/>
        </p:nvSpPr>
        <p:spPr>
          <a:xfrm>
            <a:off x="896112" y="2404872"/>
            <a:ext cx="3703320" cy="2962656"/>
          </a:xfrm>
          <a:prstGeom prst="rect">
            <a:avLst/>
          </a:prstGeom>
          <a:noFill/>
          <a:ln/>
        </p:spPr>
        <p:txBody>
          <a:bodyPr wrap="square" lIns="0" tIns="0" rIns="0" bIns="0" rtlCol="0" anchor="t"/>
          <a:lstStyle/>
          <a:p>
            <a:pPr indent="0" marL="0">
              <a:lnSpc>
                <a:spcPct val="102000"/>
              </a:lnSpc>
              <a:buNone/>
            </a:pPr>
            <a:r>
              <a:rPr lang="en-US" sz="1900" dirty="0">
                <a:solidFill>
                  <a:srgbClr val="27323A"/>
                </a:solidFill>
                <a:latin typeface="Courier New" pitchFamily="34" charset="0"/>
                <a:ea typeface="Courier New" pitchFamily="34" charset="-122"/>
                <a:cs typeface="Courier New" pitchFamily="34" charset="-120"/>
              </a:rPr>
              <a:t>proyecto-terraform/</a:t>
            </a:r>
            <a:endParaRPr lang="en-US" sz="1900" dirty="0"/>
          </a:p>
          <a:p>
            <a:pPr indent="0" marL="0">
              <a:lnSpc>
                <a:spcPct val="102000"/>
              </a:lnSpc>
              <a:buNone/>
            </a:pPr>
            <a:r>
              <a:rPr lang="en-US" sz="1900" dirty="0">
                <a:solidFill>
                  <a:srgbClr val="27323A"/>
                </a:solidFill>
                <a:latin typeface="Courier New" pitchFamily="34" charset="0"/>
                <a:ea typeface="Courier New" pitchFamily="34" charset="-122"/>
                <a:cs typeface="Courier New" pitchFamily="34" charset="-120"/>
              </a:rPr>
              <a:t>  main.tf</a:t>
            </a:r>
            <a:endParaRPr lang="en-US" sz="1900" dirty="0"/>
          </a:p>
          <a:p>
            <a:pPr indent="0" marL="0">
              <a:lnSpc>
                <a:spcPct val="102000"/>
              </a:lnSpc>
              <a:buNone/>
            </a:pPr>
            <a:r>
              <a:rPr lang="en-US" sz="1900" dirty="0">
                <a:solidFill>
                  <a:srgbClr val="27323A"/>
                </a:solidFill>
                <a:latin typeface="Courier New" pitchFamily="34" charset="0"/>
                <a:ea typeface="Courier New" pitchFamily="34" charset="-122"/>
                <a:cs typeface="Courier New" pitchFamily="34" charset="-120"/>
              </a:rPr>
              <a:t>  providers.tf</a:t>
            </a:r>
            <a:endParaRPr lang="en-US" sz="1900" dirty="0"/>
          </a:p>
          <a:p>
            <a:pPr indent="0" marL="0">
              <a:lnSpc>
                <a:spcPct val="102000"/>
              </a:lnSpc>
              <a:buNone/>
            </a:pPr>
            <a:r>
              <a:rPr lang="en-US" sz="1900" dirty="0">
                <a:solidFill>
                  <a:srgbClr val="27323A"/>
                </a:solidFill>
                <a:latin typeface="Courier New" pitchFamily="34" charset="0"/>
                <a:ea typeface="Courier New" pitchFamily="34" charset="-122"/>
                <a:cs typeface="Courier New" pitchFamily="34" charset="-120"/>
              </a:rPr>
              <a:t>  variables.tf</a:t>
            </a:r>
            <a:endParaRPr lang="en-US" sz="1900" dirty="0"/>
          </a:p>
          <a:p>
            <a:pPr indent="0" marL="0">
              <a:lnSpc>
                <a:spcPct val="102000"/>
              </a:lnSpc>
              <a:buNone/>
            </a:pPr>
            <a:r>
              <a:rPr lang="en-US" sz="1900" dirty="0">
                <a:solidFill>
                  <a:srgbClr val="27323A"/>
                </a:solidFill>
                <a:latin typeface="Courier New" pitchFamily="34" charset="0"/>
                <a:ea typeface="Courier New" pitchFamily="34" charset="-122"/>
                <a:cs typeface="Courier New" pitchFamily="34" charset="-120"/>
              </a:rPr>
              <a:t>  outputs.tf</a:t>
            </a:r>
            <a:endParaRPr lang="en-US" sz="1900" dirty="0"/>
          </a:p>
          <a:p>
            <a:pPr indent="0" marL="0">
              <a:lnSpc>
                <a:spcPct val="102000"/>
              </a:lnSpc>
              <a:buNone/>
            </a:pPr>
            <a:r>
              <a:rPr lang="en-US" sz="1900" dirty="0">
                <a:solidFill>
                  <a:srgbClr val="27323A"/>
                </a:solidFill>
                <a:latin typeface="Courier New" pitchFamily="34" charset="0"/>
                <a:ea typeface="Courier New" pitchFamily="34" charset="-122"/>
                <a:cs typeface="Courier New" pitchFamily="34" charset="-120"/>
              </a:rPr>
              <a:t>  terraform.tfvars</a:t>
            </a:r>
            <a:endParaRPr lang="en-US" sz="1900" dirty="0"/>
          </a:p>
          <a:p>
            <a:pPr indent="0" marL="0">
              <a:lnSpc>
                <a:spcPct val="102000"/>
              </a:lnSpc>
              <a:buNone/>
            </a:pPr>
            <a:r>
              <a:rPr lang="en-US" sz="1900" dirty="0">
                <a:solidFill>
                  <a:srgbClr val="27323A"/>
                </a:solidFill>
                <a:latin typeface="Courier New" pitchFamily="34" charset="0"/>
                <a:ea typeface="Courier New" pitchFamily="34" charset="-122"/>
                <a:cs typeface="Courier New" pitchFamily="34" charset="-120"/>
              </a:rPr>
              <a:t>  .terraform.lock.hcl</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193792" y="2121408"/>
          <a:ext cx="6345936" cy="914400"/>
        </p:xfrm>
        <a:graphic>
          <a:graphicData uri="http://schemas.openxmlformats.org/drawingml/2006/table">
            <a:tbl>
              <a:tblPr/>
              <a:tblGrid>
                <a:gridCol w="2286000"/>
                <a:gridCol w="4059936"/>
              </a:tblGrid>
              <a:tr h="521208">
                <a:tc>
                  <a:txBody>
                    <a:bodyPr/>
                    <a:lstStyle/>
                    <a:p>
                      <a:pPr indent="0" marL="0">
                        <a:buNone/>
                      </a:pPr>
                      <a:r>
                        <a:rPr lang="en-US" sz="1650" b="1" dirty="0">
                          <a:solidFill>
                            <a:srgbClr val="27323A"/>
                          </a:solidFill>
                          <a:latin typeface="Arial" pitchFamily="34" charset="0"/>
                          <a:ea typeface="Arial" pitchFamily="34" charset="-122"/>
                          <a:cs typeface="Arial" pitchFamily="34" charset="-120"/>
                        </a:rPr>
                        <a:t>main.tf</a:t>
                      </a:r>
                      <a:endParaRPr lang="en-US" sz="16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650" dirty="0">
                          <a:solidFill>
                            <a:srgbClr val="555F69"/>
                          </a:solidFill>
                          <a:latin typeface="Arial" pitchFamily="34" charset="0"/>
                          <a:ea typeface="Arial" pitchFamily="34" charset="-122"/>
                          <a:cs typeface="Arial" pitchFamily="34" charset="-120"/>
                        </a:rPr>
                        <a:t>Recursos del proyecto.</a:t>
                      </a:r>
                      <a:endParaRPr lang="en-US" sz="16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521208">
                <a:tc>
                  <a:txBody>
                    <a:bodyPr/>
                    <a:lstStyle/>
                    <a:p>
                      <a:pPr indent="0" marL="0">
                        <a:buNone/>
                      </a:pPr>
                      <a:r>
                        <a:rPr lang="en-US" sz="1650" b="1" dirty="0">
                          <a:solidFill>
                            <a:srgbClr val="27323A"/>
                          </a:solidFill>
                          <a:latin typeface="Arial" pitchFamily="34" charset="0"/>
                          <a:ea typeface="Arial" pitchFamily="34" charset="-122"/>
                          <a:cs typeface="Arial" pitchFamily="34" charset="-120"/>
                        </a:rPr>
                        <a:t>providers.tf</a:t>
                      </a:r>
                      <a:endParaRPr lang="en-US" sz="16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650" dirty="0">
                          <a:solidFill>
                            <a:srgbClr val="555F69"/>
                          </a:solidFill>
                          <a:latin typeface="Arial" pitchFamily="34" charset="0"/>
                          <a:ea typeface="Arial" pitchFamily="34" charset="-122"/>
                          <a:cs typeface="Arial" pitchFamily="34" charset="-120"/>
                        </a:rPr>
                        <a:t>Requisitos y configuración de providers.</a:t>
                      </a:r>
                      <a:endParaRPr lang="en-US" sz="16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r h="521208">
                <a:tc>
                  <a:txBody>
                    <a:bodyPr/>
                    <a:lstStyle/>
                    <a:p>
                      <a:pPr indent="0" marL="0">
                        <a:buNone/>
                      </a:pPr>
                      <a:r>
                        <a:rPr lang="en-US" sz="1650" b="1" dirty="0">
                          <a:solidFill>
                            <a:srgbClr val="27323A"/>
                          </a:solidFill>
                          <a:latin typeface="Arial" pitchFamily="34" charset="0"/>
                          <a:ea typeface="Arial" pitchFamily="34" charset="-122"/>
                          <a:cs typeface="Arial" pitchFamily="34" charset="-120"/>
                        </a:rPr>
                        <a:t>variables.tf</a:t>
                      </a:r>
                      <a:endParaRPr lang="en-US" sz="16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650" dirty="0">
                          <a:solidFill>
                            <a:srgbClr val="555F69"/>
                          </a:solidFill>
                          <a:latin typeface="Arial" pitchFamily="34" charset="0"/>
                          <a:ea typeface="Arial" pitchFamily="34" charset="-122"/>
                          <a:cs typeface="Arial" pitchFamily="34" charset="-120"/>
                        </a:rPr>
                        <a:t>Declaración de entradas.</a:t>
                      </a:r>
                      <a:endParaRPr lang="en-US" sz="16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521208">
                <a:tc>
                  <a:txBody>
                    <a:bodyPr/>
                    <a:lstStyle/>
                    <a:p>
                      <a:pPr indent="0" marL="0">
                        <a:buNone/>
                      </a:pPr>
                      <a:r>
                        <a:rPr lang="en-US" sz="1650" b="1" dirty="0">
                          <a:solidFill>
                            <a:srgbClr val="27323A"/>
                          </a:solidFill>
                          <a:latin typeface="Arial" pitchFamily="34" charset="0"/>
                          <a:ea typeface="Arial" pitchFamily="34" charset="-122"/>
                          <a:cs typeface="Arial" pitchFamily="34" charset="-120"/>
                        </a:rPr>
                        <a:t>outputs.tf</a:t>
                      </a:r>
                      <a:endParaRPr lang="en-US" sz="16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650" dirty="0">
                          <a:solidFill>
                            <a:srgbClr val="555F69"/>
                          </a:solidFill>
                          <a:latin typeface="Arial" pitchFamily="34" charset="0"/>
                          <a:ea typeface="Arial" pitchFamily="34" charset="-122"/>
                          <a:cs typeface="Arial" pitchFamily="34" charset="-120"/>
                        </a:rPr>
                        <a:t>Definición de valores de salida.</a:t>
                      </a:r>
                      <a:endParaRPr lang="en-US" sz="16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r h="521208">
                <a:tc>
                  <a:txBody>
                    <a:bodyPr/>
                    <a:lstStyle/>
                    <a:p>
                      <a:pPr indent="0" marL="0">
                        <a:buNone/>
                      </a:pPr>
                      <a:r>
                        <a:rPr lang="en-US" sz="1650" b="1" dirty="0">
                          <a:solidFill>
                            <a:srgbClr val="27323A"/>
                          </a:solidFill>
                          <a:latin typeface="Arial" pitchFamily="34" charset="0"/>
                          <a:ea typeface="Arial" pitchFamily="34" charset="-122"/>
                          <a:cs typeface="Arial" pitchFamily="34" charset="-120"/>
                        </a:rPr>
                        <a:t>terraform.tfvars</a:t>
                      </a:r>
                      <a:endParaRPr lang="en-US" sz="16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650" dirty="0">
                          <a:solidFill>
                            <a:srgbClr val="555F69"/>
                          </a:solidFill>
                          <a:latin typeface="Arial" pitchFamily="34" charset="0"/>
                          <a:ea typeface="Arial" pitchFamily="34" charset="-122"/>
                          <a:cs typeface="Arial" pitchFamily="34" charset="-120"/>
                        </a:rPr>
                        <a:t>Asignación de valores de entrada.</a:t>
                      </a:r>
                      <a:endParaRPr lang="en-US" sz="16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521208">
                <a:tc>
                  <a:txBody>
                    <a:bodyPr/>
                    <a:lstStyle/>
                    <a:p>
                      <a:pPr indent="0" marL="0">
                        <a:buNone/>
                      </a:pPr>
                      <a:r>
                        <a:rPr lang="en-US" sz="1650" b="1" dirty="0">
                          <a:solidFill>
                            <a:srgbClr val="27323A"/>
                          </a:solidFill>
                          <a:latin typeface="Arial" pitchFamily="34" charset="0"/>
                          <a:ea typeface="Arial" pitchFamily="34" charset="-122"/>
                          <a:cs typeface="Arial" pitchFamily="34" charset="-120"/>
                        </a:rPr>
                        <a:t>.terraform.lock.hcl</a:t>
                      </a:r>
                      <a:endParaRPr lang="en-US" sz="16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650" dirty="0">
                          <a:solidFill>
                            <a:srgbClr val="555F69"/>
                          </a:solidFill>
                          <a:latin typeface="Arial" pitchFamily="34" charset="0"/>
                          <a:ea typeface="Arial" pitchFamily="34" charset="-122"/>
                          <a:cs typeface="Arial" pitchFamily="34" charset="-120"/>
                        </a:rPr>
                        <a:t>Selecciones y checksums de providers.</a:t>
                      </a:r>
                      <a:endParaRPr lang="en-US" sz="16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bl>
          </a:graphicData>
        </a:graphic>
      </p:graphicFrame>
      <p:sp>
        <p:nvSpPr>
          <p:cNvPr id="9" name="Text 6"/>
          <p:cNvSpPr/>
          <p:nvPr/>
        </p:nvSpPr>
        <p:spPr>
          <a:xfrm>
            <a:off x="685800" y="5870448"/>
            <a:ext cx="10881360" cy="292608"/>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Los archivos .tf del mismo directorio forman un módulo</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13" name="Tarjeta provider docker"/>
          <p:cNvSpPr/>
          <p:nvPr/>
        </p:nvSpPr>
        <p:spPr>
          <a:xfrm>
            <a:off x="7452360" y="4133088"/>
            <a:ext cx="4069080" cy="1938528"/>
          </a:xfrm>
          <a:prstGeom prst="roundRect">
            <a:avLst>
              <a:gd name="adj" fmla="val 4009"/>
            </a:avLst>
          </a:prstGeom>
          <a:solidFill>
            <a:srgbClr val="F4F5F7"/>
          </a:solidFill>
          <a:ln w="7620">
            <a:solidFill>
              <a:srgbClr val="DDE1E6"/>
            </a:solidFill>
            <a:prstDash val="solid"/>
          </a:ln>
          <a:effectLst/>
        </p:spPr>
      </p:sp>
      <p:sp>
        <p:nvSpPr>
          <p:cNvPr id="12" name="Tarjeta required_providers"/>
          <p:cNvSpPr/>
          <p:nvPr/>
        </p:nvSpPr>
        <p:spPr>
          <a:xfrm>
            <a:off x="7452360" y="2029968"/>
            <a:ext cx="4069080" cy="1828800"/>
          </a:xfrm>
          <a:prstGeom prst="roundRect">
            <a:avLst>
              <a:gd name="adj" fmla="val 4250"/>
            </a:avLst>
          </a:prstGeom>
          <a:solidFill>
            <a:srgbClr val="F4F5F7"/>
          </a:solidFill>
          <a:ln w="7620">
            <a:solidFill>
              <a:srgbClr val="DDE1E6"/>
            </a:solidFill>
            <a:prstDash val="solid"/>
          </a:ln>
          <a:effectLst/>
        </p:spPr>
      </p:sp>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Configuración del proveedor Docker</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main.tf · Parte 1</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Código HCL</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11 / 21</a:t>
            </a:r>
            <a:endParaRPr lang="en-US" sz="1050" dirty="0"/>
          </a:p>
        </p:txBody>
      </p:sp>
      <p:sp>
        <p:nvSpPr>
          <p:cNvPr id="6" name="Shape 4"/>
          <p:cNvSpPr/>
          <p:nvPr/>
        </p:nvSpPr>
        <p:spPr>
          <a:xfrm>
            <a:off x="667512" y="2029968"/>
            <a:ext cx="6510528" cy="4041648"/>
          </a:xfrm>
          <a:prstGeom prst="rect">
            <a:avLst/>
          </a:prstGeom>
          <a:solidFill>
            <a:srgbClr val="F4F5F7"/>
          </a:solidFill>
          <a:ln w="8890">
            <a:solidFill>
              <a:srgbClr val="F4F5F7"/>
            </a:solidFill>
            <a:prstDash val="solid"/>
          </a:ln>
        </p:spPr>
      </p:sp>
      <p:sp>
        <p:nvSpPr>
          <p:cNvPr id="7" name="Text 5"/>
          <p:cNvSpPr/>
          <p:nvPr/>
        </p:nvSpPr>
        <p:spPr>
          <a:xfrm>
            <a:off x="896112" y="2240280"/>
            <a:ext cx="6053328" cy="3621024"/>
          </a:xfrm>
          <a:prstGeom prst="rect">
            <a:avLst/>
          </a:prstGeom>
          <a:noFill/>
          <a:ln/>
        </p:spPr>
        <p:txBody>
          <a:bodyPr wrap="square" lIns="0" tIns="0" rIns="0" bIns="0" rtlCol="0" anchor="t"/>
          <a:lstStyle/>
          <a:p>
            <a:pPr indent="0" marL="0">
              <a:lnSpc>
                <a:spcPct val="102000"/>
              </a:lnSpc>
              <a:buNone/>
            </a:pPr>
            <a:r>
              <a:rPr lang="en-US" sz="1800" dirty="0">
                <a:solidFill>
                  <a:srgbClr val="27323A"/>
                </a:solidFill>
                <a:latin typeface="Courier New" pitchFamily="34" charset="0"/>
                <a:ea typeface="Courier New" pitchFamily="34" charset="-122"/>
                <a:cs typeface="Courier New" pitchFamily="34" charset="-120"/>
              </a:rPr>
              <a:t>terraform {</a:t>
            </a:r>
            <a:endParaRPr lang="en-US" sz="1800" dirty="0"/>
          </a:p>
          <a:p>
            <a:pPr indent="0" marL="0">
              <a:lnSpc>
                <a:spcPct val="102000"/>
              </a:lnSpc>
              <a:buNone/>
            </a:pPr>
            <a:r>
              <a:rPr lang="en-US" sz="1800" dirty="0">
                <a:solidFill>
                  <a:srgbClr val="27323A"/>
                </a:solidFill>
                <a:latin typeface="Courier New" pitchFamily="34" charset="0"/>
                <a:ea typeface="Courier New" pitchFamily="34" charset="-122"/>
                <a:cs typeface="Courier New" pitchFamily="34" charset="-120"/>
              </a:rPr>
              <a:t>  required_providers {</a:t>
            </a:r>
            <a:endParaRPr lang="en-US" sz="1800" dirty="0"/>
          </a:p>
          <a:p>
            <a:pPr indent="0" marL="0">
              <a:lnSpc>
                <a:spcPct val="102000"/>
              </a:lnSpc>
              <a:buNone/>
            </a:pPr>
            <a:r>
              <a:rPr lang="en-US" sz="1800" dirty="0">
                <a:solidFill>
                  <a:srgbClr val="27323A"/>
                </a:solidFill>
                <a:latin typeface="Courier New" pitchFamily="34" charset="0"/>
                <a:ea typeface="Courier New" pitchFamily="34" charset="-122"/>
                <a:cs typeface="Courier New" pitchFamily="34" charset="-120"/>
              </a:rPr>
              <a:t>    docker = {</a:t>
            </a:r>
            <a:endParaRPr lang="en-US" sz="1800" dirty="0"/>
          </a:p>
          <a:p>
            <a:pPr indent="0" marL="0">
              <a:lnSpc>
                <a:spcPct val="102000"/>
              </a:lnSpc>
              <a:buNone/>
            </a:pPr>
            <a:r>
              <a:rPr lang="en-US" sz="1800" dirty="0">
                <a:solidFill>
                  <a:srgbClr val="27323A"/>
                </a:solidFill>
                <a:latin typeface="Courier New" pitchFamily="34" charset="0"/>
                <a:ea typeface="Courier New" pitchFamily="34" charset="-122"/>
                <a:cs typeface="Courier New" pitchFamily="34" charset="-120"/>
              </a:rPr>
              <a:t>      source  = "kreuzwerker/docker"</a:t>
            </a:r>
            <a:endParaRPr lang="en-US" sz="1800" dirty="0"/>
          </a:p>
          <a:p>
            <a:pPr indent="0" marL="0">
              <a:lnSpc>
                <a:spcPct val="102000"/>
              </a:lnSpc>
              <a:buNone/>
            </a:pPr>
            <a:r>
              <a:rPr lang="en-US" sz="1800" dirty="0">
                <a:solidFill>
                  <a:srgbClr val="27323A"/>
                </a:solidFill>
                <a:latin typeface="Courier New" pitchFamily="34" charset="0"/>
                <a:ea typeface="Courier New" pitchFamily="34" charset="-122"/>
                <a:cs typeface="Courier New" pitchFamily="34" charset="-120"/>
              </a:rPr>
              <a:t>      version = "4.6.0"</a:t>
            </a:r>
            <a:endParaRPr lang="en-US" sz="1800" dirty="0"/>
          </a:p>
          <a:p>
            <a:pPr indent="0" marL="0">
              <a:lnSpc>
                <a:spcPct val="102000"/>
              </a:lnSpc>
              <a:buNone/>
            </a:pPr>
            <a:r>
              <a:rPr lang="en-US" sz="1800" dirty="0">
                <a:solidFill>
                  <a:srgbClr val="27323A"/>
                </a:solidFill>
                <a:latin typeface="Courier New" pitchFamily="34" charset="0"/>
                <a:ea typeface="Courier New" pitchFamily="34" charset="-122"/>
                <a:cs typeface="Courier New" pitchFamily="34" charset="-120"/>
              </a:rPr>
              <a:t>    }</a:t>
            </a:r>
            <a:endParaRPr lang="en-US" sz="1800" dirty="0"/>
          </a:p>
          <a:p>
            <a:pPr indent="0" marL="0">
              <a:lnSpc>
                <a:spcPct val="102000"/>
              </a:lnSpc>
              <a:buNone/>
            </a:pPr>
            <a:r>
              <a:rPr lang="en-US" sz="1800" dirty="0">
                <a:solidFill>
                  <a:srgbClr val="27323A"/>
                </a:solidFill>
                <a:latin typeface="Courier New" pitchFamily="34" charset="0"/>
                <a:ea typeface="Courier New" pitchFamily="34" charset="-122"/>
                <a:cs typeface="Courier New" pitchFamily="34" charset="-120"/>
              </a:rPr>
              <a:t>  }</a:t>
            </a:r>
            <a:endParaRPr lang="en-US" sz="1800" dirty="0"/>
          </a:p>
          <a:p>
            <a:pPr indent="0" marL="0">
              <a:lnSpc>
                <a:spcPct val="102000"/>
              </a:lnSpc>
              <a:buNone/>
            </a:pPr>
            <a:r>
              <a:rPr lang="en-US" sz="1800" dirty="0">
                <a:solidFill>
                  <a:srgbClr val="27323A"/>
                </a:solidFill>
                <a:latin typeface="Courier New" pitchFamily="34" charset="0"/>
                <a:ea typeface="Courier New" pitchFamily="34" charset="-122"/>
                <a:cs typeface="Courier New" pitchFamily="34" charset="-120"/>
              </a:rPr>
              <a:t>}</a:t>
            </a:r>
            <a:endParaRPr lang="en-US" sz="1800" dirty="0"/>
          </a:p>
          <a:p>
            <a:pPr indent="0" marL="0">
              <a:lnSpc>
                <a:spcPct val="102000"/>
              </a:lnSpc>
              <a:buNone/>
            </a:pPr>
            <a:endParaRPr lang="en-US" sz="1800" dirty="0"/>
          </a:p>
          <a:p>
            <a:pPr indent="0" marL="0">
              <a:lnSpc>
                <a:spcPct val="102000"/>
              </a:lnSpc>
              <a:buNone/>
            </a:pPr>
            <a:r>
              <a:rPr lang="en-US" sz="1800" dirty="0">
                <a:solidFill>
                  <a:srgbClr val="27323A"/>
                </a:solidFill>
                <a:latin typeface="Courier New" pitchFamily="34" charset="0"/>
                <a:ea typeface="Courier New" pitchFamily="34" charset="-122"/>
                <a:cs typeface="Courier New" pitchFamily="34" charset="-120"/>
              </a:rPr>
              <a:t>provider "docker" {}</a:t>
            </a:r>
            <a:endParaRPr lang="en-US" sz="1800" dirty="0"/>
          </a:p>
        </p:txBody>
      </p:sp>
      <p:sp>
        <p:nvSpPr>
          <p:cNvPr id="8" name="Text 6"/>
          <p:cNvSpPr/>
          <p:nvPr/>
        </p:nvSpPr>
        <p:spPr>
          <a:xfrm>
            <a:off x="7680960" y="2249424"/>
            <a:ext cx="3611880" cy="384048"/>
          </a:xfrm>
          <a:prstGeom prst="rect">
            <a:avLst/>
          </a:prstGeom>
          <a:noFill/>
          <a:ln/>
        </p:spPr>
        <p:txBody>
          <a:bodyPr wrap="square" lIns="0" tIns="0" rIns="0" bIns="0" rtlCol="0" anchor="t"/>
          <a:lstStyle/>
          <a:p>
            <a:pPr indent="0" marL="0">
              <a:buNone/>
            </a:pPr>
            <a:r>
              <a:rPr lang="en-US" sz="2200" b="1" dirty="0">
                <a:solidFill>
                  <a:srgbClr val="6543BD"/>
                </a:solidFill>
                <a:latin typeface="Arial" pitchFamily="34" charset="0"/>
                <a:ea typeface="Arial" pitchFamily="34" charset="-122"/>
                <a:cs typeface="Arial" pitchFamily="34" charset="-120"/>
              </a:rPr>
              <a:t>required_providers</a:t>
            </a:r>
            <a:endParaRPr lang="en-US" sz="2200" dirty="0"/>
          </a:p>
        </p:txBody>
      </p:sp>
      <p:sp>
        <p:nvSpPr>
          <p:cNvPr id="9" name="Text 7"/>
          <p:cNvSpPr/>
          <p:nvPr/>
        </p:nvSpPr>
        <p:spPr>
          <a:xfrm>
            <a:off x="7680960" y="2788920"/>
            <a:ext cx="3611880" cy="886968"/>
          </a:xfrm>
          <a:prstGeom prst="rect">
            <a:avLst/>
          </a:prstGeom>
          <a:noFill/>
          <a:ln/>
        </p:spPr>
        <p:txBody>
          <a:bodyPr wrap="square" lIns="0" tIns="0" rIns="0" bIns="0" rtlCol="0" anchor="t"/>
          <a:lstStyle/>
          <a:p>
            <a:pPr indent="0" marL="0">
              <a:buNone/>
            </a:pPr>
            <a:r>
              <a:rPr lang="en-US" sz="1900" dirty="0">
                <a:solidFill>
                  <a:srgbClr val="555F69"/>
                </a:solidFill>
                <a:latin typeface="Arial" pitchFamily="34" charset="0"/>
                <a:ea typeface="Arial" pitchFamily="34" charset="-122"/>
                <a:cs typeface="Arial" pitchFamily="34" charset="-120"/>
              </a:rPr>
              <a:t>Declara el origen del plugin y la versión 4.6.0 usada en este ejemplo.</a:t>
            </a:r>
            <a:endParaRPr lang="en-US" sz="1900" dirty="0"/>
          </a:p>
        </p:txBody>
      </p:sp>
      <p:sp>
        <p:nvSpPr>
          <p:cNvPr id="10" name="Text 8"/>
          <p:cNvSpPr/>
          <p:nvPr/>
        </p:nvSpPr>
        <p:spPr>
          <a:xfrm>
            <a:off x="7680960" y="4352544"/>
            <a:ext cx="3611880" cy="384048"/>
          </a:xfrm>
          <a:prstGeom prst="rect">
            <a:avLst/>
          </a:prstGeom>
          <a:noFill/>
          <a:ln/>
        </p:spPr>
        <p:txBody>
          <a:bodyPr wrap="square" lIns="0" tIns="0" rIns="0" bIns="0" rtlCol="0" anchor="t"/>
          <a:lstStyle/>
          <a:p>
            <a:pPr indent="0" marL="0">
              <a:buNone/>
            </a:pPr>
            <a:r>
              <a:rPr lang="en-US" sz="2200" b="1" dirty="0">
                <a:solidFill>
                  <a:srgbClr val="6543BD"/>
                </a:solidFill>
                <a:latin typeface="Arial" pitchFamily="34" charset="0"/>
                <a:ea typeface="Arial" pitchFamily="34" charset="-122"/>
                <a:cs typeface="Arial" pitchFamily="34" charset="-120"/>
              </a:rPr>
              <a:t>provider "docker"</a:t>
            </a:r>
            <a:endParaRPr lang="en-US" sz="2200" dirty="0"/>
          </a:p>
        </p:txBody>
      </p:sp>
      <p:sp>
        <p:nvSpPr>
          <p:cNvPr id="11" name="Text 9"/>
          <p:cNvSpPr/>
          <p:nvPr/>
        </p:nvSpPr>
        <p:spPr>
          <a:xfrm>
            <a:off x="7680960" y="4892040"/>
            <a:ext cx="3611880" cy="941832"/>
          </a:xfrm>
          <a:prstGeom prst="rect">
            <a:avLst/>
          </a:prstGeom>
          <a:noFill/>
          <a:ln/>
        </p:spPr>
        <p:txBody>
          <a:bodyPr wrap="square" lIns="0" tIns="0" rIns="0" bIns="0" rtlCol="0" anchor="t"/>
          <a:lstStyle/>
          <a:p>
            <a:pPr indent="0" marL="0">
              <a:buNone/>
            </a:pPr>
            <a:r>
              <a:rPr lang="en-US" sz="1900" dirty="0">
                <a:solidFill>
                  <a:srgbClr val="555F69"/>
                </a:solidFill>
                <a:latin typeface="Arial" pitchFamily="34" charset="0"/>
                <a:ea typeface="Arial" pitchFamily="34" charset="-122"/>
                <a:cs typeface="Arial" pitchFamily="34" charset="-120"/>
              </a:rPr>
              <a:t>Configura la conexión con Docker. El daemon debe estar activo y accesible.</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Configuración de los recursos Nginx</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main.tf · Parte 2</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Código HCL</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12 / 21</a:t>
            </a:r>
            <a:endParaRPr lang="en-US" sz="1050" dirty="0"/>
          </a:p>
        </p:txBody>
      </p:sp>
      <p:sp>
        <p:nvSpPr>
          <p:cNvPr id="6" name="Shape 4"/>
          <p:cNvSpPr/>
          <p:nvPr/>
        </p:nvSpPr>
        <p:spPr>
          <a:xfrm>
            <a:off x="667512" y="1965960"/>
            <a:ext cx="7178040" cy="4270248"/>
          </a:xfrm>
          <a:prstGeom prst="rect">
            <a:avLst/>
          </a:prstGeom>
          <a:solidFill>
            <a:srgbClr val="F4F5F7"/>
          </a:solidFill>
          <a:ln w="8890">
            <a:solidFill>
              <a:srgbClr val="F4F5F7"/>
            </a:solidFill>
            <a:prstDash val="solid"/>
          </a:ln>
        </p:spPr>
      </p:sp>
      <p:sp>
        <p:nvSpPr>
          <p:cNvPr id="7" name="Text 5"/>
          <p:cNvSpPr/>
          <p:nvPr/>
        </p:nvSpPr>
        <p:spPr>
          <a:xfrm>
            <a:off x="896112" y="2176272"/>
            <a:ext cx="6720840" cy="3849624"/>
          </a:xfrm>
          <a:prstGeom prst="rect">
            <a:avLst/>
          </a:prstGeom>
          <a:noFill/>
          <a:ln/>
        </p:spPr>
        <p:txBody>
          <a:bodyPr wrap="square" lIns="0" tIns="0" rIns="0" bIns="0" rtlCol="0" anchor="t"/>
          <a:lstStyle/>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resource "docker_image" "nginx" {</a:t>
            </a:r>
            <a:endParaRPr lang="en-US" sz="1600" dirty="0"/>
          </a:p>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  name         = "nginx:alpine"</a:t>
            </a:r>
            <a:endParaRPr lang="en-US" sz="1600" dirty="0"/>
          </a:p>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  keep_locally = true</a:t>
            </a:r>
            <a:endParaRPr lang="en-US" sz="1600" dirty="0"/>
          </a:p>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a:t>
            </a:r>
            <a:endParaRPr lang="en-US" sz="1600" dirty="0"/>
          </a:p>
          <a:p>
            <a:pPr indent="0" marL="0">
              <a:lnSpc>
                <a:spcPct val="102000"/>
              </a:lnSpc>
              <a:buNone/>
            </a:pPr>
            <a:endParaRPr lang="en-US" sz="1600" dirty="0"/>
          </a:p>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resource "docker_container" "web" {</a:t>
            </a:r>
            <a:endParaRPr lang="en-US" sz="1600" dirty="0"/>
          </a:p>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  name  = "web-terraform"</a:t>
            </a:r>
            <a:endParaRPr lang="en-US" sz="1600" dirty="0"/>
          </a:p>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  image = docker_image.nginx.image_id</a:t>
            </a:r>
            <a:endParaRPr lang="en-US" sz="1600" dirty="0"/>
          </a:p>
          <a:p>
            <a:pPr indent="0" marL="0">
              <a:lnSpc>
                <a:spcPct val="102000"/>
              </a:lnSpc>
              <a:buNone/>
            </a:pPr>
            <a:endParaRPr lang="en-US" sz="1600" dirty="0"/>
          </a:p>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  ports {</a:t>
            </a:r>
            <a:endParaRPr lang="en-US" sz="1600" dirty="0"/>
          </a:p>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    internal = 80</a:t>
            </a:r>
            <a:endParaRPr lang="en-US" sz="1600" dirty="0"/>
          </a:p>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    external = 8080</a:t>
            </a:r>
            <a:endParaRPr lang="en-US" sz="1600" dirty="0"/>
          </a:p>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    ip       = "127.0.0.1"</a:t>
            </a:r>
            <a:endParaRPr lang="en-US" sz="1600" dirty="0"/>
          </a:p>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  }</a:t>
            </a:r>
            <a:endParaRPr lang="en-US" sz="1600" dirty="0"/>
          </a:p>
          <a:p>
            <a:pPr indent="0" marL="0">
              <a:lnSpc>
                <a:spcPct val="102000"/>
              </a:lnSpc>
              <a:buNone/>
            </a:pPr>
            <a:r>
              <a:rPr lang="en-US" sz="1600" dirty="0">
                <a:solidFill>
                  <a:srgbClr val="27323A"/>
                </a:solidFill>
                <a:latin typeface="Courier New" pitchFamily="34" charset="0"/>
                <a:ea typeface="Courier New" pitchFamily="34" charset="-122"/>
                <a:cs typeface="Courier New" pitchFamily="34" charset="-120"/>
              </a:rPr>
              <a:t>}</a:t>
            </a:r>
            <a:endParaRPr lang="en-US" sz="1600" dirty="0"/>
          </a:p>
        </p:txBody>
      </p:sp>
      <p:sp>
        <p:nvSpPr>
          <p:cNvPr id="8" name="Shape 6"/>
          <p:cNvSpPr/>
          <p:nvPr/>
        </p:nvSpPr>
        <p:spPr>
          <a:xfrm>
            <a:off x="8375904" y="2103120"/>
            <a:ext cx="3136392" cy="1097280"/>
          </a:xfrm>
          <a:prstGeom prst="rect">
            <a:avLst/>
          </a:prstGeom>
          <a:solidFill>
            <a:srgbClr val="F4F5F7"/>
          </a:solidFill>
          <a:ln w="8890">
            <a:solidFill>
              <a:srgbClr val="DDE1E6"/>
            </a:solidFill>
            <a:prstDash val="solid"/>
          </a:ln>
        </p:spPr>
      </p:sp>
      <p:sp>
        <p:nvSpPr>
          <p:cNvPr id="9" name="Text 7"/>
          <p:cNvSpPr/>
          <p:nvPr/>
        </p:nvSpPr>
        <p:spPr>
          <a:xfrm>
            <a:off x="8540496" y="2304288"/>
            <a:ext cx="2807208" cy="530352"/>
          </a:xfrm>
          <a:prstGeom prst="rect">
            <a:avLst/>
          </a:prstGeom>
          <a:noFill/>
          <a:ln/>
        </p:spPr>
        <p:txBody>
          <a:bodyPr wrap="square" lIns="0" tIns="0" rIns="0" bIns="0" rtlCol="0" anchor="t"/>
          <a:lstStyle/>
          <a:p>
            <a:pPr indent="0" marL="0">
              <a:buNone/>
            </a:pPr>
            <a:r>
              <a:rPr lang="en-US" sz="1900" b="1" dirty="0">
                <a:solidFill>
                  <a:srgbClr val="27323A"/>
                </a:solidFill>
                <a:latin typeface="Arial" pitchFamily="34" charset="0"/>
                <a:ea typeface="Arial" pitchFamily="34" charset="-122"/>
                <a:cs typeface="Arial" pitchFamily="34" charset="-120"/>
              </a:rPr>
              <a:t>Imagen</a:t>
            </a:r>
            <a:endParaRPr lang="en-US" sz="1900" dirty="0"/>
          </a:p>
        </p:txBody>
      </p:sp>
      <p:sp>
        <p:nvSpPr>
          <p:cNvPr id="10" name="Text 8"/>
          <p:cNvSpPr/>
          <p:nvPr/>
        </p:nvSpPr>
        <p:spPr>
          <a:xfrm>
            <a:off x="8540496" y="2798064"/>
            <a:ext cx="2807208" cy="32004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nginx:alpine</a:t>
            </a:r>
            <a:endParaRPr lang="en-US" sz="1550" dirty="0"/>
          </a:p>
        </p:txBody>
      </p:sp>
      <p:sp>
        <p:nvSpPr>
          <p:cNvPr id="11" name="Shape 9"/>
          <p:cNvSpPr/>
          <p:nvPr/>
        </p:nvSpPr>
        <p:spPr>
          <a:xfrm>
            <a:off x="9939528" y="3291840"/>
            <a:ext cx="0" cy="411480"/>
          </a:xfrm>
          <a:prstGeom prst="line">
            <a:avLst/>
          </a:prstGeom>
          <a:noFill/>
          <a:ln w="13970">
            <a:solidFill>
              <a:srgbClr val="6543BD"/>
            </a:solidFill>
            <a:prstDash val="solid"/>
            <a:tailEnd type="triangle"/>
          </a:ln>
        </p:spPr>
      </p:sp>
      <p:sp>
        <p:nvSpPr>
          <p:cNvPr id="12" name="Shape 10"/>
          <p:cNvSpPr/>
          <p:nvPr/>
        </p:nvSpPr>
        <p:spPr>
          <a:xfrm>
            <a:off x="8375904" y="3822192"/>
            <a:ext cx="3136392" cy="1097280"/>
          </a:xfrm>
          <a:prstGeom prst="rect">
            <a:avLst/>
          </a:prstGeom>
          <a:solidFill>
            <a:srgbClr val="F0ECF8"/>
          </a:solidFill>
          <a:ln w="8890">
            <a:solidFill>
              <a:srgbClr val="6543BD"/>
            </a:solidFill>
            <a:prstDash val="solid"/>
          </a:ln>
        </p:spPr>
      </p:sp>
      <p:sp>
        <p:nvSpPr>
          <p:cNvPr id="13" name="Text 11"/>
          <p:cNvSpPr/>
          <p:nvPr/>
        </p:nvSpPr>
        <p:spPr>
          <a:xfrm>
            <a:off x="8540496" y="4023360"/>
            <a:ext cx="2807208" cy="530352"/>
          </a:xfrm>
          <a:prstGeom prst="rect">
            <a:avLst/>
          </a:prstGeom>
          <a:noFill/>
          <a:ln/>
        </p:spPr>
        <p:txBody>
          <a:bodyPr wrap="square" lIns="0" tIns="0" rIns="0" bIns="0" rtlCol="0" anchor="t"/>
          <a:lstStyle/>
          <a:p>
            <a:pPr indent="0" marL="0">
              <a:buNone/>
            </a:pPr>
            <a:r>
              <a:rPr lang="en-US" sz="1900" b="1" dirty="0">
                <a:solidFill>
                  <a:srgbClr val="6543BD"/>
                </a:solidFill>
                <a:latin typeface="Arial" pitchFamily="34" charset="0"/>
                <a:ea typeface="Arial" pitchFamily="34" charset="-122"/>
                <a:cs typeface="Arial" pitchFamily="34" charset="-120"/>
              </a:rPr>
              <a:t>Contenedor</a:t>
            </a:r>
            <a:endParaRPr lang="en-US" sz="1900" dirty="0"/>
          </a:p>
        </p:txBody>
      </p:sp>
      <p:sp>
        <p:nvSpPr>
          <p:cNvPr id="14" name="Text 12"/>
          <p:cNvSpPr/>
          <p:nvPr/>
        </p:nvSpPr>
        <p:spPr>
          <a:xfrm>
            <a:off x="8540496" y="4517136"/>
            <a:ext cx="2807208" cy="32004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web-terraform</a:t>
            </a:r>
            <a:endParaRPr lang="en-US" sz="1550" dirty="0"/>
          </a:p>
        </p:txBody>
      </p:sp>
      <p:sp>
        <p:nvSpPr>
          <p:cNvPr id="15" name="Text 13"/>
          <p:cNvSpPr/>
          <p:nvPr/>
        </p:nvSpPr>
        <p:spPr>
          <a:xfrm>
            <a:off x="8375904" y="5303520"/>
            <a:ext cx="3200400" cy="347472"/>
          </a:xfrm>
          <a:prstGeom prst="rect">
            <a:avLst/>
          </a:prstGeom>
          <a:noFill/>
          <a:ln/>
        </p:spPr>
        <p:txBody>
          <a:bodyPr wrap="square" lIns="0" tIns="0" rIns="0" bIns="0" rtlCol="0" anchor="t"/>
          <a:lstStyle/>
          <a:p>
            <a:pPr indent="0" marL="0">
              <a:buNone/>
            </a:pPr>
            <a:r>
              <a:rPr lang="en-US" sz="1900" b="1" dirty="0">
                <a:solidFill>
                  <a:srgbClr val="6543BD"/>
                </a:solidFill>
                <a:latin typeface="Arial" pitchFamily="34" charset="0"/>
                <a:ea typeface="Arial" pitchFamily="34" charset="-122"/>
                <a:cs typeface="Arial" pitchFamily="34" charset="-120"/>
              </a:rPr>
              <a:t>http://localhost:8080</a:t>
            </a:r>
            <a:endParaRPr lang="en-US" sz="1900" dirty="0"/>
          </a:p>
        </p:txBody>
      </p:sp>
      <p:sp>
        <p:nvSpPr>
          <p:cNvPr id="16" name="Text 14"/>
          <p:cNvSpPr/>
          <p:nvPr/>
        </p:nvSpPr>
        <p:spPr>
          <a:xfrm>
            <a:off x="8375904" y="5788152"/>
            <a:ext cx="3108960" cy="41148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Servicio en el equipo local</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Desglose del código HCL</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Cada bloque o referencia expresa una parte del resultado deseado.</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Código HCL</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13 / 21</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7512" y="2039112"/>
          <a:ext cx="10863072" cy="914400"/>
        </p:xfrm>
        <a:graphic>
          <a:graphicData uri="http://schemas.openxmlformats.org/drawingml/2006/table">
            <a:tbl>
              <a:tblPr/>
              <a:tblGrid>
                <a:gridCol w="4553712"/>
                <a:gridCol w="6309360"/>
              </a:tblGrid>
              <a:tr h="685800">
                <a:tc>
                  <a:txBody>
                    <a:bodyPr/>
                    <a:lstStyle/>
                    <a:p>
                      <a:pPr indent="0" marL="0">
                        <a:buNone/>
                      </a:pPr>
                      <a:r>
                        <a:rPr lang="en-US" sz="1700" b="1" dirty="0">
                          <a:solidFill>
                            <a:srgbClr val="27323A"/>
                          </a:solidFill>
                          <a:latin typeface="Arial" pitchFamily="34" charset="0"/>
                          <a:ea typeface="Arial" pitchFamily="34" charset="-122"/>
                          <a:cs typeface="Arial" pitchFamily="34" charset="-120"/>
                        </a:rPr>
                        <a:t>terraform / required_providers</a:t>
                      </a:r>
                      <a:endParaRPr lang="en-US" sz="17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700" dirty="0">
                          <a:solidFill>
                            <a:srgbClr val="555F69"/>
                          </a:solidFill>
                          <a:latin typeface="Arial" pitchFamily="34" charset="0"/>
                          <a:ea typeface="Arial" pitchFamily="34" charset="-122"/>
                          <a:cs typeface="Arial" pitchFamily="34" charset="-120"/>
                        </a:rPr>
                        <a:t>Selecciona el provider Docker y la versión requerida.</a:t>
                      </a:r>
                      <a:endParaRPr lang="en-US" sz="17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685800">
                <a:tc>
                  <a:txBody>
                    <a:bodyPr/>
                    <a:lstStyle/>
                    <a:p>
                      <a:pPr indent="0" marL="0">
                        <a:buNone/>
                      </a:pPr>
                      <a:r>
                        <a:rPr lang="en-US" sz="1700" b="1" dirty="0">
                          <a:solidFill>
                            <a:srgbClr val="27323A"/>
                          </a:solidFill>
                          <a:latin typeface="Arial" pitchFamily="34" charset="0"/>
                          <a:ea typeface="Arial" pitchFamily="34" charset="-122"/>
                          <a:cs typeface="Arial" pitchFamily="34" charset="-120"/>
                        </a:rPr>
                        <a:t>resource "docker_image"</a:t>
                      </a:r>
                      <a:endParaRPr lang="en-US" sz="17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700" dirty="0">
                          <a:solidFill>
                            <a:srgbClr val="555F69"/>
                          </a:solidFill>
                          <a:latin typeface="Arial" pitchFamily="34" charset="0"/>
                          <a:ea typeface="Arial" pitchFamily="34" charset="-122"/>
                          <a:cs typeface="Arial" pitchFamily="34" charset="-120"/>
                        </a:rPr>
                        <a:t>Administra la imagen Nginx en el host Docker.</a:t>
                      </a:r>
                      <a:endParaRPr lang="en-US" sz="17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r h="685800">
                <a:tc>
                  <a:txBody>
                    <a:bodyPr/>
                    <a:lstStyle/>
                    <a:p>
                      <a:pPr indent="0" marL="0">
                        <a:buNone/>
                      </a:pPr>
                      <a:r>
                        <a:rPr lang="en-US" sz="1700" b="1" dirty="0">
                          <a:solidFill>
                            <a:srgbClr val="27323A"/>
                          </a:solidFill>
                          <a:latin typeface="Arial" pitchFamily="34" charset="0"/>
                          <a:ea typeface="Arial" pitchFamily="34" charset="-122"/>
                          <a:cs typeface="Arial" pitchFamily="34" charset="-120"/>
                        </a:rPr>
                        <a:t>resource "docker_container"</a:t>
                      </a:r>
                      <a:endParaRPr lang="en-US" sz="17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700" dirty="0">
                          <a:solidFill>
                            <a:srgbClr val="555F69"/>
                          </a:solidFill>
                          <a:latin typeface="Arial" pitchFamily="34" charset="0"/>
                          <a:ea typeface="Arial" pitchFamily="34" charset="-122"/>
                          <a:cs typeface="Arial" pitchFamily="34" charset="-120"/>
                        </a:rPr>
                        <a:t>Crea y administra el contenedor.</a:t>
                      </a:r>
                      <a:endParaRPr lang="en-US" sz="17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685800">
                <a:tc>
                  <a:txBody>
                    <a:bodyPr/>
                    <a:lstStyle/>
                    <a:p>
                      <a:pPr indent="0" marL="0">
                        <a:buNone/>
                      </a:pPr>
                      <a:r>
                        <a:rPr lang="en-US" sz="1700" b="1" dirty="0">
                          <a:solidFill>
                            <a:srgbClr val="27323A"/>
                          </a:solidFill>
                          <a:latin typeface="Arial" pitchFamily="34" charset="0"/>
                          <a:ea typeface="Arial" pitchFamily="34" charset="-122"/>
                          <a:cs typeface="Arial" pitchFamily="34" charset="-120"/>
                        </a:rPr>
                        <a:t>docker_image.nginx.image_id</a:t>
                      </a:r>
                      <a:endParaRPr lang="en-US" sz="17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700" dirty="0">
                          <a:solidFill>
                            <a:srgbClr val="555F69"/>
                          </a:solidFill>
                          <a:latin typeface="Arial" pitchFamily="34" charset="0"/>
                          <a:ea typeface="Arial" pitchFamily="34" charset="-122"/>
                          <a:cs typeface="Arial" pitchFamily="34" charset="-120"/>
                        </a:rPr>
                        <a:t>Usa el ID de la imagen y genera una dependencia implícita.</a:t>
                      </a:r>
                      <a:endParaRPr lang="en-US" sz="17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r h="685800">
                <a:tc>
                  <a:txBody>
                    <a:bodyPr/>
                    <a:lstStyle/>
                    <a:p>
                      <a:pPr indent="0" marL="0">
                        <a:buNone/>
                      </a:pPr>
                      <a:r>
                        <a:rPr lang="en-US" sz="1700" b="1" dirty="0">
                          <a:solidFill>
                            <a:srgbClr val="27323A"/>
                          </a:solidFill>
                          <a:latin typeface="Arial" pitchFamily="34" charset="0"/>
                          <a:ea typeface="Arial" pitchFamily="34" charset="-122"/>
                          <a:cs typeface="Arial" pitchFamily="34" charset="-120"/>
                        </a:rPr>
                        <a:t>internal = 80 / external = 8080</a:t>
                      </a:r>
                      <a:endParaRPr lang="en-US" sz="17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700" dirty="0">
                          <a:solidFill>
                            <a:srgbClr val="555F69"/>
                          </a:solidFill>
                          <a:latin typeface="Arial" pitchFamily="34" charset="0"/>
                          <a:ea typeface="Arial" pitchFamily="34" charset="-122"/>
                          <a:cs typeface="Arial" pitchFamily="34" charset="-120"/>
                        </a:rPr>
                        <a:t>Publica en el host el puerto del contenedor.</a:t>
                      </a:r>
                      <a:endParaRPr lang="en-US" sz="170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bl>
          </a:graphicData>
        </a:graphic>
      </p:graphicFrame>
      <p:sp>
        <p:nvSpPr>
          <p:cNvPr id="7" name="Text 4"/>
          <p:cNvSpPr/>
          <p:nvPr/>
        </p:nvSpPr>
        <p:spPr>
          <a:xfrm>
            <a:off x="685800" y="5779008"/>
            <a:ext cx="3017520" cy="320040"/>
          </a:xfrm>
          <a:prstGeom prst="rect">
            <a:avLst/>
          </a:prstGeom>
          <a:noFill/>
          <a:ln/>
        </p:spPr>
        <p:txBody>
          <a:bodyPr wrap="square" lIns="0" tIns="0" rIns="0" bIns="0" rtlCol="0" anchor="t"/>
          <a:lstStyle/>
          <a:p>
            <a:pPr indent="0" marL="0">
              <a:buNone/>
            </a:pPr>
            <a:r>
              <a:rPr lang="en-US" sz="1650" b="1" dirty="0">
                <a:solidFill>
                  <a:srgbClr val="6543BD"/>
                </a:solidFill>
                <a:latin typeface="Arial" pitchFamily="34" charset="0"/>
                <a:ea typeface="Arial" pitchFamily="34" charset="-122"/>
                <a:cs typeface="Arial" pitchFamily="34" charset="-120"/>
              </a:rPr>
              <a:t>Ajustes del laboratorio</a:t>
            </a:r>
            <a:endParaRPr lang="en-US" sz="1650" dirty="0"/>
          </a:p>
        </p:txBody>
      </p:sp>
      <p:sp>
        <p:nvSpPr>
          <p:cNvPr id="8" name="Text 5"/>
          <p:cNvSpPr/>
          <p:nvPr/>
        </p:nvSpPr>
        <p:spPr>
          <a:xfrm>
            <a:off x="3730752" y="5779008"/>
            <a:ext cx="7708392" cy="347472"/>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ip limita el acceso local. keep_locally conserva la imagen al limpiar</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Comandos del ciclo de vida</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Preparar, validar, revisar y aplicar los cambios.</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Comandos</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14 / 21</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7512" y="1993392"/>
          <a:ext cx="10863072" cy="914400"/>
        </p:xfrm>
        <a:graphic>
          <a:graphicData uri="http://schemas.openxmlformats.org/drawingml/2006/table">
            <a:tbl>
              <a:tblPr/>
              <a:tblGrid>
                <a:gridCol w="3035808"/>
                <a:gridCol w="7827264"/>
              </a:tblGrid>
              <a:tr h="548640">
                <a:tc>
                  <a:txBody>
                    <a:bodyPr/>
                    <a:lstStyle/>
                    <a:p>
                      <a:pPr indent="0" marL="0">
                        <a:buNone/>
                      </a:pPr>
                      <a:r>
                        <a:rPr lang="en-US" sz="1750" b="1" dirty="0">
                          <a:solidFill>
                            <a:srgbClr val="27323A"/>
                          </a:solidFill>
                          <a:latin typeface="Arial" pitchFamily="34" charset="0"/>
                          <a:ea typeface="Arial" pitchFamily="34" charset="-122"/>
                          <a:cs typeface="Arial" pitchFamily="34" charset="-120"/>
                        </a:rPr>
                        <a:t>terraform init</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750" dirty="0">
                          <a:solidFill>
                            <a:srgbClr val="555F69"/>
                          </a:solidFill>
                          <a:latin typeface="Arial" pitchFamily="34" charset="0"/>
                          <a:ea typeface="Arial" pitchFamily="34" charset="-122"/>
                          <a:cs typeface="Arial" pitchFamily="34" charset="-120"/>
                        </a:rPr>
                        <a:t>Inicializa el backend e instala providers y módulos.</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548640">
                <a:tc>
                  <a:txBody>
                    <a:bodyPr/>
                    <a:lstStyle/>
                    <a:p>
                      <a:pPr indent="0" marL="0">
                        <a:buNone/>
                      </a:pPr>
                      <a:r>
                        <a:rPr lang="en-US" sz="1750" b="1" dirty="0">
                          <a:solidFill>
                            <a:srgbClr val="27323A"/>
                          </a:solidFill>
                          <a:latin typeface="Arial" pitchFamily="34" charset="0"/>
                          <a:ea typeface="Arial" pitchFamily="34" charset="-122"/>
                          <a:cs typeface="Arial" pitchFamily="34" charset="-120"/>
                        </a:rPr>
                        <a:t>terraform fmt</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750" dirty="0">
                          <a:solidFill>
                            <a:srgbClr val="555F69"/>
                          </a:solidFill>
                          <a:latin typeface="Arial" pitchFamily="34" charset="0"/>
                          <a:ea typeface="Arial" pitchFamily="34" charset="-122"/>
                          <a:cs typeface="Arial" pitchFamily="34" charset="-120"/>
                        </a:rPr>
                        <a:t>Aplica el formato estándar a la configuración.</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r h="548640">
                <a:tc>
                  <a:txBody>
                    <a:bodyPr/>
                    <a:lstStyle/>
                    <a:p>
                      <a:pPr indent="0" marL="0">
                        <a:buNone/>
                      </a:pPr>
                      <a:r>
                        <a:rPr lang="en-US" sz="1750" b="1" dirty="0">
                          <a:solidFill>
                            <a:srgbClr val="27323A"/>
                          </a:solidFill>
                          <a:latin typeface="Arial" pitchFamily="34" charset="0"/>
                          <a:ea typeface="Arial" pitchFamily="34" charset="-122"/>
                          <a:cs typeface="Arial" pitchFamily="34" charset="-120"/>
                        </a:rPr>
                        <a:t>terraform validate</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750" dirty="0">
                          <a:solidFill>
                            <a:srgbClr val="555F69"/>
                          </a:solidFill>
                          <a:latin typeface="Arial" pitchFamily="34" charset="0"/>
                          <a:ea typeface="Arial" pitchFamily="34" charset="-122"/>
                          <a:cs typeface="Arial" pitchFamily="34" charset="-120"/>
                        </a:rPr>
                        <a:t>Comprueba sintaxis y consistencia interna.</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548640">
                <a:tc>
                  <a:txBody>
                    <a:bodyPr/>
                    <a:lstStyle/>
                    <a:p>
                      <a:pPr indent="0" marL="0">
                        <a:buNone/>
                      </a:pPr>
                      <a:r>
                        <a:rPr lang="en-US" sz="1750" b="1" dirty="0">
                          <a:solidFill>
                            <a:srgbClr val="27323A"/>
                          </a:solidFill>
                          <a:latin typeface="Arial" pitchFamily="34" charset="0"/>
                          <a:ea typeface="Arial" pitchFamily="34" charset="-122"/>
                          <a:cs typeface="Arial" pitchFamily="34" charset="-120"/>
                        </a:rPr>
                        <a:t>terraform plan</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750" dirty="0">
                          <a:solidFill>
                            <a:srgbClr val="555F69"/>
                          </a:solidFill>
                          <a:latin typeface="Arial" pitchFamily="34" charset="0"/>
                          <a:ea typeface="Arial" pitchFamily="34" charset="-122"/>
                          <a:cs typeface="Arial" pitchFamily="34" charset="-120"/>
                        </a:rPr>
                        <a:t>Consulta recursos y propone altas, cambios o bajas.</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r h="548640">
                <a:tc>
                  <a:txBody>
                    <a:bodyPr/>
                    <a:lstStyle/>
                    <a:p>
                      <a:pPr indent="0" marL="0">
                        <a:buNone/>
                      </a:pPr>
                      <a:r>
                        <a:rPr lang="en-US" sz="1750" b="1" dirty="0">
                          <a:solidFill>
                            <a:srgbClr val="27323A"/>
                          </a:solidFill>
                          <a:latin typeface="Arial" pitchFamily="34" charset="0"/>
                          <a:ea typeface="Arial" pitchFamily="34" charset="-122"/>
                          <a:cs typeface="Arial" pitchFamily="34" charset="-120"/>
                        </a:rPr>
                        <a:t>terraform apply</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750" dirty="0">
                          <a:solidFill>
                            <a:srgbClr val="555F69"/>
                          </a:solidFill>
                          <a:latin typeface="Arial" pitchFamily="34" charset="0"/>
                          <a:ea typeface="Arial" pitchFamily="34" charset="-122"/>
                          <a:cs typeface="Arial" pitchFamily="34" charset="-120"/>
                        </a:rPr>
                        <a:t>Genera o ejecuta un plan de cambios.</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548640">
                <a:tc>
                  <a:txBody>
                    <a:bodyPr/>
                    <a:lstStyle/>
                    <a:p>
                      <a:pPr indent="0" marL="0">
                        <a:buNone/>
                      </a:pPr>
                      <a:r>
                        <a:rPr lang="en-US" sz="1750" b="1" dirty="0">
                          <a:solidFill>
                            <a:srgbClr val="27323A"/>
                          </a:solidFill>
                          <a:latin typeface="Arial" pitchFamily="34" charset="0"/>
                          <a:ea typeface="Arial" pitchFamily="34" charset="-122"/>
                          <a:cs typeface="Arial" pitchFamily="34" charset="-120"/>
                        </a:rPr>
                        <a:t>terraform destroy</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750" dirty="0">
                          <a:solidFill>
                            <a:srgbClr val="555F69"/>
                          </a:solidFill>
                          <a:latin typeface="Arial" pitchFamily="34" charset="0"/>
                          <a:ea typeface="Arial" pitchFamily="34" charset="-122"/>
                          <a:cs typeface="Arial" pitchFamily="34" charset="-120"/>
                        </a:rPr>
                        <a:t>Propone y aplica la eliminación de los recursos administrados.</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Text 4"/>
          <p:cNvSpPr/>
          <p:nvPr/>
        </p:nvSpPr>
        <p:spPr>
          <a:xfrm>
            <a:off x="685800" y="5824728"/>
            <a:ext cx="10771632" cy="384048"/>
          </a:xfrm>
          <a:prstGeom prst="rect">
            <a:avLst/>
          </a:prstGeom>
          <a:noFill/>
          <a:ln/>
        </p:spPr>
        <p:txBody>
          <a:bodyPr wrap="square" lIns="0" tIns="0" rIns="0" bIns="0" rtlCol="0" anchor="t"/>
          <a:lstStyle/>
          <a:p>
            <a:pPr indent="0" marL="0">
              <a:buNone/>
            </a:pPr>
            <a:r>
              <a:rPr lang="en-US" sz="1700" b="1" dirty="0">
                <a:solidFill>
                  <a:srgbClr val="6543BD"/>
                </a:solidFill>
                <a:latin typeface="Arial" pitchFamily="34" charset="0"/>
                <a:ea typeface="Arial" pitchFamily="34" charset="-122"/>
                <a:cs typeface="Arial" pitchFamily="34" charset="-120"/>
              </a:rPr>
              <a:t>validate no prueba el servicio desplegado. plan no modifica los recursos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Flujo de trabajo completo</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Del desarrollador al servicio accesible.</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Flujo</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15 / 21</a:t>
            </a:r>
            <a:endParaRPr lang="en-US" sz="1050" dirty="0"/>
          </a:p>
        </p:txBody>
      </p:sp>
      <p:sp>
        <p:nvSpPr>
          <p:cNvPr id="6" name="Text 4"/>
          <p:cNvSpPr/>
          <p:nvPr/>
        </p:nvSpPr>
        <p:spPr>
          <a:xfrm>
            <a:off x="667512" y="2221992"/>
            <a:ext cx="640080" cy="457200"/>
          </a:xfrm>
          <a:prstGeom prst="rect">
            <a:avLst/>
          </a:prstGeom>
          <a:noFill/>
          <a:ln/>
        </p:spPr>
        <p:txBody>
          <a:bodyPr wrap="square" lIns="0" tIns="0" rIns="0" bIns="0" rtlCol="0" anchor="t"/>
          <a:lstStyle/>
          <a:p>
            <a:pPr indent="0" marL="0">
              <a:buNone/>
            </a:pPr>
            <a:r>
              <a:rPr lang="en-US" sz="2700" b="1" dirty="0">
                <a:solidFill>
                  <a:srgbClr val="6543BD"/>
                </a:solidFill>
                <a:latin typeface="Arial" pitchFamily="34" charset="0"/>
                <a:ea typeface="Arial" pitchFamily="34" charset="-122"/>
                <a:cs typeface="Arial" pitchFamily="34" charset="-120"/>
              </a:rPr>
              <a:t>01</a:t>
            </a:r>
            <a:endParaRPr lang="en-US" sz="2700" dirty="0"/>
          </a:p>
        </p:txBody>
      </p:sp>
      <p:sp>
        <p:nvSpPr>
          <p:cNvPr id="7" name="Shape 5"/>
          <p:cNvSpPr/>
          <p:nvPr/>
        </p:nvSpPr>
        <p:spPr>
          <a:xfrm>
            <a:off x="667512" y="3017520"/>
            <a:ext cx="1929384" cy="1645920"/>
          </a:xfrm>
          <a:prstGeom prst="rect">
            <a:avLst/>
          </a:prstGeom>
          <a:solidFill>
            <a:srgbClr val="F4F5F7"/>
          </a:solidFill>
          <a:ln w="8890">
            <a:solidFill>
              <a:srgbClr val="DDE1E6"/>
            </a:solidFill>
            <a:prstDash val="solid"/>
          </a:ln>
        </p:spPr>
      </p:sp>
      <p:sp>
        <p:nvSpPr>
          <p:cNvPr id="8" name="Text 6"/>
          <p:cNvSpPr/>
          <p:nvPr/>
        </p:nvSpPr>
        <p:spPr>
          <a:xfrm>
            <a:off x="832104" y="3218688"/>
            <a:ext cx="1600200" cy="530352"/>
          </a:xfrm>
          <a:prstGeom prst="rect">
            <a:avLst/>
          </a:prstGeom>
          <a:noFill/>
          <a:ln/>
        </p:spPr>
        <p:txBody>
          <a:bodyPr wrap="square" lIns="0" tIns="0" rIns="0" bIns="0" rtlCol="0" anchor="t"/>
          <a:lstStyle/>
          <a:p>
            <a:pPr indent="0" marL="0">
              <a:buNone/>
            </a:pPr>
            <a:r>
              <a:rPr lang="en-US" sz="1750" b="1" dirty="0">
                <a:solidFill>
                  <a:srgbClr val="27323A"/>
                </a:solidFill>
                <a:latin typeface="Arial" pitchFamily="34" charset="0"/>
                <a:ea typeface="Arial" pitchFamily="34" charset="-122"/>
                <a:cs typeface="Arial" pitchFamily="34" charset="-120"/>
              </a:rPr>
              <a:t>Desarrollador</a:t>
            </a:r>
            <a:endParaRPr lang="en-US" sz="1750" dirty="0"/>
          </a:p>
        </p:txBody>
      </p:sp>
      <p:sp>
        <p:nvSpPr>
          <p:cNvPr id="9" name="Text 7"/>
          <p:cNvSpPr/>
          <p:nvPr/>
        </p:nvSpPr>
        <p:spPr>
          <a:xfrm>
            <a:off x="832104" y="3712464"/>
            <a:ext cx="1600200" cy="86868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Edita el proyecto</a:t>
            </a:r>
            <a:endParaRPr lang="en-US" sz="1550" dirty="0"/>
          </a:p>
        </p:txBody>
      </p:sp>
      <p:sp>
        <p:nvSpPr>
          <p:cNvPr id="10" name="Shape 8"/>
          <p:cNvSpPr/>
          <p:nvPr/>
        </p:nvSpPr>
        <p:spPr>
          <a:xfrm>
            <a:off x="2633472" y="3822192"/>
            <a:ext cx="228600" cy="0"/>
          </a:xfrm>
          <a:prstGeom prst="line">
            <a:avLst/>
          </a:prstGeom>
          <a:noFill/>
          <a:ln w="13970">
            <a:solidFill>
              <a:srgbClr val="6543BD"/>
            </a:solidFill>
            <a:prstDash val="solid"/>
            <a:tailEnd type="triangle"/>
          </a:ln>
        </p:spPr>
      </p:sp>
      <p:sp>
        <p:nvSpPr>
          <p:cNvPr id="11" name="Text 9"/>
          <p:cNvSpPr/>
          <p:nvPr/>
        </p:nvSpPr>
        <p:spPr>
          <a:xfrm>
            <a:off x="2898648" y="2221992"/>
            <a:ext cx="640080" cy="457200"/>
          </a:xfrm>
          <a:prstGeom prst="rect">
            <a:avLst/>
          </a:prstGeom>
          <a:noFill/>
          <a:ln/>
        </p:spPr>
        <p:txBody>
          <a:bodyPr wrap="square" lIns="0" tIns="0" rIns="0" bIns="0" rtlCol="0" anchor="t"/>
          <a:lstStyle/>
          <a:p>
            <a:pPr indent="0" marL="0">
              <a:buNone/>
            </a:pPr>
            <a:r>
              <a:rPr lang="en-US" sz="2700" b="1" dirty="0">
                <a:solidFill>
                  <a:srgbClr val="6543BD"/>
                </a:solidFill>
                <a:latin typeface="Arial" pitchFamily="34" charset="0"/>
                <a:ea typeface="Arial" pitchFamily="34" charset="-122"/>
                <a:cs typeface="Arial" pitchFamily="34" charset="-120"/>
              </a:rPr>
              <a:t>02</a:t>
            </a:r>
            <a:endParaRPr lang="en-US" sz="2700" dirty="0"/>
          </a:p>
        </p:txBody>
      </p:sp>
      <p:sp>
        <p:nvSpPr>
          <p:cNvPr id="12" name="Shape 10"/>
          <p:cNvSpPr/>
          <p:nvPr/>
        </p:nvSpPr>
        <p:spPr>
          <a:xfrm>
            <a:off x="2898648" y="3017520"/>
            <a:ext cx="1929384" cy="1645920"/>
          </a:xfrm>
          <a:prstGeom prst="rect">
            <a:avLst/>
          </a:prstGeom>
          <a:solidFill>
            <a:srgbClr val="F4F5F7"/>
          </a:solidFill>
          <a:ln w="8890">
            <a:solidFill>
              <a:srgbClr val="DDE1E6"/>
            </a:solidFill>
            <a:prstDash val="solid"/>
          </a:ln>
        </p:spPr>
      </p:sp>
      <p:sp>
        <p:nvSpPr>
          <p:cNvPr id="13" name="Text 11"/>
          <p:cNvSpPr/>
          <p:nvPr/>
        </p:nvSpPr>
        <p:spPr>
          <a:xfrm>
            <a:off x="3063240" y="3218688"/>
            <a:ext cx="1600200" cy="530352"/>
          </a:xfrm>
          <a:prstGeom prst="rect">
            <a:avLst/>
          </a:prstGeom>
          <a:noFill/>
          <a:ln/>
        </p:spPr>
        <p:txBody>
          <a:bodyPr wrap="square" lIns="0" tIns="0" rIns="0" bIns="0" rtlCol="0" anchor="t"/>
          <a:lstStyle/>
          <a:p>
            <a:pPr indent="0" marL="0">
              <a:buNone/>
            </a:pPr>
            <a:r>
              <a:rPr lang="en-US" sz="1750" b="1" dirty="0">
                <a:solidFill>
                  <a:srgbClr val="27323A"/>
                </a:solidFill>
                <a:latin typeface="Arial" pitchFamily="34" charset="0"/>
                <a:ea typeface="Arial" pitchFamily="34" charset="-122"/>
                <a:cs typeface="Arial" pitchFamily="34" charset="-120"/>
              </a:rPr>
              <a:t>Definición</a:t>
            </a:r>
            <a:endParaRPr lang="en-US" sz="1750" dirty="0"/>
          </a:p>
        </p:txBody>
      </p:sp>
      <p:sp>
        <p:nvSpPr>
          <p:cNvPr id="14" name="Text 12"/>
          <p:cNvSpPr/>
          <p:nvPr/>
        </p:nvSpPr>
        <p:spPr>
          <a:xfrm>
            <a:off x="3063240" y="3712464"/>
            <a:ext cx="1600200" cy="86868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Archivos .tf</a:t>
            </a:r>
            <a:endParaRPr lang="en-US" sz="1550" dirty="0"/>
          </a:p>
        </p:txBody>
      </p:sp>
      <p:sp>
        <p:nvSpPr>
          <p:cNvPr id="15" name="Shape 13"/>
          <p:cNvSpPr/>
          <p:nvPr/>
        </p:nvSpPr>
        <p:spPr>
          <a:xfrm>
            <a:off x="4864608" y="3822192"/>
            <a:ext cx="228600" cy="0"/>
          </a:xfrm>
          <a:prstGeom prst="line">
            <a:avLst/>
          </a:prstGeom>
          <a:noFill/>
          <a:ln w="13970">
            <a:solidFill>
              <a:srgbClr val="6543BD"/>
            </a:solidFill>
            <a:prstDash val="solid"/>
            <a:tailEnd type="triangle"/>
          </a:ln>
        </p:spPr>
      </p:sp>
      <p:sp>
        <p:nvSpPr>
          <p:cNvPr id="16" name="Text 14"/>
          <p:cNvSpPr/>
          <p:nvPr/>
        </p:nvSpPr>
        <p:spPr>
          <a:xfrm>
            <a:off x="5129784" y="2221992"/>
            <a:ext cx="640080" cy="457200"/>
          </a:xfrm>
          <a:prstGeom prst="rect">
            <a:avLst/>
          </a:prstGeom>
          <a:noFill/>
          <a:ln/>
        </p:spPr>
        <p:txBody>
          <a:bodyPr wrap="square" lIns="0" tIns="0" rIns="0" bIns="0" rtlCol="0" anchor="t"/>
          <a:lstStyle/>
          <a:p>
            <a:pPr indent="0" marL="0">
              <a:buNone/>
            </a:pPr>
            <a:r>
              <a:rPr lang="en-US" sz="2700" b="1" dirty="0">
                <a:solidFill>
                  <a:srgbClr val="6543BD"/>
                </a:solidFill>
                <a:latin typeface="Arial" pitchFamily="34" charset="0"/>
                <a:ea typeface="Arial" pitchFamily="34" charset="-122"/>
                <a:cs typeface="Arial" pitchFamily="34" charset="-120"/>
              </a:rPr>
              <a:t>03</a:t>
            </a:r>
            <a:endParaRPr lang="en-US" sz="2700" dirty="0"/>
          </a:p>
        </p:txBody>
      </p:sp>
      <p:sp>
        <p:nvSpPr>
          <p:cNvPr id="17" name="Shape 15"/>
          <p:cNvSpPr/>
          <p:nvPr/>
        </p:nvSpPr>
        <p:spPr>
          <a:xfrm>
            <a:off x="5129784" y="3017520"/>
            <a:ext cx="1929384" cy="1645920"/>
          </a:xfrm>
          <a:prstGeom prst="rect">
            <a:avLst/>
          </a:prstGeom>
          <a:solidFill>
            <a:srgbClr val="F0ECF8"/>
          </a:solidFill>
          <a:ln w="8890">
            <a:solidFill>
              <a:srgbClr val="6543BD"/>
            </a:solidFill>
            <a:prstDash val="solid"/>
          </a:ln>
        </p:spPr>
      </p:sp>
      <p:sp>
        <p:nvSpPr>
          <p:cNvPr id="18" name="Text 16"/>
          <p:cNvSpPr/>
          <p:nvPr/>
        </p:nvSpPr>
        <p:spPr>
          <a:xfrm>
            <a:off x="5294376" y="3218688"/>
            <a:ext cx="1600200" cy="530352"/>
          </a:xfrm>
          <a:prstGeom prst="rect">
            <a:avLst/>
          </a:prstGeom>
          <a:noFill/>
          <a:ln/>
        </p:spPr>
        <p:txBody>
          <a:bodyPr wrap="square" lIns="0" tIns="0" rIns="0" bIns="0" rtlCol="0" anchor="t"/>
          <a:lstStyle/>
          <a:p>
            <a:pPr indent="0" marL="0">
              <a:buNone/>
            </a:pPr>
            <a:r>
              <a:rPr lang="en-US" sz="1750" b="1" dirty="0">
                <a:solidFill>
                  <a:srgbClr val="6543BD"/>
                </a:solidFill>
                <a:latin typeface="Arial" pitchFamily="34" charset="0"/>
                <a:ea typeface="Arial" pitchFamily="34" charset="-122"/>
                <a:cs typeface="Arial" pitchFamily="34" charset="-120"/>
              </a:rPr>
              <a:t>Terraform</a:t>
            </a:r>
            <a:endParaRPr lang="en-US" sz="1750" dirty="0"/>
          </a:p>
        </p:txBody>
      </p:sp>
      <p:sp>
        <p:nvSpPr>
          <p:cNvPr id="19" name="Text 17"/>
          <p:cNvSpPr/>
          <p:nvPr/>
        </p:nvSpPr>
        <p:spPr>
          <a:xfrm>
            <a:off x="5294376" y="3712464"/>
            <a:ext cx="1600200" cy="86868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init, plan, apply</a:t>
            </a:r>
            <a:endParaRPr lang="en-US" sz="1550" dirty="0"/>
          </a:p>
        </p:txBody>
      </p:sp>
      <p:sp>
        <p:nvSpPr>
          <p:cNvPr id="20" name="Shape 18"/>
          <p:cNvSpPr/>
          <p:nvPr/>
        </p:nvSpPr>
        <p:spPr>
          <a:xfrm>
            <a:off x="7095744" y="3822192"/>
            <a:ext cx="228600" cy="0"/>
          </a:xfrm>
          <a:prstGeom prst="line">
            <a:avLst/>
          </a:prstGeom>
          <a:noFill/>
          <a:ln w="13970">
            <a:solidFill>
              <a:srgbClr val="6543BD"/>
            </a:solidFill>
            <a:prstDash val="solid"/>
            <a:tailEnd type="triangle"/>
          </a:ln>
        </p:spPr>
      </p:sp>
      <p:sp>
        <p:nvSpPr>
          <p:cNvPr id="21" name="Text 19"/>
          <p:cNvSpPr/>
          <p:nvPr/>
        </p:nvSpPr>
        <p:spPr>
          <a:xfrm>
            <a:off x="7360920" y="2221992"/>
            <a:ext cx="640080" cy="457200"/>
          </a:xfrm>
          <a:prstGeom prst="rect">
            <a:avLst/>
          </a:prstGeom>
          <a:noFill/>
          <a:ln/>
        </p:spPr>
        <p:txBody>
          <a:bodyPr wrap="square" lIns="0" tIns="0" rIns="0" bIns="0" rtlCol="0" anchor="t"/>
          <a:lstStyle/>
          <a:p>
            <a:pPr indent="0" marL="0">
              <a:buNone/>
            </a:pPr>
            <a:r>
              <a:rPr lang="en-US" sz="2700" b="1" dirty="0">
                <a:solidFill>
                  <a:srgbClr val="6543BD"/>
                </a:solidFill>
                <a:latin typeface="Arial" pitchFamily="34" charset="0"/>
                <a:ea typeface="Arial" pitchFamily="34" charset="-122"/>
                <a:cs typeface="Arial" pitchFamily="34" charset="-120"/>
              </a:rPr>
              <a:t>04</a:t>
            </a:r>
            <a:endParaRPr lang="en-US" sz="2700" dirty="0"/>
          </a:p>
        </p:txBody>
      </p:sp>
      <p:sp>
        <p:nvSpPr>
          <p:cNvPr id="22" name="Shape 20"/>
          <p:cNvSpPr/>
          <p:nvPr/>
        </p:nvSpPr>
        <p:spPr>
          <a:xfrm>
            <a:off x="7360920" y="3017520"/>
            <a:ext cx="1929384" cy="1645920"/>
          </a:xfrm>
          <a:prstGeom prst="rect">
            <a:avLst/>
          </a:prstGeom>
          <a:solidFill>
            <a:srgbClr val="F4F5F7"/>
          </a:solidFill>
          <a:ln w="8890">
            <a:solidFill>
              <a:srgbClr val="DDE1E6"/>
            </a:solidFill>
            <a:prstDash val="solid"/>
          </a:ln>
        </p:spPr>
      </p:sp>
      <p:sp>
        <p:nvSpPr>
          <p:cNvPr id="23" name="Text 21"/>
          <p:cNvSpPr/>
          <p:nvPr/>
        </p:nvSpPr>
        <p:spPr>
          <a:xfrm>
            <a:off x="7525512" y="3218688"/>
            <a:ext cx="1600200" cy="530352"/>
          </a:xfrm>
          <a:prstGeom prst="rect">
            <a:avLst/>
          </a:prstGeom>
          <a:noFill/>
          <a:ln/>
        </p:spPr>
        <p:txBody>
          <a:bodyPr wrap="square" lIns="0" tIns="0" rIns="0" bIns="0" rtlCol="0" anchor="t"/>
          <a:lstStyle/>
          <a:p>
            <a:pPr indent="0" marL="0">
              <a:buNone/>
            </a:pPr>
            <a:r>
              <a:rPr lang="en-US" sz="1750" b="1" dirty="0">
                <a:solidFill>
                  <a:srgbClr val="27323A"/>
                </a:solidFill>
                <a:latin typeface="Arial" pitchFamily="34" charset="0"/>
                <a:ea typeface="Arial" pitchFamily="34" charset="-122"/>
                <a:cs typeface="Arial" pitchFamily="34" charset="-120"/>
              </a:rPr>
              <a:t>Infraestructura</a:t>
            </a:r>
            <a:endParaRPr lang="en-US" sz="1750" dirty="0"/>
          </a:p>
        </p:txBody>
      </p:sp>
      <p:sp>
        <p:nvSpPr>
          <p:cNvPr id="24" name="Text 22"/>
          <p:cNvSpPr/>
          <p:nvPr/>
        </p:nvSpPr>
        <p:spPr>
          <a:xfrm>
            <a:off x="7525512" y="3712464"/>
            <a:ext cx="1600200" cy="86868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Docker / servidor</a:t>
            </a:r>
            <a:endParaRPr lang="en-US" sz="1550" dirty="0"/>
          </a:p>
        </p:txBody>
      </p:sp>
      <p:sp>
        <p:nvSpPr>
          <p:cNvPr id="25" name="Shape 23"/>
          <p:cNvSpPr/>
          <p:nvPr/>
        </p:nvSpPr>
        <p:spPr>
          <a:xfrm>
            <a:off x="9326880" y="3822192"/>
            <a:ext cx="228600" cy="0"/>
          </a:xfrm>
          <a:prstGeom prst="line">
            <a:avLst/>
          </a:prstGeom>
          <a:noFill/>
          <a:ln w="13970">
            <a:solidFill>
              <a:srgbClr val="6543BD"/>
            </a:solidFill>
            <a:prstDash val="solid"/>
            <a:tailEnd type="triangle"/>
          </a:ln>
        </p:spPr>
      </p:sp>
      <p:sp>
        <p:nvSpPr>
          <p:cNvPr id="26" name="Text 24"/>
          <p:cNvSpPr/>
          <p:nvPr/>
        </p:nvSpPr>
        <p:spPr>
          <a:xfrm>
            <a:off x="9592056" y="2221992"/>
            <a:ext cx="640080" cy="457200"/>
          </a:xfrm>
          <a:prstGeom prst="rect">
            <a:avLst/>
          </a:prstGeom>
          <a:noFill/>
          <a:ln/>
        </p:spPr>
        <p:txBody>
          <a:bodyPr wrap="square" lIns="0" tIns="0" rIns="0" bIns="0" rtlCol="0" anchor="t"/>
          <a:lstStyle/>
          <a:p>
            <a:pPr indent="0" marL="0">
              <a:buNone/>
            </a:pPr>
            <a:r>
              <a:rPr lang="en-US" sz="2700" b="1" dirty="0">
                <a:solidFill>
                  <a:srgbClr val="6543BD"/>
                </a:solidFill>
                <a:latin typeface="Arial" pitchFamily="34" charset="0"/>
                <a:ea typeface="Arial" pitchFamily="34" charset="-122"/>
                <a:cs typeface="Arial" pitchFamily="34" charset="-120"/>
              </a:rPr>
              <a:t>05</a:t>
            </a:r>
            <a:endParaRPr lang="en-US" sz="2700" dirty="0"/>
          </a:p>
        </p:txBody>
      </p:sp>
      <p:sp>
        <p:nvSpPr>
          <p:cNvPr id="27" name="Shape 25"/>
          <p:cNvSpPr/>
          <p:nvPr/>
        </p:nvSpPr>
        <p:spPr>
          <a:xfrm>
            <a:off x="9592056" y="3017520"/>
            <a:ext cx="1929384" cy="1645920"/>
          </a:xfrm>
          <a:prstGeom prst="rect">
            <a:avLst/>
          </a:prstGeom>
          <a:solidFill>
            <a:srgbClr val="F4F5F7"/>
          </a:solidFill>
          <a:ln w="8890">
            <a:solidFill>
              <a:srgbClr val="DDE1E6"/>
            </a:solidFill>
            <a:prstDash val="solid"/>
          </a:ln>
        </p:spPr>
      </p:sp>
      <p:sp>
        <p:nvSpPr>
          <p:cNvPr id="28" name="Text 26"/>
          <p:cNvSpPr/>
          <p:nvPr/>
        </p:nvSpPr>
        <p:spPr>
          <a:xfrm>
            <a:off x="9756648" y="3218688"/>
            <a:ext cx="1600200" cy="530352"/>
          </a:xfrm>
          <a:prstGeom prst="rect">
            <a:avLst/>
          </a:prstGeom>
          <a:noFill/>
          <a:ln/>
        </p:spPr>
        <p:txBody>
          <a:bodyPr wrap="square" lIns="0" tIns="0" rIns="0" bIns="0" rtlCol="0" anchor="t"/>
          <a:lstStyle/>
          <a:p>
            <a:pPr indent="0" marL="0">
              <a:buNone/>
            </a:pPr>
            <a:r>
              <a:rPr lang="en-US" sz="1750" b="1" dirty="0">
                <a:solidFill>
                  <a:srgbClr val="27323A"/>
                </a:solidFill>
                <a:latin typeface="Arial" pitchFamily="34" charset="0"/>
                <a:ea typeface="Arial" pitchFamily="34" charset="-122"/>
                <a:cs typeface="Arial" pitchFamily="34" charset="-120"/>
              </a:rPr>
              <a:t>Aplicación</a:t>
            </a:r>
            <a:endParaRPr lang="en-US" sz="1750" dirty="0"/>
          </a:p>
        </p:txBody>
      </p:sp>
      <p:sp>
        <p:nvSpPr>
          <p:cNvPr id="29" name="Text 27"/>
          <p:cNvSpPr/>
          <p:nvPr/>
        </p:nvSpPr>
        <p:spPr>
          <a:xfrm>
            <a:off x="9756648" y="3712464"/>
            <a:ext cx="1600200" cy="868680"/>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Nginx disponible</a:t>
            </a:r>
            <a:endParaRPr lang="en-US" sz="1550" dirty="0"/>
          </a:p>
        </p:txBody>
      </p:sp>
      <p:sp>
        <p:nvSpPr>
          <p:cNvPr id="30" name="Text 28"/>
          <p:cNvSpPr/>
          <p:nvPr/>
        </p:nvSpPr>
        <p:spPr>
          <a:xfrm>
            <a:off x="685800" y="5376672"/>
            <a:ext cx="10789920" cy="438912"/>
          </a:xfrm>
          <a:prstGeom prst="rect">
            <a:avLst/>
          </a:prstGeom>
          <a:noFill/>
          <a:ln/>
        </p:spPr>
        <p:txBody>
          <a:bodyPr wrap="square" lIns="0" tIns="0" rIns="0" bIns="0" rtlCol="0" anchor="t"/>
          <a:lstStyle/>
          <a:p>
            <a:pPr indent="0" marL="0">
              <a:buNone/>
            </a:pPr>
            <a:r>
              <a:rPr lang="en-US" sz="2500" b="1" dirty="0">
                <a:solidFill>
                  <a:srgbClr val="27323A"/>
                </a:solidFill>
                <a:latin typeface="Arial" pitchFamily="34" charset="0"/>
                <a:ea typeface="Arial" pitchFamily="34" charset="-122"/>
                <a:cs typeface="Arial" pitchFamily="34" charset="-120"/>
              </a:rPr>
              <a:t>Terraform automatiza el aprovisionamiento</a:t>
            </a:r>
            <a:endParaRPr lang="en-US" sz="2500" dirty="0"/>
          </a:p>
        </p:txBody>
      </p:sp>
      <p:sp>
        <p:nvSpPr>
          <p:cNvPr id="31" name="Text 29"/>
          <p:cNvSpPr/>
          <p:nvPr/>
        </p:nvSpPr>
        <p:spPr>
          <a:xfrm>
            <a:off x="685800" y="5925312"/>
            <a:ext cx="10789920" cy="320040"/>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En este ejemplo, Docker ejecuta el servicio y una prueba HTTP comprueba el resultado.</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Integración con lo visto en clase</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Cada herramienta aporta una parte del proceso de despliegue.</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Integraciones</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16 / 21</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7512" y="2039112"/>
          <a:ext cx="10863072" cy="914400"/>
        </p:xfrm>
        <a:graphic>
          <a:graphicData uri="http://schemas.openxmlformats.org/drawingml/2006/table">
            <a:tbl>
              <a:tblPr/>
              <a:tblGrid>
                <a:gridCol w="2377440"/>
                <a:gridCol w="8485632"/>
              </a:tblGrid>
              <a:tr h="713232">
                <a:tc>
                  <a:txBody>
                    <a:bodyPr/>
                    <a:lstStyle/>
                    <a:p>
                      <a:pPr indent="0" marL="0">
                        <a:buNone/>
                      </a:pPr>
                      <a:r>
                        <a:rPr lang="en-US" sz="1750" b="1" dirty="0">
                          <a:solidFill>
                            <a:srgbClr val="27323A"/>
                          </a:solidFill>
                          <a:latin typeface="Arial" pitchFamily="34" charset="0"/>
                          <a:ea typeface="Arial" pitchFamily="34" charset="-122"/>
                          <a:cs typeface="Arial" pitchFamily="34" charset="-120"/>
                        </a:rPr>
                        <a:t>Git / GitHub</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750" dirty="0">
                          <a:solidFill>
                            <a:srgbClr val="555F69"/>
                          </a:solidFill>
                          <a:latin typeface="Arial" pitchFamily="34" charset="0"/>
                          <a:ea typeface="Arial" pitchFamily="34" charset="-122"/>
                          <a:cs typeface="Arial" pitchFamily="34" charset="-120"/>
                        </a:rPr>
                        <a:t>Versionar los .tf y revisar cambios mediante pull requests.</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713232">
                <a:tc>
                  <a:txBody>
                    <a:bodyPr/>
                    <a:lstStyle/>
                    <a:p>
                      <a:pPr indent="0" marL="0">
                        <a:buNone/>
                      </a:pPr>
                      <a:r>
                        <a:rPr lang="en-US" sz="1750" b="1" dirty="0">
                          <a:solidFill>
                            <a:srgbClr val="27323A"/>
                          </a:solidFill>
                          <a:latin typeface="Arial" pitchFamily="34" charset="0"/>
                          <a:ea typeface="Arial" pitchFamily="34" charset="-122"/>
                          <a:cs typeface="Arial" pitchFamily="34" charset="-120"/>
                        </a:rPr>
                        <a:t>Docker</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750" dirty="0">
                          <a:solidFill>
                            <a:srgbClr val="555F69"/>
                          </a:solidFill>
                          <a:latin typeface="Arial" pitchFamily="34" charset="0"/>
                          <a:ea typeface="Arial" pitchFamily="34" charset="-122"/>
                          <a:cs typeface="Arial" pitchFamily="34" charset="-120"/>
                        </a:rPr>
                        <a:t>Administrar imágenes, contenedores, redes y volúmenes mediante el provider.</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r h="713232">
                <a:tc>
                  <a:txBody>
                    <a:bodyPr/>
                    <a:lstStyle/>
                    <a:p>
                      <a:pPr indent="0" marL="0">
                        <a:buNone/>
                      </a:pPr>
                      <a:r>
                        <a:rPr lang="en-US" sz="1750" b="1" dirty="0">
                          <a:solidFill>
                            <a:srgbClr val="27323A"/>
                          </a:solidFill>
                          <a:latin typeface="Arial" pitchFamily="34" charset="0"/>
                          <a:ea typeface="Arial" pitchFamily="34" charset="-122"/>
                          <a:cs typeface="Arial" pitchFamily="34" charset="-120"/>
                        </a:rPr>
                        <a:t>Docker Compose</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750" dirty="0">
                          <a:solidFill>
                            <a:srgbClr val="555F69"/>
                          </a:solidFill>
                          <a:latin typeface="Arial" pitchFamily="34" charset="0"/>
                          <a:ea typeface="Arial" pitchFamily="34" charset="-122"/>
                          <a:cs typeface="Arial" pitchFamily="34" charset="-120"/>
                        </a:rPr>
                        <a:t>Definir servicios de una aplicación. Evitar que dos herramientas administren el mismo recurso.</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r h="713232">
                <a:tc>
                  <a:txBody>
                    <a:bodyPr/>
                    <a:lstStyle/>
                    <a:p>
                      <a:pPr indent="0" marL="0">
                        <a:buNone/>
                      </a:pPr>
                      <a:r>
                        <a:rPr lang="en-US" sz="1750" b="1" dirty="0">
                          <a:solidFill>
                            <a:srgbClr val="27323A"/>
                          </a:solidFill>
                          <a:latin typeface="Arial" pitchFamily="34" charset="0"/>
                          <a:ea typeface="Arial" pitchFamily="34" charset="-122"/>
                          <a:cs typeface="Arial" pitchFamily="34" charset="-120"/>
                        </a:rPr>
                        <a:t>Linux / Vagrant</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750" dirty="0">
                          <a:solidFill>
                            <a:srgbClr val="555F69"/>
                          </a:solidFill>
                          <a:latin typeface="Arial" pitchFamily="34" charset="0"/>
                          <a:ea typeface="Arial" pitchFamily="34" charset="-122"/>
                          <a:cs typeface="Arial" pitchFamily="34" charset="-120"/>
                        </a:rPr>
                        <a:t>Ejecutar Terraform CLI en Linux o en una VM, con acceso al daemon o API correspondiente.</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FFFFF"/>
                    </a:solidFill>
                  </a:tcPr>
                </a:tc>
              </a:tr>
              <a:tr h="713232">
                <a:tc>
                  <a:txBody>
                    <a:bodyPr/>
                    <a:lstStyle/>
                    <a:p>
                      <a:pPr indent="0" marL="0">
                        <a:buNone/>
                      </a:pPr>
                      <a:r>
                        <a:rPr lang="en-US" sz="1750" b="1" dirty="0">
                          <a:solidFill>
                            <a:srgbClr val="27323A"/>
                          </a:solidFill>
                          <a:latin typeface="Arial" pitchFamily="34" charset="0"/>
                          <a:ea typeface="Arial" pitchFamily="34" charset="-122"/>
                          <a:cs typeface="Arial" pitchFamily="34" charset="-120"/>
                        </a:rPr>
                        <a:t>Nube</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c>
                  <a:txBody>
                    <a:bodyPr/>
                    <a:lstStyle/>
                    <a:p>
                      <a:pPr indent="0" marL="0">
                        <a:buNone/>
                      </a:pPr>
                      <a:r>
                        <a:rPr lang="en-US" sz="1750" dirty="0">
                          <a:solidFill>
                            <a:srgbClr val="555F69"/>
                          </a:solidFill>
                          <a:latin typeface="Arial" pitchFamily="34" charset="0"/>
                          <a:ea typeface="Arial" pitchFamily="34" charset="-122"/>
                          <a:cs typeface="Arial" pitchFamily="34" charset="-120"/>
                        </a:rPr>
                        <a:t>Administrar VMs, redes y almacenamiento con providers de cada plataforma.</a:t>
                      </a:r>
                      <a:endParaRPr lang="en-US" sz="1750" dirty="0">
                        <a:latin typeface="Arial" charset="0"/>
                        <a:ea typeface="Arial" charset="0"/>
                        <a:cs typeface="Arial" charset="0"/>
                      </a:endParaRPr>
                    </a:p>
                  </a:txBody>
                  <a:tcPr marL="146304" marR="146304" marT="128016" marB="100584">
                    <a:lnL w="5715" cap="flat" cmpd="sng" algn="ctr">
                      <a:solidFill>
                        <a:srgbClr val="DDE1E6"/>
                      </a:solidFill>
                      <a:prstDash val="solid"/>
                      <a:round/>
                      <a:headEnd type="none" w="med" len="med"/>
                      <a:tailEnd type="none" w="med" len="med"/>
                    </a:lnL>
                    <a:lnR w="5715" cap="flat" cmpd="sng" algn="ctr">
                      <a:solidFill>
                        <a:srgbClr val="DDE1E6"/>
                      </a:solidFill>
                      <a:prstDash val="solid"/>
                      <a:round/>
                      <a:headEnd type="none" w="med" len="med"/>
                      <a:tailEnd type="none" w="med" len="med"/>
                    </a:lnR>
                    <a:lnT w="5715" cap="flat" cmpd="sng" algn="ctr">
                      <a:solidFill>
                        <a:srgbClr val="DDE1E6"/>
                      </a:solidFill>
                      <a:prstDash val="solid"/>
                      <a:round/>
                      <a:headEnd type="none" w="med" len="med"/>
                      <a:tailEnd type="none" w="med" len="med"/>
                    </a:lnT>
                    <a:lnB w="5715" cap="flat" cmpd="sng" algn="ctr">
                      <a:solidFill>
                        <a:srgbClr val="DDE1E6"/>
                      </a:solidFill>
                      <a:prstDash val="solid"/>
                      <a:round/>
                      <a:headEnd type="none" w="med" len="med"/>
                      <a:tailEnd type="none" w="med" len="med"/>
                    </a:lnB>
                    <a:solidFill>
                      <a:srgbClr val="F4F5F7"/>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Terraform en un pipeline CI/CD</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El plan revisado debe ser el mismo que ejecuta la etapa de aplicación.</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Integraciones</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17 / 21</a:t>
            </a:r>
            <a:endParaRPr lang="en-US" sz="1050" dirty="0"/>
          </a:p>
        </p:txBody>
      </p:sp>
      <p:sp>
        <p:nvSpPr>
          <p:cNvPr id="6" name="Text 4"/>
          <p:cNvSpPr/>
          <p:nvPr/>
        </p:nvSpPr>
        <p:spPr>
          <a:xfrm>
            <a:off x="667512" y="2176272"/>
            <a:ext cx="1188720" cy="365760"/>
          </a:xfrm>
          <a:prstGeom prst="rect">
            <a:avLst/>
          </a:prstGeom>
          <a:noFill/>
          <a:ln/>
        </p:spPr>
        <p:txBody>
          <a:bodyPr wrap="square" lIns="0" tIns="0" rIns="0" bIns="0" rtlCol="0" anchor="t"/>
          <a:lstStyle/>
          <a:p>
            <a:pPr indent="0" marL="0">
              <a:buNone/>
            </a:pPr>
            <a:r>
              <a:rPr lang="en-US" sz="2200" b="1" dirty="0">
                <a:solidFill>
                  <a:srgbClr val="6543BD"/>
                </a:solidFill>
                <a:latin typeface="Arial" pitchFamily="34" charset="0"/>
                <a:ea typeface="Arial" pitchFamily="34" charset="-122"/>
                <a:cs typeface="Arial" pitchFamily="34" charset="-120"/>
              </a:rPr>
              <a:t>01</a:t>
            </a:r>
            <a:endParaRPr lang="en-US" sz="2200" dirty="0"/>
          </a:p>
        </p:txBody>
      </p:sp>
      <p:sp>
        <p:nvSpPr>
          <p:cNvPr id="7" name="Shape 5"/>
          <p:cNvSpPr/>
          <p:nvPr/>
        </p:nvSpPr>
        <p:spPr>
          <a:xfrm>
            <a:off x="667512" y="2862072"/>
            <a:ext cx="1627632" cy="1719072"/>
          </a:xfrm>
          <a:prstGeom prst="rect">
            <a:avLst/>
          </a:prstGeom>
          <a:solidFill>
            <a:srgbClr val="F4F5F7"/>
          </a:solidFill>
          <a:ln w="8890">
            <a:solidFill>
              <a:srgbClr val="DDE1E6"/>
            </a:solidFill>
            <a:prstDash val="solid"/>
          </a:ln>
        </p:spPr>
      </p:sp>
      <p:sp>
        <p:nvSpPr>
          <p:cNvPr id="8" name="Text 6"/>
          <p:cNvSpPr/>
          <p:nvPr/>
        </p:nvSpPr>
        <p:spPr>
          <a:xfrm>
            <a:off x="832104" y="3063240"/>
            <a:ext cx="1298448" cy="530352"/>
          </a:xfrm>
          <a:prstGeom prst="rect">
            <a:avLst/>
          </a:prstGeom>
          <a:noFill/>
          <a:ln/>
        </p:spPr>
        <p:txBody>
          <a:bodyPr wrap="square" lIns="0" tIns="0" rIns="0" bIns="0" rtlCol="0" anchor="t"/>
          <a:lstStyle/>
          <a:p>
            <a:pPr indent="0" marL="0">
              <a:buNone/>
            </a:pPr>
            <a:r>
              <a:rPr lang="en-US" sz="1600" b="1" dirty="0">
                <a:solidFill>
                  <a:srgbClr val="27323A"/>
                </a:solidFill>
                <a:latin typeface="Arial" pitchFamily="34" charset="0"/>
                <a:ea typeface="Arial" pitchFamily="34" charset="-122"/>
                <a:cs typeface="Arial" pitchFamily="34" charset="-120"/>
              </a:rPr>
              <a:t>Código</a:t>
            </a:r>
            <a:endParaRPr lang="en-US" sz="1600" dirty="0"/>
          </a:p>
        </p:txBody>
      </p:sp>
      <p:sp>
        <p:nvSpPr>
          <p:cNvPr id="9" name="Text 7"/>
          <p:cNvSpPr/>
          <p:nvPr/>
        </p:nvSpPr>
        <p:spPr>
          <a:xfrm>
            <a:off x="832104" y="3557016"/>
            <a:ext cx="1298448" cy="941832"/>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Git push</a:t>
            </a:r>
            <a:endParaRPr lang="en-US" sz="1550" dirty="0"/>
          </a:p>
        </p:txBody>
      </p:sp>
      <p:sp>
        <p:nvSpPr>
          <p:cNvPr id="10" name="Shape 8"/>
          <p:cNvSpPr/>
          <p:nvPr/>
        </p:nvSpPr>
        <p:spPr>
          <a:xfrm>
            <a:off x="2322576" y="3703320"/>
            <a:ext cx="155448" cy="0"/>
          </a:xfrm>
          <a:prstGeom prst="line">
            <a:avLst/>
          </a:prstGeom>
          <a:noFill/>
          <a:ln w="13970">
            <a:solidFill>
              <a:srgbClr val="6543BD"/>
            </a:solidFill>
            <a:prstDash val="solid"/>
            <a:tailEnd type="triangle"/>
          </a:ln>
        </p:spPr>
      </p:sp>
      <p:sp>
        <p:nvSpPr>
          <p:cNvPr id="11" name="Text 9"/>
          <p:cNvSpPr/>
          <p:nvPr/>
        </p:nvSpPr>
        <p:spPr>
          <a:xfrm>
            <a:off x="2514600" y="2176272"/>
            <a:ext cx="1188720" cy="365760"/>
          </a:xfrm>
          <a:prstGeom prst="rect">
            <a:avLst/>
          </a:prstGeom>
          <a:noFill/>
          <a:ln/>
        </p:spPr>
        <p:txBody>
          <a:bodyPr wrap="square" lIns="0" tIns="0" rIns="0" bIns="0" rtlCol="0" anchor="t"/>
          <a:lstStyle/>
          <a:p>
            <a:pPr indent="0" marL="0">
              <a:buNone/>
            </a:pPr>
            <a:r>
              <a:rPr lang="en-US" sz="2200" b="1" dirty="0">
                <a:solidFill>
                  <a:srgbClr val="6543BD"/>
                </a:solidFill>
                <a:latin typeface="Arial" pitchFamily="34" charset="0"/>
                <a:ea typeface="Arial" pitchFamily="34" charset="-122"/>
                <a:cs typeface="Arial" pitchFamily="34" charset="-120"/>
              </a:rPr>
              <a:t>02</a:t>
            </a:r>
            <a:endParaRPr lang="en-US" sz="2200" dirty="0"/>
          </a:p>
        </p:txBody>
      </p:sp>
      <p:sp>
        <p:nvSpPr>
          <p:cNvPr id="12" name="Shape 10"/>
          <p:cNvSpPr/>
          <p:nvPr/>
        </p:nvSpPr>
        <p:spPr>
          <a:xfrm>
            <a:off x="2514600" y="2862072"/>
            <a:ext cx="1627632" cy="1719072"/>
          </a:xfrm>
          <a:prstGeom prst="rect">
            <a:avLst/>
          </a:prstGeom>
          <a:solidFill>
            <a:srgbClr val="F4F5F7"/>
          </a:solidFill>
          <a:ln w="8890">
            <a:solidFill>
              <a:srgbClr val="DDE1E6"/>
            </a:solidFill>
            <a:prstDash val="solid"/>
          </a:ln>
        </p:spPr>
      </p:sp>
      <p:sp>
        <p:nvSpPr>
          <p:cNvPr id="13" name="Text 11"/>
          <p:cNvSpPr/>
          <p:nvPr/>
        </p:nvSpPr>
        <p:spPr>
          <a:xfrm>
            <a:off x="2679192" y="3063240"/>
            <a:ext cx="1298448" cy="530352"/>
          </a:xfrm>
          <a:prstGeom prst="rect">
            <a:avLst/>
          </a:prstGeom>
          <a:noFill/>
          <a:ln/>
        </p:spPr>
        <p:txBody>
          <a:bodyPr wrap="square" lIns="0" tIns="0" rIns="0" bIns="0" rtlCol="0" anchor="t"/>
          <a:lstStyle/>
          <a:p>
            <a:pPr indent="0" marL="0">
              <a:buNone/>
            </a:pPr>
            <a:r>
              <a:rPr lang="en-US" sz="1600" b="1" dirty="0">
                <a:solidFill>
                  <a:srgbClr val="27323A"/>
                </a:solidFill>
                <a:latin typeface="Arial" pitchFamily="34" charset="0"/>
                <a:ea typeface="Arial" pitchFamily="34" charset="-122"/>
                <a:cs typeface="Arial" pitchFamily="34" charset="-120"/>
              </a:rPr>
              <a:t>Validación</a:t>
            </a:r>
            <a:endParaRPr lang="en-US" sz="1600" dirty="0"/>
          </a:p>
        </p:txBody>
      </p:sp>
      <p:sp>
        <p:nvSpPr>
          <p:cNvPr id="14" name="Text 12"/>
          <p:cNvSpPr/>
          <p:nvPr/>
        </p:nvSpPr>
        <p:spPr>
          <a:xfrm>
            <a:off x="2679192" y="3557016"/>
            <a:ext cx="1298448" cy="941832"/>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init</a:t>
            </a:r>
            <a:endParaRPr lang="en-US" sz="1550" dirty="0"/>
          </a:p>
          <a:p>
            <a:pPr indent="0" marL="0">
              <a:buNone/>
            </a:pPr>
            <a:r>
              <a:rPr lang="en-US" sz="1550" dirty="0">
                <a:solidFill>
                  <a:srgbClr val="555F69"/>
                </a:solidFill>
                <a:latin typeface="Arial" pitchFamily="34" charset="0"/>
                <a:ea typeface="Arial" pitchFamily="34" charset="-122"/>
                <a:cs typeface="Arial" pitchFamily="34" charset="-120"/>
              </a:rPr>
              <a:t>fmt -check</a:t>
            </a:r>
            <a:endParaRPr lang="en-US" sz="1550" dirty="0"/>
          </a:p>
          <a:p>
            <a:pPr indent="0" marL="0">
              <a:buNone/>
            </a:pPr>
            <a:r>
              <a:rPr lang="en-US" sz="1550" dirty="0">
                <a:solidFill>
                  <a:srgbClr val="555F69"/>
                </a:solidFill>
                <a:latin typeface="Arial" pitchFamily="34" charset="0"/>
                <a:ea typeface="Arial" pitchFamily="34" charset="-122"/>
                <a:cs typeface="Arial" pitchFamily="34" charset="-120"/>
              </a:rPr>
              <a:t>validate</a:t>
            </a:r>
            <a:endParaRPr lang="en-US" sz="1550" dirty="0"/>
          </a:p>
        </p:txBody>
      </p:sp>
      <p:sp>
        <p:nvSpPr>
          <p:cNvPr id="15" name="Shape 13"/>
          <p:cNvSpPr/>
          <p:nvPr/>
        </p:nvSpPr>
        <p:spPr>
          <a:xfrm>
            <a:off x="4169664" y="3703320"/>
            <a:ext cx="155448" cy="0"/>
          </a:xfrm>
          <a:prstGeom prst="line">
            <a:avLst/>
          </a:prstGeom>
          <a:noFill/>
          <a:ln w="13970">
            <a:solidFill>
              <a:srgbClr val="6543BD"/>
            </a:solidFill>
            <a:prstDash val="solid"/>
            <a:tailEnd type="triangle"/>
          </a:ln>
        </p:spPr>
      </p:sp>
      <p:sp>
        <p:nvSpPr>
          <p:cNvPr id="16" name="Text 14"/>
          <p:cNvSpPr/>
          <p:nvPr/>
        </p:nvSpPr>
        <p:spPr>
          <a:xfrm>
            <a:off x="4361688" y="2176272"/>
            <a:ext cx="1188720" cy="365760"/>
          </a:xfrm>
          <a:prstGeom prst="rect">
            <a:avLst/>
          </a:prstGeom>
          <a:noFill/>
          <a:ln/>
        </p:spPr>
        <p:txBody>
          <a:bodyPr wrap="square" lIns="0" tIns="0" rIns="0" bIns="0" rtlCol="0" anchor="t"/>
          <a:lstStyle/>
          <a:p>
            <a:pPr indent="0" marL="0">
              <a:buNone/>
            </a:pPr>
            <a:r>
              <a:rPr lang="en-US" sz="2200" b="1" dirty="0">
                <a:solidFill>
                  <a:srgbClr val="6543BD"/>
                </a:solidFill>
                <a:latin typeface="Arial" pitchFamily="34" charset="0"/>
                <a:ea typeface="Arial" pitchFamily="34" charset="-122"/>
                <a:cs typeface="Arial" pitchFamily="34" charset="-120"/>
              </a:rPr>
              <a:t>03</a:t>
            </a:r>
            <a:endParaRPr lang="en-US" sz="2200" dirty="0"/>
          </a:p>
        </p:txBody>
      </p:sp>
      <p:sp>
        <p:nvSpPr>
          <p:cNvPr id="17" name="Shape 15"/>
          <p:cNvSpPr/>
          <p:nvPr/>
        </p:nvSpPr>
        <p:spPr>
          <a:xfrm>
            <a:off x="4361688" y="2862072"/>
            <a:ext cx="1627632" cy="1719072"/>
          </a:xfrm>
          <a:prstGeom prst="rect">
            <a:avLst/>
          </a:prstGeom>
          <a:solidFill>
            <a:srgbClr val="F4F5F7"/>
          </a:solidFill>
          <a:ln w="8890">
            <a:solidFill>
              <a:srgbClr val="DDE1E6"/>
            </a:solidFill>
            <a:prstDash val="solid"/>
          </a:ln>
        </p:spPr>
      </p:sp>
      <p:sp>
        <p:nvSpPr>
          <p:cNvPr id="18" name="Text 16"/>
          <p:cNvSpPr/>
          <p:nvPr/>
        </p:nvSpPr>
        <p:spPr>
          <a:xfrm>
            <a:off x="4526280" y="3063240"/>
            <a:ext cx="1298448" cy="530352"/>
          </a:xfrm>
          <a:prstGeom prst="rect">
            <a:avLst/>
          </a:prstGeom>
          <a:noFill/>
          <a:ln/>
        </p:spPr>
        <p:txBody>
          <a:bodyPr wrap="square" lIns="0" tIns="0" rIns="0" bIns="0" rtlCol="0" anchor="t"/>
          <a:lstStyle/>
          <a:p>
            <a:pPr indent="0" marL="0">
              <a:buNone/>
            </a:pPr>
            <a:r>
              <a:rPr lang="en-US" sz="1600" b="1" dirty="0">
                <a:solidFill>
                  <a:srgbClr val="27323A"/>
                </a:solidFill>
                <a:latin typeface="Arial" pitchFamily="34" charset="0"/>
                <a:ea typeface="Arial" pitchFamily="34" charset="-122"/>
                <a:cs typeface="Arial" pitchFamily="34" charset="-120"/>
              </a:rPr>
              <a:t>Plan</a:t>
            </a:r>
            <a:endParaRPr lang="en-US" sz="1600" dirty="0"/>
          </a:p>
        </p:txBody>
      </p:sp>
      <p:sp>
        <p:nvSpPr>
          <p:cNvPr id="19" name="Text 17"/>
          <p:cNvSpPr/>
          <p:nvPr/>
        </p:nvSpPr>
        <p:spPr>
          <a:xfrm>
            <a:off x="4526280" y="3557016"/>
            <a:ext cx="1298448" cy="941832"/>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plan</a:t>
            </a:r>
            <a:endParaRPr lang="en-US" sz="1550" dirty="0"/>
          </a:p>
          <a:p>
            <a:pPr indent="0" marL="0">
              <a:buNone/>
            </a:pPr>
            <a:r>
              <a:rPr lang="en-US" sz="1550" dirty="0">
                <a:solidFill>
                  <a:srgbClr val="555F69"/>
                </a:solidFill>
                <a:latin typeface="Arial" pitchFamily="34" charset="0"/>
                <a:ea typeface="Arial" pitchFamily="34" charset="-122"/>
                <a:cs typeface="Arial" pitchFamily="34" charset="-120"/>
              </a:rPr>
              <a:t>-out=tfplan</a:t>
            </a:r>
            <a:endParaRPr lang="en-US" sz="1550" dirty="0"/>
          </a:p>
        </p:txBody>
      </p:sp>
      <p:sp>
        <p:nvSpPr>
          <p:cNvPr id="20" name="Shape 18"/>
          <p:cNvSpPr/>
          <p:nvPr/>
        </p:nvSpPr>
        <p:spPr>
          <a:xfrm>
            <a:off x="6016752" y="3703320"/>
            <a:ext cx="155448" cy="0"/>
          </a:xfrm>
          <a:prstGeom prst="line">
            <a:avLst/>
          </a:prstGeom>
          <a:noFill/>
          <a:ln w="13970">
            <a:solidFill>
              <a:srgbClr val="6543BD"/>
            </a:solidFill>
            <a:prstDash val="solid"/>
            <a:tailEnd type="triangle"/>
          </a:ln>
        </p:spPr>
      </p:sp>
      <p:sp>
        <p:nvSpPr>
          <p:cNvPr id="21" name="Text 19"/>
          <p:cNvSpPr/>
          <p:nvPr/>
        </p:nvSpPr>
        <p:spPr>
          <a:xfrm>
            <a:off x="6208776" y="2176272"/>
            <a:ext cx="1188720" cy="365760"/>
          </a:xfrm>
          <a:prstGeom prst="rect">
            <a:avLst/>
          </a:prstGeom>
          <a:noFill/>
          <a:ln/>
        </p:spPr>
        <p:txBody>
          <a:bodyPr wrap="square" lIns="0" tIns="0" rIns="0" bIns="0" rtlCol="0" anchor="t"/>
          <a:lstStyle/>
          <a:p>
            <a:pPr indent="0" marL="0">
              <a:buNone/>
            </a:pPr>
            <a:r>
              <a:rPr lang="en-US" sz="2200" b="1" dirty="0">
                <a:solidFill>
                  <a:srgbClr val="6543BD"/>
                </a:solidFill>
                <a:latin typeface="Arial" pitchFamily="34" charset="0"/>
                <a:ea typeface="Arial" pitchFamily="34" charset="-122"/>
                <a:cs typeface="Arial" pitchFamily="34" charset="-120"/>
              </a:rPr>
              <a:t>04</a:t>
            </a:r>
            <a:endParaRPr lang="en-US" sz="2200" dirty="0"/>
          </a:p>
        </p:txBody>
      </p:sp>
      <p:sp>
        <p:nvSpPr>
          <p:cNvPr id="22" name="Shape 20"/>
          <p:cNvSpPr/>
          <p:nvPr/>
        </p:nvSpPr>
        <p:spPr>
          <a:xfrm>
            <a:off x="6208776" y="2862072"/>
            <a:ext cx="1627632" cy="1719072"/>
          </a:xfrm>
          <a:prstGeom prst="rect">
            <a:avLst/>
          </a:prstGeom>
          <a:solidFill>
            <a:srgbClr val="F0ECF8"/>
          </a:solidFill>
          <a:ln w="8890">
            <a:solidFill>
              <a:srgbClr val="6543BD"/>
            </a:solidFill>
            <a:prstDash val="solid"/>
          </a:ln>
        </p:spPr>
      </p:sp>
      <p:sp>
        <p:nvSpPr>
          <p:cNvPr id="23" name="Text 21"/>
          <p:cNvSpPr/>
          <p:nvPr/>
        </p:nvSpPr>
        <p:spPr>
          <a:xfrm>
            <a:off x="6373368" y="3063240"/>
            <a:ext cx="1298448" cy="530352"/>
          </a:xfrm>
          <a:prstGeom prst="rect">
            <a:avLst/>
          </a:prstGeom>
          <a:noFill/>
          <a:ln/>
        </p:spPr>
        <p:txBody>
          <a:bodyPr wrap="square" lIns="0" tIns="0" rIns="0" bIns="0" rtlCol="0" anchor="t"/>
          <a:lstStyle/>
          <a:p>
            <a:pPr indent="0" marL="0">
              <a:buNone/>
            </a:pPr>
            <a:r>
              <a:rPr lang="en-US" sz="1600" b="1" dirty="0">
                <a:solidFill>
                  <a:srgbClr val="6543BD"/>
                </a:solidFill>
                <a:latin typeface="Arial" pitchFamily="34" charset="0"/>
                <a:ea typeface="Arial" pitchFamily="34" charset="-122"/>
                <a:cs typeface="Arial" pitchFamily="34" charset="-120"/>
              </a:rPr>
              <a:t>Aprobación</a:t>
            </a:r>
            <a:endParaRPr lang="en-US" sz="1600" dirty="0"/>
          </a:p>
        </p:txBody>
      </p:sp>
      <p:sp>
        <p:nvSpPr>
          <p:cNvPr id="24" name="Text 22"/>
          <p:cNvSpPr/>
          <p:nvPr/>
        </p:nvSpPr>
        <p:spPr>
          <a:xfrm>
            <a:off x="6373368" y="3557016"/>
            <a:ext cx="1298448" cy="941832"/>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Revisión</a:t>
            </a:r>
            <a:endParaRPr lang="en-US" sz="1550" dirty="0"/>
          </a:p>
          <a:p>
            <a:pPr indent="0" marL="0">
              <a:buNone/>
            </a:pPr>
            <a:r>
              <a:rPr lang="en-US" sz="1550" dirty="0">
                <a:solidFill>
                  <a:srgbClr val="555F69"/>
                </a:solidFill>
                <a:latin typeface="Arial" pitchFamily="34" charset="0"/>
                <a:ea typeface="Arial" pitchFamily="34" charset="-122"/>
                <a:cs typeface="Arial" pitchFamily="34" charset="-120"/>
              </a:rPr>
              <a:t>humana</a:t>
            </a:r>
            <a:endParaRPr lang="en-US" sz="1550" dirty="0"/>
          </a:p>
        </p:txBody>
      </p:sp>
      <p:sp>
        <p:nvSpPr>
          <p:cNvPr id="25" name="Shape 23"/>
          <p:cNvSpPr/>
          <p:nvPr/>
        </p:nvSpPr>
        <p:spPr>
          <a:xfrm>
            <a:off x="7863840" y="3703320"/>
            <a:ext cx="155448" cy="0"/>
          </a:xfrm>
          <a:prstGeom prst="line">
            <a:avLst/>
          </a:prstGeom>
          <a:noFill/>
          <a:ln w="13970">
            <a:solidFill>
              <a:srgbClr val="6543BD"/>
            </a:solidFill>
            <a:prstDash val="solid"/>
            <a:tailEnd type="triangle"/>
          </a:ln>
        </p:spPr>
      </p:sp>
      <p:sp>
        <p:nvSpPr>
          <p:cNvPr id="26" name="Text 24"/>
          <p:cNvSpPr/>
          <p:nvPr/>
        </p:nvSpPr>
        <p:spPr>
          <a:xfrm>
            <a:off x="8055864" y="2176272"/>
            <a:ext cx="1188720" cy="365760"/>
          </a:xfrm>
          <a:prstGeom prst="rect">
            <a:avLst/>
          </a:prstGeom>
          <a:noFill/>
          <a:ln/>
        </p:spPr>
        <p:txBody>
          <a:bodyPr wrap="square" lIns="0" tIns="0" rIns="0" bIns="0" rtlCol="0" anchor="t"/>
          <a:lstStyle/>
          <a:p>
            <a:pPr indent="0" marL="0">
              <a:buNone/>
            </a:pPr>
            <a:r>
              <a:rPr lang="en-US" sz="2200" b="1" dirty="0">
                <a:solidFill>
                  <a:srgbClr val="6543BD"/>
                </a:solidFill>
                <a:latin typeface="Arial" pitchFamily="34" charset="0"/>
                <a:ea typeface="Arial" pitchFamily="34" charset="-122"/>
                <a:cs typeface="Arial" pitchFamily="34" charset="-120"/>
              </a:rPr>
              <a:t>05</a:t>
            </a:r>
            <a:endParaRPr lang="en-US" sz="2200" dirty="0"/>
          </a:p>
        </p:txBody>
      </p:sp>
      <p:sp>
        <p:nvSpPr>
          <p:cNvPr id="27" name="Shape 25"/>
          <p:cNvSpPr/>
          <p:nvPr/>
        </p:nvSpPr>
        <p:spPr>
          <a:xfrm>
            <a:off x="8055864" y="2862072"/>
            <a:ext cx="1627632" cy="1719072"/>
          </a:xfrm>
          <a:prstGeom prst="rect">
            <a:avLst/>
          </a:prstGeom>
          <a:solidFill>
            <a:srgbClr val="F4F5F7"/>
          </a:solidFill>
          <a:ln w="8890">
            <a:solidFill>
              <a:srgbClr val="DDE1E6"/>
            </a:solidFill>
            <a:prstDash val="solid"/>
          </a:ln>
        </p:spPr>
      </p:sp>
      <p:sp>
        <p:nvSpPr>
          <p:cNvPr id="28" name="Text 26"/>
          <p:cNvSpPr/>
          <p:nvPr/>
        </p:nvSpPr>
        <p:spPr>
          <a:xfrm>
            <a:off x="8220456" y="3063240"/>
            <a:ext cx="1298448" cy="530352"/>
          </a:xfrm>
          <a:prstGeom prst="rect">
            <a:avLst/>
          </a:prstGeom>
          <a:noFill/>
          <a:ln/>
        </p:spPr>
        <p:txBody>
          <a:bodyPr wrap="square" lIns="0" tIns="0" rIns="0" bIns="0" rtlCol="0" anchor="t"/>
          <a:lstStyle/>
          <a:p>
            <a:pPr indent="0" marL="0">
              <a:buNone/>
            </a:pPr>
            <a:r>
              <a:rPr lang="en-US" sz="1600" b="1" dirty="0">
                <a:solidFill>
                  <a:srgbClr val="27323A"/>
                </a:solidFill>
                <a:latin typeface="Arial" pitchFamily="34" charset="0"/>
                <a:ea typeface="Arial" pitchFamily="34" charset="-122"/>
                <a:cs typeface="Arial" pitchFamily="34" charset="-120"/>
              </a:rPr>
              <a:t>Aplicación</a:t>
            </a:r>
            <a:endParaRPr lang="en-US" sz="1600" dirty="0"/>
          </a:p>
        </p:txBody>
      </p:sp>
      <p:sp>
        <p:nvSpPr>
          <p:cNvPr id="29" name="Text 27"/>
          <p:cNvSpPr/>
          <p:nvPr/>
        </p:nvSpPr>
        <p:spPr>
          <a:xfrm>
            <a:off x="8220456" y="3557016"/>
            <a:ext cx="1298448" cy="941832"/>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apply tfplan</a:t>
            </a:r>
            <a:endParaRPr lang="en-US" sz="1550" dirty="0"/>
          </a:p>
        </p:txBody>
      </p:sp>
      <p:sp>
        <p:nvSpPr>
          <p:cNvPr id="30" name="Shape 28"/>
          <p:cNvSpPr/>
          <p:nvPr/>
        </p:nvSpPr>
        <p:spPr>
          <a:xfrm>
            <a:off x="9710928" y="3703320"/>
            <a:ext cx="155448" cy="0"/>
          </a:xfrm>
          <a:prstGeom prst="line">
            <a:avLst/>
          </a:prstGeom>
          <a:noFill/>
          <a:ln w="13970">
            <a:solidFill>
              <a:srgbClr val="6543BD"/>
            </a:solidFill>
            <a:prstDash val="solid"/>
            <a:tailEnd type="triangle"/>
          </a:ln>
        </p:spPr>
      </p:sp>
      <p:sp>
        <p:nvSpPr>
          <p:cNvPr id="31" name="Text 29"/>
          <p:cNvSpPr/>
          <p:nvPr/>
        </p:nvSpPr>
        <p:spPr>
          <a:xfrm>
            <a:off x="9902952" y="2176272"/>
            <a:ext cx="1188720" cy="365760"/>
          </a:xfrm>
          <a:prstGeom prst="rect">
            <a:avLst/>
          </a:prstGeom>
          <a:noFill/>
          <a:ln/>
        </p:spPr>
        <p:txBody>
          <a:bodyPr wrap="square" lIns="0" tIns="0" rIns="0" bIns="0" rtlCol="0" anchor="t"/>
          <a:lstStyle/>
          <a:p>
            <a:pPr indent="0" marL="0">
              <a:buNone/>
            </a:pPr>
            <a:r>
              <a:rPr lang="en-US" sz="2200" b="1" dirty="0">
                <a:solidFill>
                  <a:srgbClr val="6543BD"/>
                </a:solidFill>
                <a:latin typeface="Arial" pitchFamily="34" charset="0"/>
                <a:ea typeface="Arial" pitchFamily="34" charset="-122"/>
                <a:cs typeface="Arial" pitchFamily="34" charset="-120"/>
              </a:rPr>
              <a:t>06</a:t>
            </a:r>
            <a:endParaRPr lang="en-US" sz="2200" dirty="0"/>
          </a:p>
        </p:txBody>
      </p:sp>
      <p:sp>
        <p:nvSpPr>
          <p:cNvPr id="32" name="Shape 30"/>
          <p:cNvSpPr/>
          <p:nvPr/>
        </p:nvSpPr>
        <p:spPr>
          <a:xfrm>
            <a:off x="9902952" y="2862072"/>
            <a:ext cx="1627632" cy="1719072"/>
          </a:xfrm>
          <a:prstGeom prst="rect">
            <a:avLst/>
          </a:prstGeom>
          <a:solidFill>
            <a:srgbClr val="F4F5F7"/>
          </a:solidFill>
          <a:ln w="8890">
            <a:solidFill>
              <a:srgbClr val="DDE1E6"/>
            </a:solidFill>
            <a:prstDash val="solid"/>
          </a:ln>
        </p:spPr>
      </p:sp>
      <p:sp>
        <p:nvSpPr>
          <p:cNvPr id="33" name="Text 31"/>
          <p:cNvSpPr/>
          <p:nvPr/>
        </p:nvSpPr>
        <p:spPr>
          <a:xfrm>
            <a:off x="10067544" y="3063240"/>
            <a:ext cx="1298448" cy="530352"/>
          </a:xfrm>
          <a:prstGeom prst="rect">
            <a:avLst/>
          </a:prstGeom>
          <a:noFill/>
          <a:ln/>
        </p:spPr>
        <p:txBody>
          <a:bodyPr wrap="square" lIns="0" tIns="0" rIns="0" bIns="0" rtlCol="0" anchor="t"/>
          <a:lstStyle/>
          <a:p>
            <a:pPr indent="0" marL="0">
              <a:buNone/>
            </a:pPr>
            <a:r>
              <a:rPr lang="en-US" sz="1600" b="1" dirty="0">
                <a:solidFill>
                  <a:srgbClr val="27323A"/>
                </a:solidFill>
                <a:latin typeface="Arial" pitchFamily="34" charset="0"/>
                <a:ea typeface="Arial" pitchFamily="34" charset="-122"/>
                <a:cs typeface="Arial" pitchFamily="34" charset="-120"/>
              </a:rPr>
              <a:t>Prueba</a:t>
            </a:r>
            <a:endParaRPr lang="en-US" sz="1600" dirty="0"/>
          </a:p>
        </p:txBody>
      </p:sp>
      <p:sp>
        <p:nvSpPr>
          <p:cNvPr id="34" name="Text 32"/>
          <p:cNvSpPr/>
          <p:nvPr/>
        </p:nvSpPr>
        <p:spPr>
          <a:xfrm>
            <a:off x="10067544" y="3557016"/>
            <a:ext cx="1298448" cy="941832"/>
          </a:xfrm>
          <a:prstGeom prst="rect">
            <a:avLst/>
          </a:prstGeom>
          <a:noFill/>
          <a:ln/>
        </p:spPr>
        <p:txBody>
          <a:bodyPr wrap="square" lIns="0" tIns="0" rIns="0" bIns="0" rtlCol="0" anchor="t"/>
          <a:lstStyle/>
          <a:p>
            <a:pPr indent="0" marL="0">
              <a:buNone/>
            </a:pPr>
            <a:r>
              <a:rPr lang="en-US" sz="1550" dirty="0">
                <a:solidFill>
                  <a:srgbClr val="555F69"/>
                </a:solidFill>
                <a:latin typeface="Arial" pitchFamily="34" charset="0"/>
                <a:ea typeface="Arial" pitchFamily="34" charset="-122"/>
                <a:cs typeface="Arial" pitchFamily="34" charset="-120"/>
              </a:rPr>
              <a:t>Respuesta</a:t>
            </a:r>
            <a:endParaRPr lang="en-US" sz="1550" dirty="0"/>
          </a:p>
          <a:p>
            <a:pPr indent="0" marL="0">
              <a:buNone/>
            </a:pPr>
            <a:r>
              <a:rPr lang="en-US" sz="1550" dirty="0">
                <a:solidFill>
                  <a:srgbClr val="555F69"/>
                </a:solidFill>
                <a:latin typeface="Arial" pitchFamily="34" charset="0"/>
                <a:ea typeface="Arial" pitchFamily="34" charset="-122"/>
                <a:cs typeface="Arial" pitchFamily="34" charset="-120"/>
              </a:rPr>
              <a:t>HTTP</a:t>
            </a:r>
            <a:endParaRPr lang="en-US" sz="1550" dirty="0"/>
          </a:p>
        </p:txBody>
      </p:sp>
      <p:sp>
        <p:nvSpPr>
          <p:cNvPr id="35" name="Text 33"/>
          <p:cNvSpPr/>
          <p:nvPr/>
        </p:nvSpPr>
        <p:spPr>
          <a:xfrm>
            <a:off x="685800" y="5175504"/>
            <a:ext cx="10789920" cy="438912"/>
          </a:xfrm>
          <a:prstGeom prst="rect">
            <a:avLst/>
          </a:prstGeom>
          <a:noFill/>
          <a:ln/>
        </p:spPr>
        <p:txBody>
          <a:bodyPr wrap="square" lIns="0" tIns="0" rIns="0" bIns="0" rtlCol="0" anchor="t"/>
          <a:lstStyle/>
          <a:p>
            <a:pPr indent="0" marL="0">
              <a:buNone/>
            </a:pPr>
            <a:r>
              <a:rPr lang="en-US" sz="2300" b="1" dirty="0">
                <a:solidFill>
                  <a:srgbClr val="27323A"/>
                </a:solidFill>
                <a:latin typeface="Arial" pitchFamily="34" charset="0"/>
                <a:ea typeface="Arial" pitchFamily="34" charset="-122"/>
                <a:cs typeface="Arial" pitchFamily="34" charset="-120"/>
              </a:rPr>
              <a:t>GitHub Actions o Jenkins coordinan las etapas</a:t>
            </a:r>
            <a:endParaRPr lang="en-US" sz="2300" dirty="0"/>
          </a:p>
        </p:txBody>
      </p:sp>
      <p:sp>
        <p:nvSpPr>
          <p:cNvPr id="36" name="Text 34"/>
          <p:cNvSpPr/>
          <p:nvPr/>
        </p:nvSpPr>
        <p:spPr>
          <a:xfrm>
            <a:off x="685800" y="5815584"/>
            <a:ext cx="10789920" cy="384048"/>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Estado remoto protegido, bloqueo cuando esté disponible y credenciales fuera del repositorio</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8" name="Tarjeta Complementos y alternativas"/>
          <p:cNvSpPr/>
          <p:nvPr/>
        </p:nvSpPr>
        <p:spPr>
          <a:xfrm>
            <a:off x="8119872" y="2011680"/>
            <a:ext cx="3410712" cy="3520440"/>
          </a:xfrm>
          <a:prstGeom prst="roundRect">
            <a:avLst>
              <a:gd name="adj" fmla="val 2279"/>
            </a:avLst>
          </a:prstGeom>
          <a:solidFill>
            <a:srgbClr val="F4F5F7"/>
          </a:solidFill>
          <a:ln w="7620">
            <a:solidFill>
              <a:srgbClr val="DDE1E6"/>
            </a:solidFill>
            <a:prstDash val="solid"/>
          </a:ln>
          <a:effectLst/>
        </p:spPr>
      </p:sp>
      <p:sp>
        <p:nvSpPr>
          <p:cNvPr id="27" name="Tarjeta Limitaciones"/>
          <p:cNvSpPr/>
          <p:nvPr/>
        </p:nvSpPr>
        <p:spPr>
          <a:xfrm>
            <a:off x="4393692" y="2011680"/>
            <a:ext cx="3410712" cy="3520440"/>
          </a:xfrm>
          <a:prstGeom prst="roundRect">
            <a:avLst>
              <a:gd name="adj" fmla="val 2279"/>
            </a:avLst>
          </a:prstGeom>
          <a:solidFill>
            <a:srgbClr val="F4F5F7"/>
          </a:solidFill>
          <a:ln w="7620">
            <a:solidFill>
              <a:srgbClr val="DDE1E6"/>
            </a:solidFill>
            <a:prstDash val="solid"/>
          </a:ln>
          <a:effectLst/>
        </p:spPr>
      </p:sp>
      <p:sp>
        <p:nvSpPr>
          <p:cNvPr id="26" name="Tarjeta Ventajas"/>
          <p:cNvSpPr/>
          <p:nvPr/>
        </p:nvSpPr>
        <p:spPr>
          <a:xfrm>
            <a:off x="667512" y="2011680"/>
            <a:ext cx="3410712" cy="3520440"/>
          </a:xfrm>
          <a:prstGeom prst="roundRect">
            <a:avLst>
              <a:gd name="adj" fmla="val 2279"/>
            </a:avLst>
          </a:prstGeom>
          <a:solidFill>
            <a:srgbClr val="F4F5F7"/>
          </a:solidFill>
          <a:ln w="7620">
            <a:solidFill>
              <a:srgbClr val="DDE1E6"/>
            </a:solidFill>
            <a:prstDash val="solid"/>
          </a:ln>
          <a:effectLst/>
        </p:spPr>
      </p:sp>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Ventajas, limitaciones y complementos</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La elección depende del tamaño del problema y del control que requiere.</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Evaluación</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18 / 21</a:t>
            </a:r>
            <a:endParaRPr lang="en-US" sz="1050" dirty="0"/>
          </a:p>
        </p:txBody>
      </p:sp>
      <p:sp>
        <p:nvSpPr>
          <p:cNvPr id="6" name="Text 4"/>
          <p:cNvSpPr/>
          <p:nvPr/>
        </p:nvSpPr>
        <p:spPr>
          <a:xfrm>
            <a:off x="896112" y="2240280"/>
            <a:ext cx="2953512" cy="676656"/>
          </a:xfrm>
          <a:prstGeom prst="rect">
            <a:avLst/>
          </a:prstGeom>
          <a:noFill/>
          <a:ln/>
        </p:spPr>
        <p:txBody>
          <a:bodyPr wrap="square" lIns="0" tIns="0" rIns="0" bIns="0" rtlCol="0" anchor="t"/>
          <a:lstStyle/>
          <a:p>
            <a:pPr indent="0" marL="0">
              <a:buNone/>
            </a:pPr>
            <a:r>
              <a:rPr lang="en-US" sz="2100" b="1" dirty="0">
                <a:solidFill>
                  <a:srgbClr val="6543BD"/>
                </a:solidFill>
                <a:latin typeface="Arial" pitchFamily="34" charset="0"/>
                <a:ea typeface="Arial" pitchFamily="34" charset="-122"/>
                <a:cs typeface="Arial" pitchFamily="34" charset="-120"/>
              </a:rPr>
              <a:t>Ventajas</a:t>
            </a:r>
            <a:endParaRPr lang="en-US" sz="2100" dirty="0"/>
          </a:p>
        </p:txBody>
      </p:sp>
      <p:sp>
        <p:nvSpPr>
          <p:cNvPr id="7" name="Text 5"/>
          <p:cNvSpPr/>
          <p:nvPr/>
        </p:nvSpPr>
        <p:spPr>
          <a:xfrm>
            <a:off x="896112" y="3017520"/>
            <a:ext cx="2953512" cy="56692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Configuración versionable</a:t>
            </a:r>
            <a:endParaRPr lang="en-US" sz="1650" dirty="0"/>
          </a:p>
        </p:txBody>
      </p:sp>
      <p:sp>
        <p:nvSpPr>
          <p:cNvPr id="8" name="Text 6"/>
          <p:cNvSpPr/>
          <p:nvPr/>
        </p:nvSpPr>
        <p:spPr>
          <a:xfrm>
            <a:off x="896112" y="3566160"/>
            <a:ext cx="2953512" cy="56692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Plan antes de modificar</a:t>
            </a:r>
            <a:endParaRPr lang="en-US" sz="1650" dirty="0"/>
          </a:p>
        </p:txBody>
      </p:sp>
      <p:sp>
        <p:nvSpPr>
          <p:cNvPr id="9" name="Text 7"/>
          <p:cNvSpPr/>
          <p:nvPr/>
        </p:nvSpPr>
        <p:spPr>
          <a:xfrm>
            <a:off x="896112" y="4114800"/>
            <a:ext cx="2953512" cy="56692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Múltiples providers</a:t>
            </a:r>
            <a:endParaRPr lang="en-US" sz="1650" dirty="0"/>
          </a:p>
        </p:txBody>
      </p:sp>
      <p:sp>
        <p:nvSpPr>
          <p:cNvPr id="10" name="Text 8"/>
          <p:cNvSpPr/>
          <p:nvPr/>
        </p:nvSpPr>
        <p:spPr>
          <a:xfrm>
            <a:off x="896112" y="4782312"/>
            <a:ext cx="2953512" cy="56692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Módulos reutilizables</a:t>
            </a:r>
            <a:endParaRPr lang="en-US" sz="1650" dirty="0"/>
          </a:p>
        </p:txBody>
      </p:sp>
      <p:sp>
        <p:nvSpPr>
          <p:cNvPr id="11" name="Text 9"/>
          <p:cNvSpPr/>
          <p:nvPr/>
        </p:nvSpPr>
        <p:spPr>
          <a:xfrm>
            <a:off x="4622292" y="2240280"/>
            <a:ext cx="2953512" cy="676656"/>
          </a:xfrm>
          <a:prstGeom prst="rect">
            <a:avLst/>
          </a:prstGeom>
          <a:noFill/>
          <a:ln/>
        </p:spPr>
        <p:txBody>
          <a:bodyPr wrap="square" lIns="0" tIns="0" rIns="0" bIns="0" rtlCol="0" anchor="t"/>
          <a:lstStyle/>
          <a:p>
            <a:pPr indent="0" marL="0">
              <a:buNone/>
            </a:pPr>
            <a:r>
              <a:rPr lang="en-US" sz="2100" b="1" dirty="0">
                <a:solidFill>
                  <a:srgbClr val="27323A"/>
                </a:solidFill>
                <a:latin typeface="Arial" pitchFamily="34" charset="0"/>
                <a:ea typeface="Arial" pitchFamily="34" charset="-122"/>
                <a:cs typeface="Arial" pitchFamily="34" charset="-120"/>
              </a:rPr>
              <a:t>Limitaciones</a:t>
            </a:r>
            <a:endParaRPr lang="en-US" sz="2100" dirty="0"/>
          </a:p>
        </p:txBody>
      </p:sp>
      <p:sp>
        <p:nvSpPr>
          <p:cNvPr id="12" name="Text 10"/>
          <p:cNvSpPr/>
          <p:nvPr/>
        </p:nvSpPr>
        <p:spPr>
          <a:xfrm>
            <a:off x="4622292" y="3017520"/>
            <a:ext cx="2953512" cy="56692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Curva de aprendizaje</a:t>
            </a:r>
            <a:endParaRPr lang="en-US" sz="1650" dirty="0"/>
          </a:p>
        </p:txBody>
      </p:sp>
      <p:sp>
        <p:nvSpPr>
          <p:cNvPr id="13" name="Text 11"/>
          <p:cNvSpPr/>
          <p:nvPr/>
        </p:nvSpPr>
        <p:spPr>
          <a:xfrm>
            <a:off x="4622292" y="3566160"/>
            <a:ext cx="2953512" cy="56692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State y secretos que proteger</a:t>
            </a:r>
            <a:endParaRPr lang="en-US" sz="1650" dirty="0"/>
          </a:p>
        </p:txBody>
      </p:sp>
      <p:sp>
        <p:nvSpPr>
          <p:cNvPr id="14" name="Text 12"/>
          <p:cNvSpPr/>
          <p:nvPr/>
        </p:nvSpPr>
        <p:spPr>
          <a:xfrm>
            <a:off x="4622292" y="4114800"/>
            <a:ext cx="2953512" cy="56692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Dependencia de APIs y permisos</a:t>
            </a:r>
            <a:endParaRPr lang="en-US" sz="1650" dirty="0"/>
          </a:p>
        </p:txBody>
      </p:sp>
      <p:sp>
        <p:nvSpPr>
          <p:cNvPr id="15" name="Text 13"/>
          <p:cNvSpPr/>
          <p:nvPr/>
        </p:nvSpPr>
        <p:spPr>
          <a:xfrm>
            <a:off x="4622292" y="4782312"/>
            <a:ext cx="2953512" cy="56692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Cambios que reemplazan recursos</a:t>
            </a:r>
            <a:endParaRPr lang="en-US" sz="1650" dirty="0"/>
          </a:p>
        </p:txBody>
      </p:sp>
      <p:sp>
        <p:nvSpPr>
          <p:cNvPr id="16" name="Text 14"/>
          <p:cNvSpPr/>
          <p:nvPr/>
        </p:nvSpPr>
        <p:spPr>
          <a:xfrm>
            <a:off x="8348472" y="2240280"/>
            <a:ext cx="2953512" cy="676656"/>
          </a:xfrm>
          <a:prstGeom prst="rect">
            <a:avLst/>
          </a:prstGeom>
          <a:noFill/>
          <a:ln/>
        </p:spPr>
        <p:txBody>
          <a:bodyPr wrap="square" lIns="0" tIns="0" rIns="0" bIns="0" rtlCol="0" anchor="t"/>
          <a:lstStyle/>
          <a:p>
            <a:pPr indent="0" marL="0">
              <a:buNone/>
            </a:pPr>
            <a:r>
              <a:rPr lang="en-US" sz="2100" b="1" dirty="0">
                <a:solidFill>
                  <a:srgbClr val="27323A"/>
                </a:solidFill>
                <a:latin typeface="Arial" pitchFamily="34" charset="0"/>
                <a:ea typeface="Arial" pitchFamily="34" charset="-122"/>
                <a:cs typeface="Arial" pitchFamily="34" charset="-120"/>
              </a:rPr>
              <a:t>Complementos y alternativas</a:t>
            </a:r>
            <a:endParaRPr lang="en-US" sz="2100" dirty="0"/>
          </a:p>
        </p:txBody>
      </p:sp>
      <p:sp>
        <p:nvSpPr>
          <p:cNvPr id="17" name="Text 15"/>
          <p:cNvSpPr/>
          <p:nvPr/>
        </p:nvSpPr>
        <p:spPr>
          <a:xfrm>
            <a:off x="8348472" y="3017520"/>
            <a:ext cx="2953512" cy="56692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Ansible: configurar sistemas</a:t>
            </a:r>
            <a:endParaRPr lang="en-US" sz="1650" dirty="0"/>
          </a:p>
        </p:txBody>
      </p:sp>
      <p:sp>
        <p:nvSpPr>
          <p:cNvPr id="18" name="Text 16"/>
          <p:cNvSpPr/>
          <p:nvPr/>
        </p:nvSpPr>
        <p:spPr>
          <a:xfrm>
            <a:off x="8348472" y="3566160"/>
            <a:ext cx="2953512" cy="56692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Jenkins: coordinar pipelines</a:t>
            </a:r>
            <a:endParaRPr lang="en-US" sz="1650" dirty="0"/>
          </a:p>
        </p:txBody>
      </p:sp>
      <p:sp>
        <p:nvSpPr>
          <p:cNvPr id="19" name="Text 17"/>
          <p:cNvSpPr/>
          <p:nvPr/>
        </p:nvSpPr>
        <p:spPr>
          <a:xfrm>
            <a:off x="8348472" y="4114800"/>
            <a:ext cx="2953512" cy="56692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Docker / Compose: servicios</a:t>
            </a:r>
            <a:endParaRPr lang="en-US" sz="1650" dirty="0"/>
          </a:p>
        </p:txBody>
      </p:sp>
      <p:sp>
        <p:nvSpPr>
          <p:cNvPr id="20" name="Text 18"/>
          <p:cNvSpPr/>
          <p:nvPr/>
        </p:nvSpPr>
        <p:spPr>
          <a:xfrm>
            <a:off x="8348472" y="4782312"/>
            <a:ext cx="2953512" cy="56692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OpenTofu y Pulumi: alternativas</a:t>
            </a:r>
            <a:endParaRPr lang="en-US" sz="1650" dirty="0"/>
          </a:p>
        </p:txBody>
      </p:sp>
      <p:sp>
        <p:nvSpPr>
          <p:cNvPr id="22" name="Text 20"/>
          <p:cNvSpPr/>
          <p:nvPr/>
        </p:nvSpPr>
        <p:spPr>
          <a:xfrm>
            <a:off x="685800" y="5852160"/>
            <a:ext cx="1097280" cy="365760"/>
          </a:xfrm>
          <a:prstGeom prst="rect">
            <a:avLst/>
          </a:prstGeom>
          <a:noFill/>
          <a:ln/>
        </p:spPr>
        <p:txBody>
          <a:bodyPr wrap="square" lIns="0" tIns="0" rIns="0" bIns="0" rtlCol="0" anchor="t"/>
          <a:lstStyle/>
          <a:p>
            <a:pPr indent="0" marL="0">
              <a:buNone/>
            </a:pPr>
            <a:r>
              <a:rPr lang="en-US" sz="1650" b="1" dirty="0">
                <a:solidFill>
                  <a:srgbClr val="6543BD"/>
                </a:solidFill>
                <a:latin typeface="Arial" pitchFamily="34" charset="0"/>
                <a:ea typeface="Arial" pitchFamily="34" charset="-122"/>
                <a:cs typeface="Arial" pitchFamily="34" charset="-120"/>
              </a:rPr>
              <a:t>Conviene</a:t>
            </a:r>
            <a:endParaRPr lang="en-US" sz="1650" dirty="0"/>
          </a:p>
        </p:txBody>
      </p:sp>
      <p:sp>
        <p:nvSpPr>
          <p:cNvPr id="23" name="Text 21"/>
          <p:cNvSpPr/>
          <p:nvPr/>
        </p:nvSpPr>
        <p:spPr>
          <a:xfrm>
            <a:off x="1828800" y="5852160"/>
            <a:ext cx="3931920" cy="365760"/>
          </a:xfrm>
          <a:prstGeom prst="rect">
            <a:avLst/>
          </a:prstGeom>
          <a:noFill/>
          <a:ln/>
        </p:spPr>
        <p:txBody>
          <a:bodyPr wrap="square" lIns="0" tIns="0" rIns="0" bIns="0" rtlCol="0" anchor="t"/>
          <a:lstStyle/>
          <a:p>
            <a:pPr indent="0" marL="0">
              <a:buNone/>
            </a:pPr>
            <a:r>
              <a:rPr lang="en-US" sz="1600" dirty="0">
                <a:solidFill>
                  <a:srgbClr val="27323A"/>
                </a:solidFill>
                <a:latin typeface="Arial" pitchFamily="34" charset="0"/>
                <a:ea typeface="Arial" pitchFamily="34" charset="-122"/>
                <a:cs typeface="Arial" pitchFamily="34" charset="-120"/>
              </a:rPr>
              <a:t>Infraestructura compartida o repetida</a:t>
            </a:r>
            <a:endParaRPr lang="en-US" sz="1600" dirty="0"/>
          </a:p>
        </p:txBody>
      </p:sp>
      <p:sp>
        <p:nvSpPr>
          <p:cNvPr id="24" name="Text 22"/>
          <p:cNvSpPr/>
          <p:nvPr/>
        </p:nvSpPr>
        <p:spPr>
          <a:xfrm>
            <a:off x="6080760" y="5852160"/>
            <a:ext cx="2194560" cy="365760"/>
          </a:xfrm>
          <a:prstGeom prst="rect">
            <a:avLst/>
          </a:prstGeom>
          <a:noFill/>
          <a:ln/>
        </p:spPr>
        <p:txBody>
          <a:bodyPr wrap="square" lIns="0" tIns="0" rIns="0" bIns="0" rtlCol="0" anchor="t"/>
          <a:lstStyle/>
          <a:p>
            <a:pPr indent="0" marL="0">
              <a:buNone/>
            </a:pPr>
            <a:r>
              <a:rPr lang="en-US" sz="1600" b="1" dirty="0">
                <a:solidFill>
                  <a:srgbClr val="27323A"/>
                </a:solidFill>
                <a:latin typeface="Arial" pitchFamily="34" charset="0"/>
                <a:ea typeface="Arial" pitchFamily="34" charset="-122"/>
                <a:cs typeface="Arial" pitchFamily="34" charset="-120"/>
              </a:rPr>
              <a:t>Puede ser excesivo</a:t>
            </a:r>
            <a:endParaRPr lang="en-US" sz="1600" dirty="0"/>
          </a:p>
        </p:txBody>
      </p:sp>
      <p:sp>
        <p:nvSpPr>
          <p:cNvPr id="25" name="Text 23"/>
          <p:cNvSpPr/>
          <p:nvPr/>
        </p:nvSpPr>
        <p:spPr>
          <a:xfrm>
            <a:off x="8366760" y="5852160"/>
            <a:ext cx="3154680" cy="365760"/>
          </a:xfrm>
          <a:prstGeom prst="rect">
            <a:avLst/>
          </a:prstGeom>
          <a:noFill/>
          <a:ln/>
        </p:spPr>
        <p:txBody>
          <a:bodyPr wrap="square" lIns="0" tIns="0" rIns="0" bIns="0" rtlCol="0" anchor="t"/>
          <a:lstStyle/>
          <a:p>
            <a:pPr indent="0" marL="0">
              <a:buNone/>
            </a:pPr>
            <a:r>
              <a:rPr lang="en-US" sz="1600" dirty="0">
                <a:solidFill>
                  <a:srgbClr val="555F69"/>
                </a:solidFill>
                <a:latin typeface="Arial" pitchFamily="34" charset="0"/>
                <a:ea typeface="Arial" pitchFamily="34" charset="-122"/>
                <a:cs typeface="Arial" pitchFamily="34" charset="-120"/>
              </a:rPr>
              <a:t>Un contenedor desechable aislado</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Demostración y laboratorio</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Objetivo: aprovisionar Nginx localmente con los archivos .tf del ejemplo.</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Demostración</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19 / 21</a:t>
            </a:r>
            <a:endParaRPr lang="en-US" sz="1050" dirty="0"/>
          </a:p>
        </p:txBody>
      </p:sp>
      <p:sp>
        <p:nvSpPr>
          <p:cNvPr id="6" name="Text 4"/>
          <p:cNvSpPr/>
          <p:nvPr/>
        </p:nvSpPr>
        <p:spPr>
          <a:xfrm>
            <a:off x="685800" y="1993392"/>
            <a:ext cx="1828800" cy="320040"/>
          </a:xfrm>
          <a:prstGeom prst="rect">
            <a:avLst/>
          </a:prstGeom>
          <a:noFill/>
          <a:ln/>
        </p:spPr>
        <p:txBody>
          <a:bodyPr wrap="square" lIns="0" tIns="0" rIns="0" bIns="0" rtlCol="0" anchor="t"/>
          <a:lstStyle/>
          <a:p>
            <a:pPr indent="0" marL="0">
              <a:buNone/>
            </a:pPr>
            <a:r>
              <a:rPr lang="en-US" sz="1800" b="1" dirty="0">
                <a:solidFill>
                  <a:srgbClr val="27323A"/>
                </a:solidFill>
                <a:latin typeface="Arial" pitchFamily="34" charset="0"/>
                <a:ea typeface="Arial" pitchFamily="34" charset="-122"/>
                <a:cs typeface="Arial" pitchFamily="34" charset="-120"/>
              </a:rPr>
              <a:t>Requisitos</a:t>
            </a:r>
            <a:endParaRPr lang="en-US" sz="1800" dirty="0"/>
          </a:p>
        </p:txBody>
      </p:sp>
      <p:sp>
        <p:nvSpPr>
          <p:cNvPr id="7" name="Text 5"/>
          <p:cNvSpPr/>
          <p:nvPr/>
        </p:nvSpPr>
        <p:spPr>
          <a:xfrm>
            <a:off x="2624328" y="1993392"/>
            <a:ext cx="8759952" cy="457200"/>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Terraform CLI, Docker activo con contenedores Linux, internet y puerto 8080 libre</a:t>
            </a:r>
            <a:endParaRPr lang="en-US" sz="1700" dirty="0"/>
          </a:p>
        </p:txBody>
      </p:sp>
      <p:sp>
        <p:nvSpPr>
          <p:cNvPr id="8" name="Text 6"/>
          <p:cNvSpPr/>
          <p:nvPr/>
        </p:nvSpPr>
        <p:spPr>
          <a:xfrm>
            <a:off x="694944" y="2761488"/>
            <a:ext cx="2743200" cy="338328"/>
          </a:xfrm>
          <a:prstGeom prst="rect">
            <a:avLst/>
          </a:prstGeom>
          <a:noFill/>
          <a:ln/>
        </p:spPr>
        <p:txBody>
          <a:bodyPr wrap="square" lIns="0" tIns="0" rIns="0" bIns="0" rtlCol="0" anchor="t"/>
          <a:lstStyle/>
          <a:p>
            <a:pPr indent="0" marL="0">
              <a:buNone/>
            </a:pPr>
            <a:r>
              <a:rPr lang="en-US" sz="2000" b="1" dirty="0">
                <a:solidFill>
                  <a:srgbClr val="27323A"/>
                </a:solidFill>
                <a:latin typeface="Arial" pitchFamily="34" charset="0"/>
                <a:ea typeface="Arial" pitchFamily="34" charset="-122"/>
                <a:cs typeface="Arial" pitchFamily="34" charset="-120"/>
              </a:rPr>
              <a:t>Antes</a:t>
            </a:r>
            <a:endParaRPr lang="en-US" sz="2000" dirty="0"/>
          </a:p>
        </p:txBody>
      </p:sp>
      <p:sp>
        <p:nvSpPr>
          <p:cNvPr id="9" name="Text 7"/>
          <p:cNvSpPr/>
          <p:nvPr/>
        </p:nvSpPr>
        <p:spPr>
          <a:xfrm>
            <a:off x="694944" y="3136392"/>
            <a:ext cx="4892040" cy="402336"/>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Sin web-terraform en Docker.</a:t>
            </a:r>
            <a:endParaRPr lang="en-US" sz="1700" dirty="0"/>
          </a:p>
        </p:txBody>
      </p:sp>
      <p:sp>
        <p:nvSpPr>
          <p:cNvPr id="10" name="Text 8"/>
          <p:cNvSpPr/>
          <p:nvPr/>
        </p:nvSpPr>
        <p:spPr>
          <a:xfrm>
            <a:off x="694944" y="3547872"/>
            <a:ext cx="2743200" cy="338328"/>
          </a:xfrm>
          <a:prstGeom prst="rect">
            <a:avLst/>
          </a:prstGeom>
          <a:noFill/>
          <a:ln/>
        </p:spPr>
        <p:txBody>
          <a:bodyPr wrap="square" lIns="0" tIns="0" rIns="0" bIns="0" rtlCol="0" anchor="t"/>
          <a:lstStyle/>
          <a:p>
            <a:pPr indent="0" marL="0">
              <a:buNone/>
            </a:pPr>
            <a:r>
              <a:rPr lang="en-US" sz="2000" b="1" dirty="0">
                <a:solidFill>
                  <a:srgbClr val="6543BD"/>
                </a:solidFill>
                <a:latin typeface="Arial" pitchFamily="34" charset="0"/>
                <a:ea typeface="Arial" pitchFamily="34" charset="-122"/>
                <a:cs typeface="Arial" pitchFamily="34" charset="-120"/>
              </a:rPr>
              <a:t>Automatización</a:t>
            </a:r>
            <a:endParaRPr lang="en-US" sz="2000" dirty="0"/>
          </a:p>
        </p:txBody>
      </p:sp>
      <p:sp>
        <p:nvSpPr>
          <p:cNvPr id="11" name="Text 9"/>
          <p:cNvSpPr/>
          <p:nvPr/>
        </p:nvSpPr>
        <p:spPr>
          <a:xfrm>
            <a:off x="694944" y="3922776"/>
            <a:ext cx="4892040" cy="402336"/>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Descargar la imagen y crear el contenedor.</a:t>
            </a:r>
            <a:endParaRPr lang="en-US" sz="1700" dirty="0"/>
          </a:p>
        </p:txBody>
      </p:sp>
      <p:sp>
        <p:nvSpPr>
          <p:cNvPr id="12" name="Text 10"/>
          <p:cNvSpPr/>
          <p:nvPr/>
        </p:nvSpPr>
        <p:spPr>
          <a:xfrm>
            <a:off x="694944" y="4334256"/>
            <a:ext cx="2743200" cy="338328"/>
          </a:xfrm>
          <a:prstGeom prst="rect">
            <a:avLst/>
          </a:prstGeom>
          <a:noFill/>
          <a:ln/>
        </p:spPr>
        <p:txBody>
          <a:bodyPr wrap="square" lIns="0" tIns="0" rIns="0" bIns="0" rtlCol="0" anchor="t"/>
          <a:lstStyle/>
          <a:p>
            <a:pPr indent="0" marL="0">
              <a:buNone/>
            </a:pPr>
            <a:r>
              <a:rPr lang="en-US" sz="2000" b="1" dirty="0">
                <a:solidFill>
                  <a:srgbClr val="27323A"/>
                </a:solidFill>
                <a:latin typeface="Arial" pitchFamily="34" charset="0"/>
                <a:ea typeface="Arial" pitchFamily="34" charset="-122"/>
                <a:cs typeface="Arial" pitchFamily="34" charset="-120"/>
              </a:rPr>
              <a:t>Resultado esperado</a:t>
            </a:r>
            <a:endParaRPr lang="en-US" sz="2000" dirty="0"/>
          </a:p>
        </p:txBody>
      </p:sp>
      <p:sp>
        <p:nvSpPr>
          <p:cNvPr id="13" name="Text 11"/>
          <p:cNvSpPr/>
          <p:nvPr/>
        </p:nvSpPr>
        <p:spPr>
          <a:xfrm>
            <a:off x="694944" y="4709160"/>
            <a:ext cx="4892040" cy="402336"/>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Nginx accesible en http://localhost:8080.</a:t>
            </a:r>
            <a:endParaRPr lang="en-US" sz="1700" dirty="0"/>
          </a:p>
        </p:txBody>
      </p:sp>
      <p:sp>
        <p:nvSpPr>
          <p:cNvPr id="14" name="Shape 12"/>
          <p:cNvSpPr/>
          <p:nvPr/>
        </p:nvSpPr>
        <p:spPr>
          <a:xfrm>
            <a:off x="6044184" y="2670048"/>
            <a:ext cx="5468112" cy="2450592"/>
          </a:xfrm>
          <a:prstGeom prst="rect">
            <a:avLst/>
          </a:prstGeom>
          <a:solidFill>
            <a:srgbClr val="F4F5F7"/>
          </a:solidFill>
          <a:ln w="8890">
            <a:solidFill>
              <a:srgbClr val="F4F5F7"/>
            </a:solidFill>
            <a:prstDash val="solid"/>
          </a:ln>
        </p:spPr>
      </p:sp>
      <p:sp>
        <p:nvSpPr>
          <p:cNvPr id="15" name="Text 13"/>
          <p:cNvSpPr/>
          <p:nvPr/>
        </p:nvSpPr>
        <p:spPr>
          <a:xfrm>
            <a:off x="6272784" y="2880360"/>
            <a:ext cx="5010912" cy="2029968"/>
          </a:xfrm>
          <a:prstGeom prst="rect">
            <a:avLst/>
          </a:prstGeom>
          <a:noFill/>
          <a:ln/>
        </p:spPr>
        <p:txBody>
          <a:bodyPr wrap="square" lIns="0" tIns="0" rIns="0" bIns="0" rtlCol="0" anchor="t"/>
          <a:lstStyle/>
          <a:p>
            <a:pPr indent="0" marL="0">
              <a:lnSpc>
                <a:spcPct val="102000"/>
              </a:lnSpc>
              <a:buNone/>
            </a:pPr>
            <a:r>
              <a:rPr lang="en-US" sz="1700" dirty="0">
                <a:solidFill>
                  <a:srgbClr val="27323A"/>
                </a:solidFill>
                <a:latin typeface="Courier New" pitchFamily="34" charset="0"/>
                <a:ea typeface="Courier New" pitchFamily="34" charset="-122"/>
                <a:cs typeface="Courier New" pitchFamily="34" charset="-120"/>
              </a:rPr>
              <a:t>terraform init</a:t>
            </a:r>
            <a:endParaRPr lang="en-US" sz="1700" dirty="0"/>
          </a:p>
          <a:p>
            <a:pPr indent="0" marL="0">
              <a:lnSpc>
                <a:spcPct val="102000"/>
              </a:lnSpc>
              <a:buNone/>
            </a:pPr>
            <a:r>
              <a:rPr lang="en-US" sz="1700" dirty="0">
                <a:solidFill>
                  <a:srgbClr val="27323A"/>
                </a:solidFill>
                <a:latin typeface="Courier New" pitchFamily="34" charset="0"/>
                <a:ea typeface="Courier New" pitchFamily="34" charset="-122"/>
                <a:cs typeface="Courier New" pitchFamily="34" charset="-120"/>
              </a:rPr>
              <a:t>terraform fmt</a:t>
            </a:r>
            <a:endParaRPr lang="en-US" sz="1700" dirty="0"/>
          </a:p>
          <a:p>
            <a:pPr indent="0" marL="0">
              <a:lnSpc>
                <a:spcPct val="102000"/>
              </a:lnSpc>
              <a:buNone/>
            </a:pPr>
            <a:r>
              <a:rPr lang="en-US" sz="1700" dirty="0">
                <a:solidFill>
                  <a:srgbClr val="27323A"/>
                </a:solidFill>
                <a:latin typeface="Courier New" pitchFamily="34" charset="0"/>
                <a:ea typeface="Courier New" pitchFamily="34" charset="-122"/>
                <a:cs typeface="Courier New" pitchFamily="34" charset="-120"/>
              </a:rPr>
              <a:t>terraform validate</a:t>
            </a:r>
            <a:endParaRPr lang="en-US" sz="1700" dirty="0"/>
          </a:p>
          <a:p>
            <a:pPr indent="0" marL="0">
              <a:lnSpc>
                <a:spcPct val="102000"/>
              </a:lnSpc>
              <a:buNone/>
            </a:pPr>
            <a:r>
              <a:rPr lang="en-US" sz="1700" dirty="0">
                <a:solidFill>
                  <a:srgbClr val="27323A"/>
                </a:solidFill>
                <a:latin typeface="Courier New" pitchFamily="34" charset="0"/>
                <a:ea typeface="Courier New" pitchFamily="34" charset="-122"/>
                <a:cs typeface="Courier New" pitchFamily="34" charset="-120"/>
              </a:rPr>
              <a:t>terraform plan -out=tfplan</a:t>
            </a:r>
            <a:endParaRPr lang="en-US" sz="1700" dirty="0"/>
          </a:p>
          <a:p>
            <a:pPr indent="0" marL="0">
              <a:lnSpc>
                <a:spcPct val="102000"/>
              </a:lnSpc>
              <a:buNone/>
            </a:pPr>
            <a:r>
              <a:rPr lang="en-US" sz="1700" dirty="0">
                <a:solidFill>
                  <a:srgbClr val="27323A"/>
                </a:solidFill>
                <a:latin typeface="Courier New" pitchFamily="34" charset="0"/>
                <a:ea typeface="Courier New" pitchFamily="34" charset="-122"/>
                <a:cs typeface="Courier New" pitchFamily="34" charset="-120"/>
              </a:rPr>
              <a:t>terraform apply tfplan</a:t>
            </a:r>
            <a:endParaRPr lang="en-US" sz="1700" dirty="0"/>
          </a:p>
          <a:p>
            <a:pPr indent="0" marL="0">
              <a:lnSpc>
                <a:spcPct val="102000"/>
              </a:lnSpc>
              <a:buNone/>
            </a:pPr>
            <a:r>
              <a:rPr lang="en-US" sz="1700" dirty="0">
                <a:solidFill>
                  <a:srgbClr val="27323A"/>
                </a:solidFill>
                <a:latin typeface="Courier New" pitchFamily="34" charset="0"/>
                <a:ea typeface="Courier New" pitchFamily="34" charset="-122"/>
                <a:cs typeface="Courier New" pitchFamily="34" charset="-120"/>
              </a:rPr>
              <a:t>docker ps</a:t>
            </a:r>
            <a:endParaRPr lang="en-US" sz="1700" dirty="0"/>
          </a:p>
        </p:txBody>
      </p:sp>
      <p:sp>
        <p:nvSpPr>
          <p:cNvPr id="16" name="Text 14"/>
          <p:cNvSpPr/>
          <p:nvPr/>
        </p:nvSpPr>
        <p:spPr>
          <a:xfrm>
            <a:off x="6071616" y="5367528"/>
            <a:ext cx="1371600" cy="292608"/>
          </a:xfrm>
          <a:prstGeom prst="rect">
            <a:avLst/>
          </a:prstGeom>
          <a:noFill/>
          <a:ln/>
        </p:spPr>
        <p:txBody>
          <a:bodyPr wrap="square" lIns="0" tIns="0" rIns="0" bIns="0" rtlCol="0" anchor="t"/>
          <a:lstStyle/>
          <a:p>
            <a:pPr indent="0" marL="0">
              <a:buNone/>
            </a:pPr>
            <a:r>
              <a:rPr lang="en-US" sz="1650" b="1" dirty="0">
                <a:solidFill>
                  <a:srgbClr val="27323A"/>
                </a:solidFill>
                <a:latin typeface="Arial" pitchFamily="34" charset="0"/>
                <a:ea typeface="Arial" pitchFamily="34" charset="-122"/>
                <a:cs typeface="Arial" pitchFamily="34" charset="-120"/>
              </a:rPr>
              <a:t>Evidencia</a:t>
            </a:r>
            <a:endParaRPr lang="en-US" sz="1650" dirty="0"/>
          </a:p>
        </p:txBody>
      </p:sp>
      <p:sp>
        <p:nvSpPr>
          <p:cNvPr id="17" name="Text 15"/>
          <p:cNvSpPr/>
          <p:nvPr/>
        </p:nvSpPr>
        <p:spPr>
          <a:xfrm>
            <a:off x="7479792" y="5367528"/>
            <a:ext cx="3931920" cy="502920"/>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Plan, contenedor activo y respuesta HTTP</a:t>
            </a:r>
            <a:endParaRPr lang="en-US" sz="1650" dirty="0"/>
          </a:p>
        </p:txBody>
      </p:sp>
      <p:sp>
        <p:nvSpPr>
          <p:cNvPr id="18" name="Text 16"/>
          <p:cNvSpPr/>
          <p:nvPr/>
        </p:nvSpPr>
        <p:spPr>
          <a:xfrm>
            <a:off x="694944" y="5971032"/>
            <a:ext cx="10789920" cy="365760"/>
          </a:xfrm>
          <a:prstGeom prst="rect">
            <a:avLst/>
          </a:prstGeom>
          <a:noFill/>
          <a:ln/>
        </p:spPr>
        <p:txBody>
          <a:bodyPr wrap="square" lIns="0" tIns="0" rIns="0" bIns="0" rtlCol="0" anchor="t"/>
          <a:lstStyle/>
          <a:p>
            <a:pPr indent="0" marL="0">
              <a:buNone/>
            </a:pPr>
            <a:r>
              <a:rPr lang="en-US" sz="1700" b="1" dirty="0">
                <a:solidFill>
                  <a:srgbClr val="6543BD"/>
                </a:solidFill>
                <a:latin typeface="Arial" pitchFamily="34" charset="0"/>
                <a:ea typeface="Arial" pitchFamily="34" charset="-122"/>
                <a:cs typeface="Arial" pitchFamily="34" charset="-120"/>
              </a:rPr>
              <a:t>Reto: publicar el servicio en 8081, revisar el nuevo plan y demostrar el cambio</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0272E"/>
        </a:solidFill>
      </p:bgPr>
    </p:bg>
    <p:spTree>
      <p:nvGrpSpPr>
        <p:cNvPr id="1" name=""/>
        <p:cNvGrpSpPr/>
        <p:nvPr/>
      </p:nvGrpSpPr>
      <p:grpSpPr>
        <a:xfrm>
          <a:off x="0" y="0"/>
          <a:ext cx="0" cy="0"/>
          <a:chOff x="0" y="0"/>
          <a:chExt cx="0" cy="0"/>
        </a:xfrm>
      </p:grpSpPr>
      <p:sp>
        <p:nvSpPr>
          <p:cNvPr id="17" name="Tarjeta Pipeline real"/>
          <p:cNvSpPr/>
          <p:nvPr/>
        </p:nvSpPr>
        <p:spPr>
          <a:xfrm>
            <a:off x="667512" y="4727448"/>
            <a:ext cx="10863072" cy="1133856"/>
          </a:xfrm>
          <a:prstGeom prst="roundRect">
            <a:avLst>
              <a:gd name="adj" fmla="val 6855"/>
            </a:avLst>
          </a:prstGeom>
          <a:solidFill>
            <a:srgbClr val="27323A"/>
          </a:solidFill>
          <a:ln w="7620">
            <a:solidFill>
              <a:srgbClr val="555F69"/>
            </a:solidFill>
            <a:prstDash val="solid"/>
          </a:ln>
          <a:effectLst/>
        </p:spPr>
      </p:sp>
      <p:sp>
        <p:nvSpPr>
          <p:cNvPr id="16" name="Tarjeta Proceso manual"/>
          <p:cNvSpPr/>
          <p:nvPr/>
        </p:nvSpPr>
        <p:spPr>
          <a:xfrm>
            <a:off x="667512" y="3355848"/>
            <a:ext cx="10863072" cy="1133856"/>
          </a:xfrm>
          <a:prstGeom prst="roundRect">
            <a:avLst>
              <a:gd name="adj" fmla="val 6855"/>
            </a:avLst>
          </a:prstGeom>
          <a:solidFill>
            <a:srgbClr val="27323A"/>
          </a:solidFill>
          <a:ln w="7620">
            <a:solidFill>
              <a:srgbClr val="555F69"/>
            </a:solidFill>
            <a:prstDash val="solid"/>
          </a:ln>
          <a:effectLst/>
        </p:spPr>
      </p:sp>
      <p:sp>
        <p:nvSpPr>
          <p:cNvPr id="15" name="Tarjeta Qué automatiza"/>
          <p:cNvSpPr/>
          <p:nvPr/>
        </p:nvSpPr>
        <p:spPr>
          <a:xfrm>
            <a:off x="667512" y="1984248"/>
            <a:ext cx="10863072" cy="1133856"/>
          </a:xfrm>
          <a:prstGeom prst="roundRect">
            <a:avLst>
              <a:gd name="adj" fmla="val 6855"/>
            </a:avLst>
          </a:prstGeom>
          <a:solidFill>
            <a:srgbClr val="27323A"/>
          </a:solidFill>
          <a:ln w="7620">
            <a:solidFill>
              <a:srgbClr val="555F69"/>
            </a:solidFill>
            <a:prstDash val="solid"/>
          </a:ln>
          <a:effectLst/>
        </p:spPr>
      </p:sp>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Conclusiones</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CBD1D8"/>
                </a:solidFill>
                <a:latin typeface="Arial" pitchFamily="34" charset="0"/>
                <a:ea typeface="Arial" pitchFamily="34" charset="-122"/>
                <a:cs typeface="Arial" pitchFamily="34" charset="-120"/>
              </a:rPr>
              <a:t>Tres respuestas para ubicar Terraform en un despliegue real.</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B4BEC8"/>
                </a:solidFill>
                <a:latin typeface="Arial" pitchFamily="34" charset="0"/>
                <a:ea typeface="Arial" pitchFamily="34" charset="-122"/>
                <a:cs typeface="Arial" pitchFamily="34" charset="-120"/>
              </a:rPr>
              <a:t>Cierre</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B4BEC8"/>
                </a:solidFill>
                <a:latin typeface="Arial" pitchFamily="34" charset="0"/>
                <a:ea typeface="Arial" pitchFamily="34" charset="-122"/>
                <a:cs typeface="Arial" pitchFamily="34" charset="-120"/>
              </a:rPr>
              <a:t>20 / 21</a:t>
            </a:r>
            <a:endParaRPr lang="en-US" sz="1050" dirty="0"/>
          </a:p>
        </p:txBody>
      </p:sp>
      <p:sp>
        <p:nvSpPr>
          <p:cNvPr id="6" name="Text 4"/>
          <p:cNvSpPr/>
          <p:nvPr/>
        </p:nvSpPr>
        <p:spPr>
          <a:xfrm>
            <a:off x="914400" y="2203704"/>
            <a:ext cx="640080" cy="420624"/>
          </a:xfrm>
          <a:prstGeom prst="rect">
            <a:avLst/>
          </a:prstGeom>
          <a:noFill/>
          <a:ln/>
        </p:spPr>
        <p:txBody>
          <a:bodyPr wrap="square" lIns="0" tIns="0" rIns="0" bIns="0" rtlCol="0" anchor="t"/>
          <a:lstStyle/>
          <a:p>
            <a:pPr indent="0" marL="0">
              <a:buNone/>
            </a:pPr>
            <a:r>
              <a:rPr lang="en-US" sz="2500" b="1" dirty="0">
                <a:solidFill>
                  <a:srgbClr val="CBBCEB"/>
                </a:solidFill>
                <a:latin typeface="Arial" pitchFamily="34" charset="0"/>
                <a:ea typeface="Arial" pitchFamily="34" charset="-122"/>
                <a:cs typeface="Arial" pitchFamily="34" charset="-120"/>
              </a:rPr>
              <a:t>01</a:t>
            </a:r>
            <a:endParaRPr lang="en-US" sz="2500" dirty="0"/>
          </a:p>
        </p:txBody>
      </p:sp>
      <p:sp>
        <p:nvSpPr>
          <p:cNvPr id="7" name="Text 5"/>
          <p:cNvSpPr/>
          <p:nvPr/>
        </p:nvSpPr>
        <p:spPr>
          <a:xfrm>
            <a:off x="1783080" y="2148840"/>
            <a:ext cx="9464040" cy="393192"/>
          </a:xfrm>
          <a:prstGeom prst="rect">
            <a:avLst/>
          </a:prstGeom>
          <a:noFill/>
          <a:ln/>
        </p:spPr>
        <p:txBody>
          <a:bodyPr wrap="square" lIns="0" tIns="0" rIns="0" bIns="0" rtlCol="0" anchor="t"/>
          <a:lstStyle/>
          <a:p>
            <a:pPr indent="0" marL="0">
              <a:buNone/>
            </a:pPr>
            <a:r>
              <a:rPr lang="en-US" sz="2300" b="1" dirty="0">
                <a:solidFill>
                  <a:srgbClr val="FFFFFF"/>
                </a:solidFill>
                <a:latin typeface="Arial" pitchFamily="34" charset="0"/>
                <a:ea typeface="Arial" pitchFamily="34" charset="-122"/>
                <a:cs typeface="Arial" pitchFamily="34" charset="-120"/>
              </a:rPr>
              <a:t>¿Qué automatiza?</a:t>
            </a:r>
            <a:endParaRPr lang="en-US" sz="2300" dirty="0"/>
          </a:p>
        </p:txBody>
      </p:sp>
      <p:sp>
        <p:nvSpPr>
          <p:cNvPr id="8" name="Text 6"/>
          <p:cNvSpPr/>
          <p:nvPr/>
        </p:nvSpPr>
        <p:spPr>
          <a:xfrm>
            <a:off x="1783080" y="2660904"/>
            <a:ext cx="9464040" cy="365760"/>
          </a:xfrm>
          <a:prstGeom prst="rect">
            <a:avLst/>
          </a:prstGeom>
          <a:noFill/>
          <a:ln/>
        </p:spPr>
        <p:txBody>
          <a:bodyPr wrap="square" lIns="0" tIns="0" rIns="0" bIns="0" rtlCol="0" anchor="t"/>
          <a:lstStyle/>
          <a:p>
            <a:pPr indent="0" marL="0">
              <a:buNone/>
            </a:pPr>
            <a:r>
              <a:rPr lang="en-US" sz="1850" dirty="0">
                <a:solidFill>
                  <a:srgbClr val="D5DCE3"/>
                </a:solidFill>
                <a:latin typeface="Arial" pitchFamily="34" charset="0"/>
                <a:ea typeface="Arial" pitchFamily="34" charset="-122"/>
                <a:cs typeface="Arial" pitchFamily="34" charset="-120"/>
              </a:rPr>
              <a:t>El ciclo de vida de recursos: crear, modificar y eliminar infraestructura.</a:t>
            </a:r>
            <a:endParaRPr lang="en-US" sz="1850" dirty="0"/>
          </a:p>
        </p:txBody>
      </p:sp>
      <p:sp>
        <p:nvSpPr>
          <p:cNvPr id="9" name="Text 7"/>
          <p:cNvSpPr/>
          <p:nvPr/>
        </p:nvSpPr>
        <p:spPr>
          <a:xfrm>
            <a:off x="914400" y="3575304"/>
            <a:ext cx="640080" cy="420624"/>
          </a:xfrm>
          <a:prstGeom prst="rect">
            <a:avLst/>
          </a:prstGeom>
          <a:noFill/>
          <a:ln/>
        </p:spPr>
        <p:txBody>
          <a:bodyPr wrap="square" lIns="0" tIns="0" rIns="0" bIns="0" rtlCol="0" anchor="t"/>
          <a:lstStyle/>
          <a:p>
            <a:pPr indent="0" marL="0">
              <a:buNone/>
            </a:pPr>
            <a:r>
              <a:rPr lang="en-US" sz="2500" b="1" dirty="0">
                <a:solidFill>
                  <a:srgbClr val="CBBCEB"/>
                </a:solidFill>
                <a:latin typeface="Arial" pitchFamily="34" charset="0"/>
                <a:ea typeface="Arial" pitchFamily="34" charset="-122"/>
                <a:cs typeface="Arial" pitchFamily="34" charset="-120"/>
              </a:rPr>
              <a:t>02</a:t>
            </a:r>
            <a:endParaRPr lang="en-US" sz="2500" dirty="0"/>
          </a:p>
        </p:txBody>
      </p:sp>
      <p:sp>
        <p:nvSpPr>
          <p:cNvPr id="10" name="Text 8"/>
          <p:cNvSpPr/>
          <p:nvPr/>
        </p:nvSpPr>
        <p:spPr>
          <a:xfrm>
            <a:off x="1783080" y="3520440"/>
            <a:ext cx="9464040" cy="393192"/>
          </a:xfrm>
          <a:prstGeom prst="rect">
            <a:avLst/>
          </a:prstGeom>
          <a:noFill/>
          <a:ln/>
        </p:spPr>
        <p:txBody>
          <a:bodyPr wrap="square" lIns="0" tIns="0" rIns="0" bIns="0" rtlCol="0" anchor="t"/>
          <a:lstStyle/>
          <a:p>
            <a:pPr indent="0" marL="0">
              <a:buNone/>
            </a:pPr>
            <a:r>
              <a:rPr lang="en-US" sz="2300" b="1" dirty="0">
                <a:solidFill>
                  <a:srgbClr val="FFFFFF"/>
                </a:solidFill>
                <a:latin typeface="Arial" pitchFamily="34" charset="0"/>
                <a:ea typeface="Arial" pitchFamily="34" charset="-122"/>
                <a:cs typeface="Arial" pitchFamily="34" charset="-120"/>
              </a:rPr>
              <a:t>¿Qué reemplaza de un proceso manual?</a:t>
            </a:r>
            <a:endParaRPr lang="en-US" sz="2300" dirty="0"/>
          </a:p>
        </p:txBody>
      </p:sp>
      <p:sp>
        <p:nvSpPr>
          <p:cNvPr id="11" name="Text 9"/>
          <p:cNvSpPr/>
          <p:nvPr/>
        </p:nvSpPr>
        <p:spPr>
          <a:xfrm>
            <a:off x="1783080" y="4032504"/>
            <a:ext cx="9464040" cy="365760"/>
          </a:xfrm>
          <a:prstGeom prst="rect">
            <a:avLst/>
          </a:prstGeom>
          <a:noFill/>
          <a:ln/>
        </p:spPr>
        <p:txBody>
          <a:bodyPr wrap="square" lIns="0" tIns="0" rIns="0" bIns="0" rtlCol="0" anchor="t"/>
          <a:lstStyle/>
          <a:p>
            <a:pPr indent="0" marL="0">
              <a:buNone/>
            </a:pPr>
            <a:r>
              <a:rPr lang="en-US" sz="1850" dirty="0">
                <a:solidFill>
                  <a:srgbClr val="D5DCE3"/>
                </a:solidFill>
                <a:latin typeface="Arial" pitchFamily="34" charset="0"/>
                <a:ea typeface="Arial" pitchFamily="34" charset="-122"/>
                <a:cs typeface="Arial" pitchFamily="34" charset="-120"/>
              </a:rPr>
              <a:t>Clics, parámetros copiados y comandos repetidos para aprovisionar recursos.</a:t>
            </a:r>
            <a:endParaRPr lang="en-US" sz="1850" dirty="0"/>
          </a:p>
        </p:txBody>
      </p:sp>
      <p:sp>
        <p:nvSpPr>
          <p:cNvPr id="12" name="Text 10"/>
          <p:cNvSpPr/>
          <p:nvPr/>
        </p:nvSpPr>
        <p:spPr>
          <a:xfrm>
            <a:off x="914400" y="4946904"/>
            <a:ext cx="640080" cy="420624"/>
          </a:xfrm>
          <a:prstGeom prst="rect">
            <a:avLst/>
          </a:prstGeom>
          <a:noFill/>
          <a:ln/>
        </p:spPr>
        <p:txBody>
          <a:bodyPr wrap="square" lIns="0" tIns="0" rIns="0" bIns="0" rtlCol="0" anchor="t"/>
          <a:lstStyle/>
          <a:p>
            <a:pPr indent="0" marL="0">
              <a:buNone/>
            </a:pPr>
            <a:r>
              <a:rPr lang="en-US" sz="2500" b="1" dirty="0">
                <a:solidFill>
                  <a:srgbClr val="CBBCEB"/>
                </a:solidFill>
                <a:latin typeface="Arial" pitchFamily="34" charset="0"/>
                <a:ea typeface="Arial" pitchFamily="34" charset="-122"/>
                <a:cs typeface="Arial" pitchFamily="34" charset="-120"/>
              </a:rPr>
              <a:t>03</a:t>
            </a:r>
            <a:endParaRPr lang="en-US" sz="2500" dirty="0"/>
          </a:p>
        </p:txBody>
      </p:sp>
      <p:sp>
        <p:nvSpPr>
          <p:cNvPr id="13" name="Text 11"/>
          <p:cNvSpPr/>
          <p:nvPr/>
        </p:nvSpPr>
        <p:spPr>
          <a:xfrm>
            <a:off x="1783080" y="4892040"/>
            <a:ext cx="9464040" cy="393192"/>
          </a:xfrm>
          <a:prstGeom prst="rect">
            <a:avLst/>
          </a:prstGeom>
          <a:noFill/>
          <a:ln/>
        </p:spPr>
        <p:txBody>
          <a:bodyPr wrap="square" lIns="0" tIns="0" rIns="0" bIns="0" rtlCol="0" anchor="t"/>
          <a:lstStyle/>
          <a:p>
            <a:pPr indent="0" marL="0">
              <a:buNone/>
            </a:pPr>
            <a:r>
              <a:rPr lang="en-US" sz="2300" b="1" dirty="0">
                <a:solidFill>
                  <a:srgbClr val="FFFFFF"/>
                </a:solidFill>
                <a:latin typeface="Arial" pitchFamily="34" charset="0"/>
                <a:ea typeface="Arial" pitchFamily="34" charset="-122"/>
                <a:cs typeface="Arial" pitchFamily="34" charset="-120"/>
              </a:rPr>
              <a:t>¿Cómo entra en un pipeline real?</a:t>
            </a:r>
            <a:endParaRPr lang="en-US" sz="2300" dirty="0"/>
          </a:p>
        </p:txBody>
      </p:sp>
      <p:sp>
        <p:nvSpPr>
          <p:cNvPr id="14" name="Text 12"/>
          <p:cNvSpPr/>
          <p:nvPr/>
        </p:nvSpPr>
        <p:spPr>
          <a:xfrm>
            <a:off x="1783080" y="5404104"/>
            <a:ext cx="9464040" cy="365760"/>
          </a:xfrm>
          <a:prstGeom prst="rect">
            <a:avLst/>
          </a:prstGeom>
          <a:noFill/>
          <a:ln/>
        </p:spPr>
        <p:txBody>
          <a:bodyPr wrap="square" lIns="0" tIns="0" rIns="0" bIns="0" rtlCol="0" anchor="t"/>
          <a:lstStyle/>
          <a:p>
            <a:pPr indent="0" marL="0">
              <a:buNone/>
            </a:pPr>
            <a:r>
              <a:rPr lang="en-US" sz="1850" dirty="0">
                <a:solidFill>
                  <a:srgbClr val="D5DCE3"/>
                </a:solidFill>
                <a:latin typeface="Arial" pitchFamily="34" charset="0"/>
                <a:ea typeface="Arial" pitchFamily="34" charset="-122"/>
                <a:cs typeface="Arial" pitchFamily="34" charset="-120"/>
              </a:rPr>
              <a:t>Plan revisado, aprobación, aplicación del plan y verificación del servicio.</a:t>
            </a:r>
            <a:endParaRPr lang="en-US" sz="1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84632"/>
            <a:ext cx="11000232" cy="667512"/>
          </a:xfrm>
          <a:prstGeom prst="rect">
            <a:avLst/>
          </a:prstGeom>
          <a:noFill/>
          <a:ln/>
        </p:spPr>
        <p:txBody>
          <a:bodyPr wrap="square" lIns="0" tIns="0" rIns="0" bIns="0" rtlCol="0" anchor="t"/>
          <a:lstStyle/>
          <a:p>
            <a:pPr indent="0" marL="0">
              <a:buNone/>
            </a:pPr>
            <a:r>
              <a:rPr lang="en-US" sz="3400" b="1" dirty="0">
                <a:solidFill>
                  <a:srgbClr val="27323A"/>
                </a:solidFill>
                <a:latin typeface="Arial" pitchFamily="34" charset="0"/>
                <a:ea typeface="Arial" pitchFamily="34" charset="-122"/>
                <a:cs typeface="Arial" pitchFamily="34" charset="-120"/>
              </a:rPr>
              <a:t>Fuentes y referencias</a:t>
            </a:r>
            <a:endParaRPr lang="en-US" sz="3400" dirty="0"/>
          </a:p>
        </p:txBody>
      </p:sp>
      <p:sp>
        <p:nvSpPr>
          <p:cNvPr id="3" name="Text 1"/>
          <p:cNvSpPr/>
          <p:nvPr/>
        </p:nvSpPr>
        <p:spPr>
          <a:xfrm>
            <a:off x="612648" y="1298448"/>
            <a:ext cx="10927080" cy="521208"/>
          </a:xfrm>
          <a:prstGeom prst="rect">
            <a:avLst/>
          </a:prstGeom>
          <a:noFill/>
          <a:ln/>
        </p:spPr>
        <p:txBody>
          <a:bodyPr wrap="square" lIns="0" tIns="0" rIns="0" bIns="0" rtlCol="0" anchor="t"/>
          <a:lstStyle/>
          <a:p>
            <a:pPr indent="0" marL="0">
              <a:buNone/>
            </a:pPr>
            <a:r>
              <a:rPr lang="en-US" sz="1650" dirty="0">
                <a:solidFill>
                  <a:srgbClr val="555F69"/>
                </a:solidFill>
                <a:latin typeface="Arial" pitchFamily="34" charset="0"/>
                <a:ea typeface="Arial" pitchFamily="34" charset="-122"/>
                <a:cs typeface="Arial" pitchFamily="34" charset="-120"/>
              </a:rPr>
              <a:t>Documentación oficial y guía de la actividad. Consulta: 16 de octubre de 2026.</a:t>
            </a:r>
            <a:endParaRPr lang="en-US" sz="1650" dirty="0"/>
          </a:p>
        </p:txBody>
      </p:sp>
      <p:sp>
        <p:nvSpPr>
          <p:cNvPr id="4" name="Text 2"/>
          <p:cNvSpPr/>
          <p:nvPr/>
        </p:nvSpPr>
        <p:spPr>
          <a:xfrm>
            <a:off x="612648" y="6419088"/>
            <a:ext cx="9144000" cy="182880"/>
          </a:xfrm>
          <a:prstGeom prst="rect">
            <a:avLst/>
          </a:prstGeom>
          <a:noFill/>
          <a:ln/>
        </p:spPr>
        <p:txBody>
          <a:bodyPr wrap="square" lIns="0" tIns="0" rIns="0" bIns="0" rtlCol="0" anchor="t"/>
          <a:lstStyle/>
          <a:p>
            <a:pPr indent="0" marL="0">
              <a:buNone/>
            </a:pPr>
            <a:r>
              <a:rPr lang="en-US" sz="1050" dirty="0">
                <a:solidFill>
                  <a:srgbClr val="555F69"/>
                </a:solidFill>
                <a:latin typeface="Arial" pitchFamily="34" charset="0"/>
                <a:ea typeface="Arial" pitchFamily="34" charset="-122"/>
                <a:cs typeface="Arial" pitchFamily="34" charset="-120"/>
              </a:rPr>
              <a:t>Referencias</a:t>
            </a:r>
            <a:endParaRPr lang="en-US" sz="1050" dirty="0"/>
          </a:p>
        </p:txBody>
      </p:sp>
      <p:sp>
        <p:nvSpPr>
          <p:cNvPr id="5" name="Text 3"/>
          <p:cNvSpPr/>
          <p:nvPr/>
        </p:nvSpPr>
        <p:spPr>
          <a:xfrm>
            <a:off x="10652760" y="6419088"/>
            <a:ext cx="932688" cy="182880"/>
          </a:xfrm>
          <a:prstGeom prst="rect">
            <a:avLst/>
          </a:prstGeom>
          <a:noFill/>
          <a:ln/>
        </p:spPr>
        <p:txBody>
          <a:bodyPr wrap="square" lIns="0" tIns="0" rIns="0" bIns="0" rtlCol="0" anchor="t"/>
          <a:lstStyle/>
          <a:p>
            <a:pPr algn="r" indent="0" marL="0">
              <a:buNone/>
            </a:pPr>
            <a:r>
              <a:rPr lang="en-US" sz="1050" dirty="0">
                <a:solidFill>
                  <a:srgbClr val="555F69"/>
                </a:solidFill>
                <a:latin typeface="Arial" pitchFamily="34" charset="0"/>
                <a:ea typeface="Arial" pitchFamily="34" charset="-122"/>
                <a:cs typeface="Arial" pitchFamily="34" charset="-120"/>
              </a:rPr>
              <a:t>21 / 21</a:t>
            </a:r>
            <a:endParaRPr lang="en-US" sz="1050" dirty="0"/>
          </a:p>
        </p:txBody>
      </p:sp>
      <p:sp>
        <p:nvSpPr>
          <p:cNvPr id="6" name="Text 4"/>
          <p:cNvSpPr/>
          <p:nvPr/>
        </p:nvSpPr>
        <p:spPr>
          <a:xfrm>
            <a:off x="694944" y="2011680"/>
            <a:ext cx="5074920" cy="365760"/>
          </a:xfrm>
          <a:prstGeom prst="rect">
            <a:avLst/>
          </a:prstGeom>
          <a:noFill/>
          <a:ln/>
        </p:spPr>
        <p:txBody>
          <a:bodyPr wrap="square" lIns="0" tIns="0" rIns="0" bIns="0" rtlCol="0" anchor="t"/>
          <a:lstStyle/>
          <a:p>
            <a:pPr indent="0" marL="0">
              <a:buNone/>
            </a:pPr>
            <a:r>
              <a:rPr lang="en-US" sz="1800" b="1" dirty="0">
                <a:solidFill>
                  <a:srgbClr val="27323A"/>
                </a:solidFill>
                <a:latin typeface="Arial" pitchFamily="34" charset="0"/>
                <a:ea typeface="Arial" pitchFamily="34" charset="-122"/>
                <a:cs typeface="Arial" pitchFamily="34" charset="-120"/>
              </a:rPr>
              <a:t>Guía de la actividad</a:t>
            </a:r>
            <a:endParaRPr lang="en-US" sz="1800" dirty="0"/>
          </a:p>
        </p:txBody>
      </p:sp>
      <p:sp>
        <p:nvSpPr>
          <p:cNvPr id="7" name="Text 5"/>
          <p:cNvSpPr/>
          <p:nvPr/>
        </p:nvSpPr>
        <p:spPr>
          <a:xfrm>
            <a:off x="6126480" y="2011680"/>
            <a:ext cx="5349240" cy="457200"/>
          </a:xfrm>
          <a:prstGeom prst="rect">
            <a:avLst/>
          </a:prstGeom>
          <a:noFill/>
          <a:ln/>
        </p:spPr>
        <p:txBody>
          <a:bodyPr wrap="square" lIns="0" tIns="0" rIns="0" bIns="0" rtlCol="0" anchor="t"/>
          <a:lstStyle/>
          <a:p>
            <a:pPr indent="0" marL="0">
              <a:buNone/>
            </a:pPr>
            <a:r>
              <a:rPr lang="en-US" sz="1700" dirty="0">
                <a:solidFill>
                  <a:srgbClr val="555F69"/>
                </a:solidFill>
                <a:latin typeface="Arial" pitchFamily="34" charset="0"/>
                <a:ea typeface="Arial" pitchFamily="34" charset="-122"/>
                <a:cs typeface="Arial" pitchFamily="34" charset="-120"/>
              </a:rPr>
              <a:t>Guía del profesor, páginas 1 a 3</a:t>
            </a:r>
            <a:endParaRPr lang="en-US" sz="1700" dirty="0"/>
          </a:p>
        </p:txBody>
      </p:sp>
      <p:sp>
        <p:nvSpPr>
          <p:cNvPr id="8" name="Shape 6"/>
          <p:cNvSpPr/>
          <p:nvPr/>
        </p:nvSpPr>
        <p:spPr>
          <a:xfrm>
            <a:off x="694944" y="2487168"/>
            <a:ext cx="10789920" cy="0"/>
          </a:xfrm>
          <a:prstGeom prst="line">
            <a:avLst/>
          </a:prstGeom>
          <a:noFill/>
          <a:ln w="13970">
            <a:solidFill>
              <a:srgbClr val="DDE1E6"/>
            </a:solidFill>
            <a:prstDash val="solid"/>
          </a:ln>
        </p:spPr>
      </p:sp>
      <p:sp>
        <p:nvSpPr>
          <p:cNvPr id="9" name="Text 7"/>
          <p:cNvSpPr/>
          <p:nvPr/>
        </p:nvSpPr>
        <p:spPr>
          <a:xfrm>
            <a:off x="694944" y="2615184"/>
            <a:ext cx="5074920" cy="365760"/>
          </a:xfrm>
          <a:prstGeom prst="rect">
            <a:avLst/>
          </a:prstGeom>
          <a:noFill/>
          <a:ln/>
        </p:spPr>
        <p:txBody>
          <a:bodyPr wrap="square" lIns="0" tIns="0" rIns="0" bIns="0" rtlCol="0" anchor="t"/>
          <a:lstStyle/>
          <a:p>
            <a:pPr indent="0" marL="0">
              <a:buNone/>
            </a:pPr>
            <a:r>
              <a:rPr lang="en-US" sz="1800" b="1" dirty="0">
                <a:solidFill>
                  <a:srgbClr val="27323A"/>
                </a:solidFill>
                <a:latin typeface="Arial" pitchFamily="34" charset="0"/>
                <a:ea typeface="Arial" pitchFamily="34" charset="-122"/>
                <a:cs typeface="Arial" pitchFamily="34" charset="-120"/>
              </a:rPr>
              <a:t>Terraform: introducción y lenguaje</a:t>
            </a:r>
            <a:endParaRPr lang="en-US" sz="1800" dirty="0"/>
          </a:p>
        </p:txBody>
      </p:sp>
      <p:sp>
        <p:nvSpPr>
          <p:cNvPr id="10" name="Text 8">
            <a:hlinkClick r:id="rId1" tooltip=""/>
          </p:cNvPr>
          <p:cNvSpPr/>
          <p:nvPr/>
        </p:nvSpPr>
        <p:spPr>
          <a:xfrm>
            <a:off x="6126480" y="2615184"/>
            <a:ext cx="5349240" cy="457200"/>
          </a:xfrm>
          <a:prstGeom prst="rect">
            <a:avLst/>
          </a:prstGeom>
          <a:noFill/>
          <a:ln/>
        </p:spPr>
        <p:txBody>
          <a:bodyPr wrap="square" lIns="0" tIns="0" rIns="0" bIns="0" rtlCol="0" anchor="t"/>
          <a:lstStyle/>
          <a:p>
            <a:pPr indent="0" marL="0">
              <a:buNone/>
            </a:pPr>
            <a:r>
              <a:rPr lang="en-US" sz="1700" u="sng" dirty="0">
                <a:solidFill>
                  <a:srgbClr val="6543BD"/>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HashiCorp Developer</a:t>
            </a:r>
            <a:endParaRPr lang="en-US" sz="1700" dirty="0"/>
          </a:p>
        </p:txBody>
      </p:sp>
      <p:sp>
        <p:nvSpPr>
          <p:cNvPr id="11" name="Shape 9"/>
          <p:cNvSpPr/>
          <p:nvPr/>
        </p:nvSpPr>
        <p:spPr>
          <a:xfrm>
            <a:off x="694944" y="3090672"/>
            <a:ext cx="10789920" cy="0"/>
          </a:xfrm>
          <a:prstGeom prst="line">
            <a:avLst/>
          </a:prstGeom>
          <a:noFill/>
          <a:ln w="13970">
            <a:solidFill>
              <a:srgbClr val="DDE1E6"/>
            </a:solidFill>
            <a:prstDash val="solid"/>
          </a:ln>
        </p:spPr>
      </p:sp>
      <p:sp>
        <p:nvSpPr>
          <p:cNvPr id="12" name="Text 10"/>
          <p:cNvSpPr/>
          <p:nvPr/>
        </p:nvSpPr>
        <p:spPr>
          <a:xfrm>
            <a:off x="694944" y="3218688"/>
            <a:ext cx="5074920" cy="365760"/>
          </a:xfrm>
          <a:prstGeom prst="rect">
            <a:avLst/>
          </a:prstGeom>
          <a:noFill/>
          <a:ln/>
        </p:spPr>
        <p:txBody>
          <a:bodyPr wrap="square" lIns="0" tIns="0" rIns="0" bIns="0" rtlCol="0" anchor="t"/>
          <a:lstStyle/>
          <a:p>
            <a:pPr indent="0" marL="0">
              <a:buNone/>
            </a:pPr>
            <a:r>
              <a:rPr lang="en-US" sz="1800" b="1" dirty="0">
                <a:solidFill>
                  <a:srgbClr val="27323A"/>
                </a:solidFill>
                <a:latin typeface="Arial" pitchFamily="34" charset="0"/>
                <a:ea typeface="Arial" pitchFamily="34" charset="-122"/>
                <a:cs typeface="Arial" pitchFamily="34" charset="-120"/>
              </a:rPr>
              <a:t>Providers, state y dependencias</a:t>
            </a:r>
            <a:endParaRPr lang="en-US" sz="1800" dirty="0"/>
          </a:p>
        </p:txBody>
      </p:sp>
      <p:sp>
        <p:nvSpPr>
          <p:cNvPr id="13" name="Text 11">
            <a:hlinkClick r:id="rId2" tooltip=""/>
          </p:cNvPr>
          <p:cNvSpPr/>
          <p:nvPr/>
        </p:nvSpPr>
        <p:spPr>
          <a:xfrm>
            <a:off x="6126480" y="3218688"/>
            <a:ext cx="5349240" cy="457200"/>
          </a:xfrm>
          <a:prstGeom prst="rect">
            <a:avLst/>
          </a:prstGeom>
          <a:noFill/>
          <a:ln/>
        </p:spPr>
        <p:txBody>
          <a:bodyPr wrap="square" lIns="0" tIns="0" rIns="0" bIns="0" rtlCol="0" anchor="t"/>
          <a:lstStyle/>
          <a:p>
            <a:pPr indent="0" marL="0">
              <a:buNone/>
            </a:pPr>
            <a:r>
              <a:rPr lang="en-US" sz="1700" u="sng" dirty="0">
                <a:solidFill>
                  <a:srgbClr val="6543BD"/>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HashiCorp Developer</a:t>
            </a:r>
            <a:endParaRPr lang="en-US" sz="1700" dirty="0"/>
          </a:p>
        </p:txBody>
      </p:sp>
      <p:sp>
        <p:nvSpPr>
          <p:cNvPr id="14" name="Shape 12"/>
          <p:cNvSpPr/>
          <p:nvPr/>
        </p:nvSpPr>
        <p:spPr>
          <a:xfrm>
            <a:off x="694944" y="3694176"/>
            <a:ext cx="10789920" cy="0"/>
          </a:xfrm>
          <a:prstGeom prst="line">
            <a:avLst/>
          </a:prstGeom>
          <a:noFill/>
          <a:ln w="13970">
            <a:solidFill>
              <a:srgbClr val="DDE1E6"/>
            </a:solidFill>
            <a:prstDash val="solid"/>
          </a:ln>
        </p:spPr>
      </p:sp>
      <p:sp>
        <p:nvSpPr>
          <p:cNvPr id="15" name="Text 13"/>
          <p:cNvSpPr/>
          <p:nvPr/>
        </p:nvSpPr>
        <p:spPr>
          <a:xfrm>
            <a:off x="694944" y="3822192"/>
            <a:ext cx="5074920" cy="365760"/>
          </a:xfrm>
          <a:prstGeom prst="rect">
            <a:avLst/>
          </a:prstGeom>
          <a:noFill/>
          <a:ln/>
        </p:spPr>
        <p:txBody>
          <a:bodyPr wrap="square" lIns="0" tIns="0" rIns="0" bIns="0" rtlCol="0" anchor="t"/>
          <a:lstStyle/>
          <a:p>
            <a:pPr indent="0" marL="0">
              <a:buNone/>
            </a:pPr>
            <a:r>
              <a:rPr lang="en-US" sz="1800" b="1" dirty="0">
                <a:solidFill>
                  <a:srgbClr val="27323A"/>
                </a:solidFill>
                <a:latin typeface="Arial" pitchFamily="34" charset="0"/>
                <a:ea typeface="Arial" pitchFamily="34" charset="-122"/>
                <a:cs typeface="Arial" pitchFamily="34" charset="-120"/>
              </a:rPr>
              <a:t>Comandos y automatización en CI/CD</a:t>
            </a:r>
            <a:endParaRPr lang="en-US" sz="1800" dirty="0"/>
          </a:p>
        </p:txBody>
      </p:sp>
      <p:sp>
        <p:nvSpPr>
          <p:cNvPr id="16" name="Text 14">
            <a:hlinkClick r:id="rId3" tooltip=""/>
          </p:cNvPr>
          <p:cNvSpPr/>
          <p:nvPr/>
        </p:nvSpPr>
        <p:spPr>
          <a:xfrm>
            <a:off x="6126480" y="3822192"/>
            <a:ext cx="5349240" cy="457200"/>
          </a:xfrm>
          <a:prstGeom prst="rect">
            <a:avLst/>
          </a:prstGeom>
          <a:noFill/>
          <a:ln/>
        </p:spPr>
        <p:txBody>
          <a:bodyPr wrap="square" lIns="0" tIns="0" rIns="0" bIns="0" rtlCol="0" anchor="t"/>
          <a:lstStyle/>
          <a:p>
            <a:pPr indent="0" marL="0">
              <a:buNone/>
            </a:pPr>
            <a:r>
              <a:rPr lang="en-US" sz="1700" u="sng" dirty="0">
                <a:solidFill>
                  <a:srgbClr val="6543BD"/>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HashiCorp Developer</a:t>
            </a:r>
            <a:endParaRPr lang="en-US" sz="1700" dirty="0"/>
          </a:p>
        </p:txBody>
      </p:sp>
      <p:sp>
        <p:nvSpPr>
          <p:cNvPr id="17" name="Shape 15"/>
          <p:cNvSpPr/>
          <p:nvPr/>
        </p:nvSpPr>
        <p:spPr>
          <a:xfrm>
            <a:off x="694944" y="4297680"/>
            <a:ext cx="10789920" cy="0"/>
          </a:xfrm>
          <a:prstGeom prst="line">
            <a:avLst/>
          </a:prstGeom>
          <a:noFill/>
          <a:ln w="13970">
            <a:solidFill>
              <a:srgbClr val="DDE1E6"/>
            </a:solidFill>
            <a:prstDash val="solid"/>
          </a:ln>
        </p:spPr>
      </p:sp>
      <p:sp>
        <p:nvSpPr>
          <p:cNvPr id="18" name="Text 16"/>
          <p:cNvSpPr/>
          <p:nvPr/>
        </p:nvSpPr>
        <p:spPr>
          <a:xfrm>
            <a:off x="694944" y="4425696"/>
            <a:ext cx="5074920" cy="365760"/>
          </a:xfrm>
          <a:prstGeom prst="rect">
            <a:avLst/>
          </a:prstGeom>
          <a:noFill/>
          <a:ln/>
        </p:spPr>
        <p:txBody>
          <a:bodyPr wrap="square" lIns="0" tIns="0" rIns="0" bIns="0" rtlCol="0" anchor="t"/>
          <a:lstStyle/>
          <a:p>
            <a:pPr indent="0" marL="0">
              <a:buNone/>
            </a:pPr>
            <a:r>
              <a:rPr lang="en-US" sz="1800" b="1" dirty="0">
                <a:solidFill>
                  <a:srgbClr val="27323A"/>
                </a:solidFill>
                <a:latin typeface="Arial" pitchFamily="34" charset="0"/>
                <a:ea typeface="Arial" pitchFamily="34" charset="-122"/>
                <a:cs typeface="Arial" pitchFamily="34" charset="-120"/>
              </a:rPr>
              <a:t>Docker provider 4.6.0 y ejemplos</a:t>
            </a:r>
            <a:endParaRPr lang="en-US" sz="1800" dirty="0"/>
          </a:p>
        </p:txBody>
      </p:sp>
      <p:sp>
        <p:nvSpPr>
          <p:cNvPr id="19" name="Text 17">
            <a:hlinkClick r:id="rId4" tooltip=""/>
          </p:cNvPr>
          <p:cNvSpPr/>
          <p:nvPr/>
        </p:nvSpPr>
        <p:spPr>
          <a:xfrm>
            <a:off x="6126480" y="4425696"/>
            <a:ext cx="5349240" cy="457200"/>
          </a:xfrm>
          <a:prstGeom prst="rect">
            <a:avLst/>
          </a:prstGeom>
          <a:noFill/>
          <a:ln/>
        </p:spPr>
        <p:txBody>
          <a:bodyPr wrap="square" lIns="0" tIns="0" rIns="0" bIns="0" rtlCol="0" anchor="t"/>
          <a:lstStyle/>
          <a:p>
            <a:pPr indent="0" marL="0">
              <a:buNone/>
            </a:pPr>
            <a:r>
              <a:rPr lang="en-US" sz="1700" u="sng" dirty="0">
                <a:solidFill>
                  <a:srgbClr val="6543BD"/>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kreuzwerker · documentación de la versión utilizada</a:t>
            </a:r>
            <a:endParaRPr lang="en-US" sz="1700" dirty="0"/>
          </a:p>
        </p:txBody>
      </p:sp>
      <p:sp>
        <p:nvSpPr>
          <p:cNvPr id="20" name="Shape 18"/>
          <p:cNvSpPr/>
          <p:nvPr/>
        </p:nvSpPr>
        <p:spPr>
          <a:xfrm>
            <a:off x="694944" y="4901184"/>
            <a:ext cx="10789920" cy="0"/>
          </a:xfrm>
          <a:prstGeom prst="line">
            <a:avLst/>
          </a:prstGeom>
          <a:noFill/>
          <a:ln w="13970">
            <a:solidFill>
              <a:srgbClr val="DDE1E6"/>
            </a:solidFill>
            <a:prstDash val="solid"/>
          </a:ln>
        </p:spPr>
      </p:sp>
      <p:sp>
        <p:nvSpPr>
          <p:cNvPr id="21" name="Text 19"/>
          <p:cNvSpPr/>
          <p:nvPr/>
        </p:nvSpPr>
        <p:spPr>
          <a:xfrm>
            <a:off x="694944" y="5029200"/>
            <a:ext cx="5074920" cy="365760"/>
          </a:xfrm>
          <a:prstGeom prst="rect">
            <a:avLst/>
          </a:prstGeom>
          <a:noFill/>
          <a:ln/>
        </p:spPr>
        <p:txBody>
          <a:bodyPr wrap="square" lIns="0" tIns="0" rIns="0" bIns="0" rtlCol="0" anchor="t"/>
          <a:lstStyle/>
          <a:p>
            <a:pPr indent="0" marL="0">
              <a:buNone/>
            </a:pPr>
            <a:r>
              <a:rPr lang="en-US" sz="1800" b="1" dirty="0">
                <a:solidFill>
                  <a:srgbClr val="27323A"/>
                </a:solidFill>
                <a:latin typeface="Arial" pitchFamily="34" charset="0"/>
                <a:ea typeface="Arial" pitchFamily="34" charset="-122"/>
                <a:cs typeface="Arial" pitchFamily="34" charset="-120"/>
              </a:rPr>
              <a:t>Herramientas complementarias y alternativas</a:t>
            </a:r>
            <a:endParaRPr lang="en-US" sz="1800" dirty="0"/>
          </a:p>
        </p:txBody>
      </p:sp>
      <p:sp>
        <p:nvSpPr>
          <p:cNvPr id="22" name="Text 20">
            <a:hlinkClick r:id="rId5" tooltip=""/>
          </p:cNvPr>
          <p:cNvSpPr/>
          <p:nvPr/>
        </p:nvSpPr>
        <p:spPr>
          <a:xfrm>
            <a:off x="6126480" y="5029200"/>
            <a:ext cx="5349240" cy="457200"/>
          </a:xfrm>
          <a:prstGeom prst="rect">
            <a:avLst/>
          </a:prstGeom>
          <a:noFill/>
          <a:ln/>
        </p:spPr>
        <p:txBody>
          <a:bodyPr wrap="square" lIns="0" tIns="0" rIns="0" bIns="0" rtlCol="0" anchor="t"/>
          <a:lstStyle/>
          <a:p>
            <a:pPr indent="0" marL="0">
              <a:buNone/>
            </a:pPr>
            <a:r>
              <a:rPr lang="en-US" sz="1700" u="sng" dirty="0">
                <a:solidFill>
                  <a:srgbClr val="6543BD"/>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Docker, Ansible, Jenkins, OpenTofu y Pulumi</a:t>
            </a:r>
            <a:endParaRPr lang="en-US" sz="1700" dirty="0"/>
          </a:p>
        </p:txBody>
      </p:sp>
      <p:sp>
        <p:nvSpPr>
          <p:cNvPr id="23" name="Text 21"/>
          <p:cNvSpPr/>
          <p:nvPr/>
        </p:nvSpPr>
        <p:spPr>
          <a:xfrm>
            <a:off x="694944" y="6053328"/>
            <a:ext cx="10789920" cy="274320"/>
          </a:xfrm>
          <a:prstGeom prst="rect">
            <a:avLst/>
          </a:prstGeom>
          <a:noFill/>
          <a:ln/>
        </p:spPr>
        <p:txBody>
          <a:bodyPr wrap="square" lIns="0" tIns="0" rIns="0" bIns="0" rtlCol="0" anchor="t"/>
          <a:lstStyle/>
          <a:p>
            <a:pPr indent="0" marL="0">
              <a:buNone/>
            </a:pPr>
            <a:r>
              <a:rPr lang="en-US" sz="1600" dirty="0">
                <a:solidFill>
                  <a:srgbClr val="555F69"/>
                </a:solidFill>
                <a:latin typeface="Arial" pitchFamily="34" charset="0"/>
                <a:ea typeface="Arial" pitchFamily="34" charset="-122"/>
                <a:cs typeface="Arial" pitchFamily="34" charset="-120"/>
              </a:rPr>
              <a:t>Enlaces específicos y aclaraciones en las notas de cada diapositiva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Equipo de exposición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Terraform · Infraestructura como código</dc:title>
  <dc:subject>Herramientas para automatización y despliegue</dc:subject>
  <dc:creator>Angel Jonathan Puch Hernández; Jose Luis Silva Gomez; Miguel Angel Mendez Ronzón</dc:creator>
  <cp:lastModifiedBy>Angel Jonathan Puch Hernández; Jose Luis Silva Gomez; Miguel Angel Mendez Ronzón</cp:lastModifiedBy>
  <cp:revision>1</cp:revision>
  <dcterms:created xsi:type="dcterms:W3CDTF">2026-10-17T02:49:00Z</dcterms:created>
  <dcterms:modified xsi:type="dcterms:W3CDTF">2026-10-17T02:49:00Z</dcterms:modified>
</cp:coreProperties>
</file>